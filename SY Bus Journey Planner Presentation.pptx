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15"/>
  </p:notesMasterIdLst>
  <p:sldIdLst>
    <p:sldId id="256" r:id="rId2"/>
    <p:sldId id="257" r:id="rId3"/>
    <p:sldId id="258" r:id="rId4"/>
    <p:sldId id="268" r:id="rId5"/>
    <p:sldId id="269" r:id="rId6"/>
    <p:sldId id="270" r:id="rId7"/>
    <p:sldId id="260" r:id="rId8"/>
    <p:sldId id="266" r:id="rId9"/>
    <p:sldId id="261" r:id="rId10"/>
    <p:sldId id="267" r:id="rId11"/>
    <p:sldId id="265" r:id="rId12"/>
    <p:sldId id="263" r:id="rId13"/>
    <p:sldId id="2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7592" autoAdjust="0"/>
  </p:normalViewPr>
  <p:slideViewPr>
    <p:cSldViewPr snapToGrid="0">
      <p:cViewPr>
        <p:scale>
          <a:sx n="100" d="100"/>
          <a:sy n="100" d="100"/>
        </p:scale>
        <p:origin x="936" y="-3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a:t>
          </a:r>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Doesn’t address core needs (live routing, tickets, partner alignment)</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62108"/>
        <a:ext cx="3069320" cy="920796"/>
      </dsp:txXfrm>
    </dsp:sp>
    <dsp:sp modelId="{9B6C979A-FF95-470B-8B22-2C0B2C5C8A41}">
      <dsp:nvSpPr>
        <dsp:cNvPr id="0" name=""/>
        <dsp:cNvSpPr/>
      </dsp:nvSpPr>
      <dsp:spPr>
        <a:xfrm>
          <a:off x="485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Do nothing</a:t>
          </a:r>
        </a:p>
        <a:p>
          <a:pPr marL="114300" lvl="1" indent="-114300" algn="l" defTabSz="533400">
            <a:lnSpc>
              <a:spcPct val="90000"/>
            </a:lnSpc>
            <a:spcBef>
              <a:spcPct val="0"/>
            </a:spcBef>
            <a:spcAft>
              <a:spcPct val="15000"/>
            </a:spcAft>
            <a:buChar char="•"/>
          </a:pPr>
          <a:r>
            <a:rPr lang="en-US" sz="1200" kern="1200" dirty="0"/>
            <a:t>No upfront cost</a:t>
          </a:r>
        </a:p>
        <a:p>
          <a:pPr marL="114300" lvl="1" indent="-114300" algn="l" defTabSz="533400">
            <a:lnSpc>
              <a:spcPct val="90000"/>
            </a:lnSpc>
            <a:spcBef>
              <a:spcPct val="0"/>
            </a:spcBef>
            <a:spcAft>
              <a:spcPct val="15000"/>
            </a:spcAft>
            <a:buChar char="•"/>
          </a:pPr>
          <a:r>
            <a:rPr lang="en-US" sz="1200" kern="1200"/>
            <a:t>No improvement to customer experience/accessibility</a:t>
          </a:r>
        </a:p>
        <a:p>
          <a:pPr marL="114300" lvl="1" indent="-114300" algn="l" defTabSz="533400">
            <a:lnSpc>
              <a:spcPct val="90000"/>
            </a:lnSpc>
            <a:spcBef>
              <a:spcPct val="0"/>
            </a:spcBef>
            <a:spcAft>
              <a:spcPct val="15000"/>
            </a:spcAft>
            <a:buChar char="•"/>
          </a:pPr>
          <a:r>
            <a:rPr lang="en-US" sz="1200" kern="1200"/>
            <a:t>Fails to address barriers identified</a:t>
          </a:r>
        </a:p>
      </dsp:txBody>
      <dsp:txXfrm>
        <a:off x="4851" y="1082904"/>
        <a:ext cx="3069320" cy="1915647"/>
      </dsp:txXfrm>
    </dsp:sp>
    <dsp:sp modelId="{FBBED180-350E-4DCA-B388-B1535C0E37D6}">
      <dsp:nvSpPr>
        <dsp:cNvPr id="0" name=""/>
        <dsp:cNvSpPr/>
      </dsp:nvSpPr>
      <dsp:spPr>
        <a:xfrm>
          <a:off x="3182066"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62108"/>
        <a:ext cx="3069320" cy="920796"/>
      </dsp:txXfrm>
    </dsp:sp>
    <dsp:sp modelId="{11332FA0-D6E1-4449-B57F-35ACB9682792}">
      <dsp:nvSpPr>
        <dsp:cNvPr id="0" name=""/>
        <dsp:cNvSpPr/>
      </dsp:nvSpPr>
      <dsp:spPr>
        <a:xfrm>
          <a:off x="3182066"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Minimal change </a:t>
          </a:r>
        </a:p>
        <a:p>
          <a:pPr marL="114300" lvl="1" indent="-114300" algn="l" defTabSz="533400">
            <a:lnSpc>
              <a:spcPct val="90000"/>
            </a:lnSpc>
            <a:spcBef>
              <a:spcPct val="0"/>
            </a:spcBef>
            <a:spcAft>
              <a:spcPct val="15000"/>
            </a:spcAft>
            <a:buChar char="•"/>
          </a:pPr>
          <a:r>
            <a:rPr lang="en-US" sz="1200" kern="1200" dirty="0"/>
            <a:t>Low cost, Low effort (Small UI updates)</a:t>
          </a:r>
        </a:p>
        <a:p>
          <a:pPr marL="114300" lvl="1" indent="-114300" algn="l" defTabSz="533400">
            <a:lnSpc>
              <a:spcPct val="90000"/>
            </a:lnSpc>
            <a:spcBef>
              <a:spcPct val="0"/>
            </a:spcBef>
            <a:spcAft>
              <a:spcPct val="15000"/>
            </a:spcAft>
            <a:buChar char="•"/>
          </a:pPr>
          <a:r>
            <a:rPr lang="en-US" sz="1200" kern="1200" dirty="0"/>
            <a:t>Doesn’t address core needs (live routing, tickets, partner alignment)</a:t>
          </a:r>
        </a:p>
      </dsp:txBody>
      <dsp:txXfrm>
        <a:off x="3182066" y="1082904"/>
        <a:ext cx="3069320" cy="1915647"/>
      </dsp:txXfrm>
    </dsp:sp>
    <dsp:sp modelId="{B884D7B0-B620-4844-AE71-205FED6FB08C}">
      <dsp:nvSpPr>
        <dsp:cNvPr id="0" name=""/>
        <dsp:cNvSpPr/>
      </dsp:nvSpPr>
      <dsp:spPr>
        <a:xfrm>
          <a:off x="6359281" y="162108"/>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62108"/>
        <a:ext cx="3069320" cy="920796"/>
      </dsp:txXfrm>
    </dsp:sp>
    <dsp:sp modelId="{7E5A14E6-F182-4581-9848-419B94AC66EE}">
      <dsp:nvSpPr>
        <dsp:cNvPr id="0" name=""/>
        <dsp:cNvSpPr/>
      </dsp:nvSpPr>
      <dsp:spPr>
        <a:xfrm>
          <a:off x="635928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Envisioned solution </a:t>
          </a:r>
        </a:p>
        <a:p>
          <a:pPr marL="114300" lvl="1" indent="-114300" algn="l" defTabSz="533400">
            <a:lnSpc>
              <a:spcPct val="90000"/>
            </a:lnSpc>
            <a:spcBef>
              <a:spcPct val="0"/>
            </a:spcBef>
            <a:spcAft>
              <a:spcPct val="15000"/>
            </a:spcAft>
            <a:buChar char="•"/>
          </a:pPr>
          <a:r>
            <a:rPr lang="en-US" sz="1200" kern="1200" dirty="0"/>
            <a:t>High-Fidelity Prototype + Complete management artefacts</a:t>
          </a:r>
        </a:p>
        <a:p>
          <a:pPr marL="114300" lvl="1" indent="-114300" algn="l" defTabSz="533400">
            <a:lnSpc>
              <a:spcPct val="90000"/>
            </a:lnSpc>
            <a:spcBef>
              <a:spcPct val="0"/>
            </a:spcBef>
            <a:spcAft>
              <a:spcPct val="15000"/>
            </a:spcAft>
            <a:buChar char="•"/>
          </a:pPr>
          <a:r>
            <a:rPr lang="en-US" sz="1200" kern="1200"/>
            <a:t>Demonstrates feasibility with concrete evidence</a:t>
          </a:r>
        </a:p>
        <a:p>
          <a:pPr marL="114300" lvl="1" indent="-114300" algn="l" defTabSz="533400">
            <a:lnSpc>
              <a:spcPct val="90000"/>
            </a:lnSpc>
            <a:spcBef>
              <a:spcPct val="0"/>
            </a:spcBef>
            <a:spcAft>
              <a:spcPct val="15000"/>
            </a:spcAft>
            <a:buChar char="•"/>
          </a:pPr>
          <a:r>
            <a:rPr lang="en-US" sz="1200" kern="1200"/>
            <a:t>MVP approach: real value at lower risk</a:t>
          </a:r>
        </a:p>
      </dsp:txBody>
      <dsp:txXfrm>
        <a:off x="6359281" y="1082904"/>
        <a:ext cx="3069320" cy="1915647"/>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09/12/2025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featuring a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254176226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09/12/2025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A8487364-6656-4621-B013-758523783C72}" type="datetimeFigureOut">
              <a:rPr lang="en-GB" smtClean="0"/>
              <a:t>09/12/2025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09/12/2025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emf"/><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2901261978"/>
              </p:ext>
            </p:extLst>
          </p:nvPr>
        </p:nvGraphicFramePr>
        <p:xfrm>
          <a:off x="577520" y="2474781"/>
          <a:ext cx="10041597" cy="344293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a:buNone/>
                      </a:pPr>
                      <a:r>
                        <a:rPr lang="en-GB">
                          <a:solidFill>
                            <a:schemeClr val="bg1"/>
                          </a:solidFill>
                        </a:rPr>
                        <a:t>Quality</a:t>
                      </a:r>
                    </a:p>
                  </a:txBody>
                  <a:tcPr anchor="ctr"/>
                </a:tc>
                <a:tc>
                  <a:txBody>
                    <a:bodyPr/>
                    <a:lstStyle/>
                    <a:p>
                      <a:pPr>
                        <a:buNone/>
                      </a:pPr>
                      <a:r>
                        <a:rPr lang="en-GB">
                          <a:solidFill>
                            <a:schemeClr val="bg1"/>
                          </a:solidFill>
                        </a:rPr>
                        <a:t>Quality Plan</a:t>
                      </a:r>
                    </a:p>
                  </a:txBody>
                  <a:tcPr anchor="ctr"/>
                </a:tc>
                <a:extLst>
                  <a:ext uri="{0D108BD9-81ED-4DB2-BD59-A6C34878D82A}">
                    <a16:rowId xmlns:a16="http://schemas.microsoft.com/office/drawing/2014/main" val="3801539509"/>
                  </a:ext>
                </a:extLst>
              </a:tr>
              <a:tr h="444250">
                <a:tc>
                  <a:txBody>
                    <a:bodyPr/>
                    <a:lstStyle/>
                    <a:p>
                      <a:pPr>
                        <a:buNone/>
                      </a:pPr>
                      <a:r>
                        <a:rPr lang="en-GB" dirty="0">
                          <a:solidFill>
                            <a:schemeClr val="bg1"/>
                          </a:solidFill>
                        </a:rPr>
                        <a:t>Envisioned Solution</a:t>
                      </a:r>
                    </a:p>
                  </a:txBody>
                  <a:tcPr anchor="ctr"/>
                </a:tc>
                <a:tc>
                  <a:txBody>
                    <a:bodyPr/>
                    <a:lstStyle/>
                    <a:p>
                      <a:pPr>
                        <a:buNone/>
                      </a:pPr>
                      <a:r>
                        <a:rPr lang="en-GB" dirty="0">
                          <a:solidFill>
                            <a:schemeClr val="bg1"/>
                          </a:solidFill>
                        </a:rPr>
                        <a:t>Prototype</a:t>
                      </a:r>
                      <a:r>
                        <a:rPr lang="en-GB" dirty="0">
                          <a:solidFill>
                            <a:schemeClr val="tx1">
                              <a:lumMod val="50000"/>
                            </a:schemeClr>
                          </a:solidFill>
                        </a:rPr>
                        <a:t>, Video, </a:t>
                      </a:r>
                      <a:r>
                        <a:rPr lang="en-GB" dirty="0">
                          <a:solidFill>
                            <a:schemeClr val="bg1"/>
                          </a:solidFill>
                        </a:rPr>
                        <a:t>MoSCoW</a:t>
                      </a: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PID -</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lstStyle/>
          <a:p>
            <a:r>
              <a:rPr lang="en-GB" dirty="0"/>
              <a:t>- Methodology: Prince2 Agile</a:t>
            </a:r>
          </a:p>
          <a:p>
            <a:r>
              <a:rPr lang="en-GB" dirty="0"/>
              <a:t>- Roles and Responsibilities –</a:t>
            </a:r>
          </a:p>
          <a:p>
            <a:r>
              <a:rPr lang="en-GB" dirty="0"/>
              <a:t>- Objective -</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6" name="Picture 1055">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057" name="Rectangle 1056">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5584677" cy="1080938"/>
          </a:xfrm>
        </p:spPr>
        <p:txBody>
          <a:bodyPr>
            <a:normAutofit/>
          </a:bodyPr>
          <a:lstStyle/>
          <a:p>
            <a:r>
              <a:rPr lang="en-GB"/>
              <a:t>Business Case – Force Field Analysis</a:t>
            </a:r>
          </a:p>
        </p:txBody>
      </p:sp>
      <p:pic>
        <p:nvPicPr>
          <p:cNvPr id="1059" name="Picture 1058">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5104843" cy="3599316"/>
          </a:xfrm>
        </p:spPr>
        <p:txBody>
          <a:bodyPr>
            <a:normAutofit/>
          </a:bodyPr>
          <a:lstStyle/>
          <a:p>
            <a:pPr marL="0" indent="0">
              <a:buNone/>
            </a:pPr>
            <a:r>
              <a:rPr lang="en-US" sz="1600" dirty="0"/>
              <a:t>Forces for Change : </a:t>
            </a:r>
            <a:r>
              <a:rPr lang="en-US" sz="1600" b="1" dirty="0"/>
              <a:t>19 | </a:t>
            </a:r>
            <a:r>
              <a:rPr lang="en-US" sz="1600" dirty="0"/>
              <a:t>Forces Against change : </a:t>
            </a:r>
            <a:r>
              <a:rPr lang="en-US" sz="1600" b="1" dirty="0"/>
              <a:t>12</a:t>
            </a:r>
          </a:p>
          <a:p>
            <a:pPr marL="0" indent="0">
              <a:buNone/>
            </a:pPr>
            <a:r>
              <a:rPr lang="en-US" sz="1400" b="1" dirty="0"/>
              <a:t>Forces For Change:</a:t>
            </a:r>
          </a:p>
          <a:p>
            <a:r>
              <a:rPr lang="en-US" sz="1400" dirty="0"/>
              <a:t>Improved customer experience – Clear Journey Info</a:t>
            </a:r>
          </a:p>
          <a:p>
            <a:r>
              <a:rPr lang="en-US" sz="1400" dirty="0"/>
              <a:t>Alignment with existing operators (Stagecoach, First Bus)</a:t>
            </a:r>
          </a:p>
          <a:p>
            <a:r>
              <a:rPr lang="en-US" sz="1400" dirty="0"/>
              <a:t>Meeting accessibility requirements</a:t>
            </a:r>
          </a:p>
          <a:p>
            <a:pPr marL="0" indent="0">
              <a:buNone/>
            </a:pPr>
            <a:r>
              <a:rPr lang="en-US" sz="1400" b="1" dirty="0"/>
              <a:t>Forces Against Change:</a:t>
            </a:r>
          </a:p>
          <a:p>
            <a:r>
              <a:rPr lang="en-US" sz="1400" dirty="0"/>
              <a:t>Fixed Budget (£65,000)</a:t>
            </a:r>
          </a:p>
          <a:p>
            <a:r>
              <a:rPr lang="en-US" sz="1400" dirty="0"/>
              <a:t>Short Delivery Timeline (mid-December 2025)</a:t>
            </a:r>
          </a:p>
          <a:p>
            <a:r>
              <a:rPr lang="en-US" sz="1400" dirty="0"/>
              <a:t>Strong competition from established apps</a:t>
            </a:r>
          </a:p>
          <a:p>
            <a:r>
              <a:rPr lang="en-US" sz="1400" dirty="0"/>
              <a:t>Uncertainty about post-launch ownership/maintenance</a:t>
            </a:r>
          </a:p>
          <a:p>
            <a:endParaRPr lang="en-US" sz="1400" dirty="0"/>
          </a:p>
        </p:txBody>
      </p:sp>
      <p:sp>
        <p:nvSpPr>
          <p:cNvPr id="1054" name="Rectangle 1053">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 diagram of a company's process&#10;&#10;AI-generated content may be incorrect.">
            <a:extLst>
              <a:ext uri="{FF2B5EF4-FFF2-40B4-BE49-F238E27FC236}">
                <a16:creationId xmlns:a16="http://schemas.microsoft.com/office/drawing/2014/main" id="{BFF2B3BF-97E3-C8A2-EF63-1452D7A5748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7089208" y="955591"/>
            <a:ext cx="4087869" cy="4940024"/>
          </a:xfrm>
          <a:prstGeom prst="rect">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4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646350067"/>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1" name="Rectangle 30">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pic>
        <p:nvPicPr>
          <p:cNvPr id="35" name="Picture 34">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76201" y="2113873"/>
            <a:ext cx="4486274" cy="4639352"/>
          </a:xfrm>
        </p:spPr>
        <p:txBody>
          <a:bodyPr>
            <a:normAutofit fontScale="85000" lnSpcReduction="20000"/>
          </a:bodyPr>
          <a:lstStyle/>
          <a:p>
            <a:pPr marL="0" indent="0">
              <a:buNone/>
            </a:pPr>
            <a:r>
              <a:rPr lang="en-US" sz="1500" b="1" dirty="0"/>
              <a:t>Costs:</a:t>
            </a:r>
          </a:p>
          <a:p>
            <a:pPr>
              <a:buFontTx/>
              <a:buChar char="-"/>
            </a:pPr>
            <a:r>
              <a:rPr lang="en-US" sz="1500" b="1" dirty="0"/>
              <a:t>Capital:</a:t>
            </a:r>
          </a:p>
          <a:p>
            <a:pPr lvl="1"/>
            <a:r>
              <a:rPr lang="en-US" sz="1200" dirty="0"/>
              <a:t>Development: £65,000 (fixed budget)</a:t>
            </a:r>
          </a:p>
          <a:p>
            <a:pPr lvl="1"/>
            <a:r>
              <a:rPr lang="en-US" sz="1200" dirty="0"/>
              <a:t>Cloud Hosting (Yr 1): £1,200</a:t>
            </a:r>
          </a:p>
          <a:p>
            <a:pPr>
              <a:buFontTx/>
              <a:buChar char="-"/>
            </a:pPr>
            <a:r>
              <a:rPr lang="en-US" sz="1500" b="1" dirty="0"/>
              <a:t>Recurring (Years 1-5):</a:t>
            </a:r>
          </a:p>
          <a:p>
            <a:pPr lvl="1"/>
            <a:r>
              <a:rPr lang="en-US" sz="1200" dirty="0"/>
              <a:t>Cloud Hosting Renewal: £1,200/year</a:t>
            </a:r>
          </a:p>
          <a:p>
            <a:pPr lvl="1"/>
            <a:r>
              <a:rPr lang="en-US" sz="1200" dirty="0"/>
              <a:t>Transport API (Map): £670/year </a:t>
            </a:r>
          </a:p>
          <a:p>
            <a:pPr lvl="1"/>
            <a:r>
              <a:rPr lang="en-US" sz="1200" dirty="0"/>
              <a:t>Built-in Support/Helpdesk: £2,000/year</a:t>
            </a:r>
          </a:p>
          <a:p>
            <a:pPr marL="457200" lvl="1" indent="0">
              <a:buNone/>
            </a:pPr>
            <a:r>
              <a:rPr lang="en-US" sz="1200" dirty="0"/>
              <a:t>Total recurring: £4,000/£5,000/year (grows with inflation)</a:t>
            </a:r>
            <a:endParaRPr lang="en-US" sz="1700" dirty="0"/>
          </a:p>
          <a:p>
            <a:pPr marL="0" indent="0">
              <a:buNone/>
            </a:pPr>
            <a:r>
              <a:rPr lang="en-US" sz="1500" b="1" dirty="0"/>
              <a:t>Benefits:</a:t>
            </a:r>
          </a:p>
          <a:p>
            <a:pPr>
              <a:buFontTx/>
              <a:buChar char="-"/>
            </a:pPr>
            <a:r>
              <a:rPr lang="en-US" sz="1500" b="1" dirty="0"/>
              <a:t>Revenue Streams: </a:t>
            </a:r>
          </a:p>
          <a:p>
            <a:pPr lvl="1"/>
            <a:r>
              <a:rPr lang="en-US" sz="1200" dirty="0"/>
              <a:t>Ticket Commissions: £36,000/year (10% on £3 tickets x 10,000 users)</a:t>
            </a:r>
          </a:p>
          <a:p>
            <a:pPr lvl="1"/>
            <a:endParaRPr lang="en-US" sz="1100" dirty="0"/>
          </a:p>
          <a:p>
            <a:pPr>
              <a:buFontTx/>
              <a:buChar char="-"/>
            </a:pPr>
            <a:r>
              <a:rPr lang="en-US" sz="1500" b="1" dirty="0"/>
              <a:t>Cost Savings:</a:t>
            </a:r>
          </a:p>
          <a:p>
            <a:pPr lvl="1"/>
            <a:r>
              <a:rPr lang="en-US" sz="1100" dirty="0"/>
              <a:t> </a:t>
            </a:r>
            <a:r>
              <a:rPr lang="en-US" sz="1200" dirty="0"/>
              <a:t>Faster Boarding: £2,000/year (reduced time stationary leading to lower overtime/fuel costs)</a:t>
            </a:r>
          </a:p>
          <a:p>
            <a:pPr marL="0" indent="0">
              <a:buNone/>
            </a:pPr>
            <a:r>
              <a:rPr lang="en-US" sz="1500" b="1" dirty="0"/>
              <a:t>Financial Outcome:</a:t>
            </a:r>
          </a:p>
          <a:p>
            <a:r>
              <a:rPr lang="en-US" sz="1500" dirty="0"/>
              <a:t>Year 1 Loss: £30,000</a:t>
            </a:r>
          </a:p>
          <a:p>
            <a:r>
              <a:rPr lang="en-US" sz="1500" dirty="0"/>
              <a:t>Year 2-5: Exceeding costs (£34,000-£35,000 annually)</a:t>
            </a:r>
          </a:p>
          <a:p>
            <a:r>
              <a:rPr lang="en-US" sz="1500" dirty="0"/>
              <a:t>5-year cumulative return: £109,000 (1.7x ROI)</a:t>
            </a:r>
          </a:p>
          <a:p>
            <a:endParaRPr lang="en-US" sz="1400" dirty="0"/>
          </a:p>
          <a:p>
            <a:pPr marL="457200" lvl="1" indent="0">
              <a:buNone/>
            </a:pPr>
            <a:endParaRPr lang="en-US" sz="1000" dirty="0"/>
          </a:p>
          <a:p>
            <a:pPr marL="457200" lvl="1" indent="0">
              <a:buNone/>
            </a:pPr>
            <a:endParaRPr lang="en-US" sz="1000" dirty="0"/>
          </a:p>
        </p:txBody>
      </p:sp>
      <p:pic>
        <p:nvPicPr>
          <p:cNvPr id="4" name="Picture 3" descr="Cost Benefits Analysis">
            <a:extLst>
              <a:ext uri="{FF2B5EF4-FFF2-40B4-BE49-F238E27FC236}">
                <a16:creationId xmlns:a16="http://schemas.microsoft.com/office/drawing/2014/main" id="{25978EAD-B90C-7FB9-A23F-DB67D1BFBDF5}"/>
              </a:ext>
            </a:extLst>
          </p:cNvPr>
          <p:cNvPicPr>
            <a:picLocks noChangeAspect="1"/>
          </p:cNvPicPr>
          <p:nvPr/>
        </p:nvPicPr>
        <p:blipFill>
          <a:blip r:embed="rId5"/>
          <a:stretch>
            <a:fillRect/>
          </a:stretch>
        </p:blipFill>
        <p:spPr>
          <a:xfrm>
            <a:off x="4816444" y="2261018"/>
            <a:ext cx="7187575" cy="2335961"/>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2757184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p:txBody>
          <a:bodyPr/>
          <a:lstStyle/>
          <a:p>
            <a:r>
              <a:rPr lang="en-GB" dirty="0"/>
              <a:t>Project Plan</a:t>
            </a:r>
          </a:p>
        </p:txBody>
      </p:sp>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p:txBody>
          <a:bodyPr/>
          <a:lstStyle/>
          <a:p>
            <a:r>
              <a:rPr lang="en-GB" dirty="0"/>
              <a:t>- WBS –</a:t>
            </a:r>
          </a:p>
          <a:p>
            <a:r>
              <a:rPr lang="en-GB" dirty="0"/>
              <a:t>- Gantt Chart –</a:t>
            </a:r>
          </a:p>
          <a:p>
            <a:r>
              <a:rPr lang="en-GB" dirty="0"/>
              <a:t>- COCOMO Estimate –</a:t>
            </a:r>
          </a:p>
          <a:p>
            <a:r>
              <a:rPr lang="en-GB" dirty="0"/>
              <a:t>- RACI Chart –</a:t>
            </a:r>
          </a:p>
        </p:txBody>
      </p:sp>
    </p:spTree>
    <p:extLst>
      <p:ext uri="{BB962C8B-B14F-4D97-AF65-F5344CB8AC3E}">
        <p14:creationId xmlns:p14="http://schemas.microsoft.com/office/powerpoint/2010/main" val="23588321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784EA6C8-88F6-15DF-C5B5-ED07AE7DA61C}"/>
              </a:ext>
            </a:extLst>
          </p:cNvPr>
          <p:cNvPicPr>
            <a:picLocks noChangeAspect="1"/>
          </p:cNvPicPr>
          <p:nvPr/>
        </p:nvPicPr>
        <p:blipFill>
          <a:blip r:embed="rId5"/>
          <a:stretch>
            <a:fillRect/>
          </a:stretch>
        </p:blipFill>
        <p:spPr>
          <a:xfrm>
            <a:off x="5593085" y="2616181"/>
            <a:ext cx="5629268" cy="1618844"/>
          </a:xfrm>
          <a:prstGeom prst="rect">
            <a:avLst/>
          </a:prstGeom>
          <a:ln>
            <a:noFill/>
          </a:ln>
          <a:effectLst/>
        </p:spPr>
      </p:pic>
    </p:spTree>
    <p:extLst>
      <p:ext uri="{BB962C8B-B14F-4D97-AF65-F5344CB8AC3E}">
        <p14:creationId xmlns:p14="http://schemas.microsoft.com/office/powerpoint/2010/main" val="29463456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a:extLst>
              <a:ext uri="{FF2B5EF4-FFF2-40B4-BE49-F238E27FC236}">
                <a16:creationId xmlns:a16="http://schemas.microsoft.com/office/drawing/2014/main" id="{9D27BE7B-F29F-3088-EAD7-5749A1E6273E}"/>
              </a:ext>
            </a:extLst>
          </p:cNvPr>
          <p:cNvPicPr>
            <a:picLocks noChangeAspect="1"/>
          </p:cNvPicPr>
          <p:nvPr/>
        </p:nvPicPr>
        <p:blipFill>
          <a:blip r:embed="rId5"/>
          <a:stretch>
            <a:fillRect/>
          </a:stretch>
        </p:blipFill>
        <p:spPr>
          <a:xfrm>
            <a:off x="7043933" y="2400502"/>
            <a:ext cx="4178419" cy="2050201"/>
          </a:xfrm>
          <a:prstGeom prst="rect">
            <a:avLst/>
          </a:prstGeom>
          <a:ln>
            <a:noFill/>
          </a:ln>
          <a:effectLst/>
        </p:spPr>
      </p:pic>
    </p:spTree>
    <p:extLst>
      <p:ext uri="{BB962C8B-B14F-4D97-AF65-F5344CB8AC3E}">
        <p14:creationId xmlns:p14="http://schemas.microsoft.com/office/powerpoint/2010/main" val="3093783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Content Placeholder 20">
            <a:extLst>
              <a:ext uri="{FF2B5EF4-FFF2-40B4-BE49-F238E27FC236}">
                <a16:creationId xmlns:a16="http://schemas.microsoft.com/office/drawing/2014/main" id="{850C7C3B-8E75-6D32-58E1-86C6294305A5}"/>
              </a:ext>
            </a:extLst>
          </p:cNvPr>
          <p:cNvPicPr>
            <a:picLocks noChangeAspect="1"/>
          </p:cNvPicPr>
          <p:nvPr/>
        </p:nvPicPr>
        <p:blipFill>
          <a:blip r:embed="rId5"/>
          <a:stretch>
            <a:fillRect/>
          </a:stretch>
        </p:blipFill>
        <p:spPr>
          <a:xfrm>
            <a:off x="5593085" y="1693095"/>
            <a:ext cx="5629268" cy="3465016"/>
          </a:xfrm>
          <a:prstGeom prst="rect">
            <a:avLst/>
          </a:prstGeom>
          <a:ln>
            <a:noFill/>
          </a:ln>
          <a:effectLst/>
        </p:spPr>
      </p:pic>
    </p:spTree>
    <p:extLst>
      <p:ext uri="{BB962C8B-B14F-4D97-AF65-F5344CB8AC3E}">
        <p14:creationId xmlns:p14="http://schemas.microsoft.com/office/powerpoint/2010/main" val="1035420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9E8BF-68CB-2347-F4C4-CAC9F7252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9DD98-E704-4E8E-8636-F87B53251BA4}"/>
              </a:ext>
            </a:extLst>
          </p:cNvPr>
          <p:cNvSpPr>
            <a:spLocks noGrp="1"/>
          </p:cNvSpPr>
          <p:nvPr>
            <p:ph type="title"/>
          </p:nvPr>
        </p:nvSpPr>
        <p:spPr/>
        <p:txBody>
          <a:bodyPr/>
          <a:lstStyle/>
          <a:p>
            <a:r>
              <a:rPr lang="en-GB" dirty="0"/>
              <a:t>Quality</a:t>
            </a:r>
          </a:p>
        </p:txBody>
      </p:sp>
      <p:sp>
        <p:nvSpPr>
          <p:cNvPr id="3" name="Content Placeholder 2">
            <a:extLst>
              <a:ext uri="{FF2B5EF4-FFF2-40B4-BE49-F238E27FC236}">
                <a16:creationId xmlns:a16="http://schemas.microsoft.com/office/drawing/2014/main" id="{B1333849-626E-9D5F-8661-7445A2440826}"/>
              </a:ext>
            </a:extLst>
          </p:cNvPr>
          <p:cNvSpPr>
            <a:spLocks noGrp="1"/>
          </p:cNvSpPr>
          <p:nvPr>
            <p:ph idx="1"/>
          </p:nvPr>
        </p:nvSpPr>
        <p:spPr/>
        <p:txBody>
          <a:bodyPr/>
          <a:lstStyle/>
          <a:p>
            <a:r>
              <a:rPr lang="en-GB" dirty="0"/>
              <a:t>Quality Plan -</a:t>
            </a:r>
          </a:p>
        </p:txBody>
      </p:sp>
    </p:spTree>
    <p:extLst>
      <p:ext uri="{BB962C8B-B14F-4D97-AF65-F5344CB8AC3E}">
        <p14:creationId xmlns:p14="http://schemas.microsoft.com/office/powerpoint/2010/main" val="3320284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sp>
        <p:nvSpPr>
          <p:cNvPr id="3" name="Content Placeholder 2">
            <a:extLst>
              <a:ext uri="{FF2B5EF4-FFF2-40B4-BE49-F238E27FC236}">
                <a16:creationId xmlns:a16="http://schemas.microsoft.com/office/drawing/2014/main" id="{43FE0754-865A-BC52-A7D0-D5BE0C039A92}"/>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4581998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p:txBody>
          <a:bodyPr/>
          <a:lstStyle/>
          <a:p>
            <a:r>
              <a:rPr lang="en-GB" dirty="0"/>
              <a:t>MoSCoW</a:t>
            </a:r>
          </a:p>
        </p:txBody>
      </p:sp>
      <p:sp>
        <p:nvSpPr>
          <p:cNvPr id="3" name="Content Placeholder 2">
            <a:extLst>
              <a:ext uri="{FF2B5EF4-FFF2-40B4-BE49-F238E27FC236}">
                <a16:creationId xmlns:a16="http://schemas.microsoft.com/office/drawing/2014/main" id="{1EE0EE8C-EA6A-B5D1-0915-09F88FA111D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4208705017"/>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694</TotalTime>
  <Words>1786</Words>
  <Application>Microsoft Office PowerPoint</Application>
  <PresentationFormat>Widescreen</PresentationFormat>
  <Paragraphs>140</Paragraphs>
  <Slides>13</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Trebuchet MS</vt:lpstr>
      <vt:lpstr>Berlin</vt:lpstr>
      <vt:lpstr>SY Bus Journey Planner</vt:lpstr>
      <vt:lpstr>Deliverables Overview</vt:lpstr>
      <vt:lpstr>PID -</vt:lpstr>
      <vt:lpstr>Business Case – Force Field Analysis</vt:lpstr>
      <vt:lpstr>Business Case – Options Considered</vt:lpstr>
      <vt:lpstr>Business Case – Cost Benefits Analysis</vt:lpstr>
      <vt:lpstr>Project Plan</vt:lpstr>
      <vt:lpstr>Risk Management Plan – Risk Register</vt:lpstr>
      <vt:lpstr>Risk Management Plan – Risk Map</vt:lpstr>
      <vt:lpstr>Risk Management Plan – RAID Log</vt:lpstr>
      <vt:lpstr>Quality</vt:lpstr>
      <vt:lpstr>High Fidelity Prototype </vt:lpstr>
      <vt:lpstr>MoSCoW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Morris, Javani (Student)</cp:lastModifiedBy>
  <cp:revision>39</cp:revision>
  <dcterms:created xsi:type="dcterms:W3CDTF">2025-12-06T17:43:22Z</dcterms:created>
  <dcterms:modified xsi:type="dcterms:W3CDTF">2025-12-09T20:15:58Z</dcterms:modified>
</cp:coreProperties>
</file>