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7" r:id="rId1"/>
  </p:sldMasterIdLst>
  <p:notesMasterIdLst>
    <p:notesMasterId r:id="rId13"/>
  </p:notesMasterIdLst>
  <p:sldIdLst>
    <p:sldId id="256" r:id="rId2"/>
    <p:sldId id="257" r:id="rId3"/>
    <p:sldId id="258" r:id="rId4"/>
    <p:sldId id="259" r:id="rId5"/>
    <p:sldId id="260" r:id="rId6"/>
    <p:sldId id="266" r:id="rId7"/>
    <p:sldId id="261" r:id="rId8"/>
    <p:sldId id="267" r:id="rId9"/>
    <p:sldId id="265" r:id="rId10"/>
    <p:sldId id="263" r:id="rId11"/>
    <p:sldId id="264"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73564" autoAdjust="0"/>
  </p:normalViewPr>
  <p:slideViewPr>
    <p:cSldViewPr snapToGrid="0">
      <p:cViewPr>
        <p:scale>
          <a:sx n="75" d="100"/>
          <a:sy n="75" d="100"/>
        </p:scale>
        <p:origin x="276" y="9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DFCF3D4-4B19-40BF-97C8-2490B697FBE7}" type="datetimeFigureOut">
              <a:rPr lang="en-GB" smtClean="0"/>
              <a:t>09/12/2025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D7E95E9-FA28-469F-9CFA-6BC8B5BDD7BE}" type="slidenum">
              <a:rPr lang="en-GB" smtClean="0"/>
              <a:t>‹#›</a:t>
            </a:fld>
            <a:endParaRPr lang="en-GB"/>
          </a:p>
        </p:txBody>
      </p:sp>
    </p:spTree>
    <p:extLst>
      <p:ext uri="{BB962C8B-B14F-4D97-AF65-F5344CB8AC3E}">
        <p14:creationId xmlns:p14="http://schemas.microsoft.com/office/powerpoint/2010/main" val="6154745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On this right-hand side of this slide, you can see the Risk Register. This is a list of our identified risks to the project. For each risk we assigned a unique ID, a description for the risk so that you know what the actual risk is, a probability value for how likely the risk is to occur, an impact value for how much damage it would cause to the project if that risk were to become a reality, a category which helps stress how much of a problem the risk poses and therefore how much focus it should have and finally a response for each risk such as attempting to reduce the likelihood of the risk, avoid the risk, transfer the risk elsewhere, creating a contingency plan for the risk or accepting that the risk exists and essentially leaving that risk unchecked/not tackling the risk.</a:t>
            </a:r>
          </a:p>
          <a:p>
            <a:endParaRPr lang="en-GB" dirty="0"/>
          </a:p>
          <a:p>
            <a:r>
              <a:rPr lang="en-GB" dirty="0"/>
              <a:t>The highest priority risks for the project are Scope Creep and Communication Issues. To tackle these risks, it involves attempts to reduce the likelihood of them occurring. For Scope Creep, we would evaluate what is currently in the scope and approve or reject changes based on how much they’d cause a scope creep issue. For Communication Issues, the way to reduce the likelihood is through maintaining open communication between team members and with the client.</a:t>
            </a:r>
          </a:p>
          <a:p>
            <a:endParaRPr lang="en-GB" dirty="0"/>
          </a:p>
          <a:p>
            <a:r>
              <a:rPr lang="en-GB" dirty="0"/>
              <a:t>The lowest risks were Vague Information regarding requirements and Acts of Nature. To tackle vague information, we simply have to reduce the risk by seeking  clarification for the requirements. For the acts of nature, it is even simpler – we just accept that there’s nothing we can do to prevent any complications as we are not able to control storms or earthquakes etc.</a:t>
            </a:r>
          </a:p>
        </p:txBody>
      </p:sp>
      <p:sp>
        <p:nvSpPr>
          <p:cNvPr id="4" name="Slide Number Placeholder 3"/>
          <p:cNvSpPr>
            <a:spLocks noGrp="1"/>
          </p:cNvSpPr>
          <p:nvPr>
            <p:ph type="sldNum" sz="quarter" idx="5"/>
          </p:nvPr>
        </p:nvSpPr>
        <p:spPr/>
        <p:txBody>
          <a:bodyPr/>
          <a:lstStyle/>
          <a:p>
            <a:fld id="{4D7E95E9-FA28-469F-9CFA-6BC8B5BDD7BE}" type="slidenum">
              <a:rPr lang="en-GB" smtClean="0"/>
              <a:t>6</a:t>
            </a:fld>
            <a:endParaRPr lang="en-GB"/>
          </a:p>
        </p:txBody>
      </p:sp>
    </p:spTree>
    <p:extLst>
      <p:ext uri="{BB962C8B-B14F-4D97-AF65-F5344CB8AC3E}">
        <p14:creationId xmlns:p14="http://schemas.microsoft.com/office/powerpoint/2010/main" val="29033299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next two slides are directly related to the risk register, so I will try not to repeat what we’ve just discussed and instead summarise what the artefacts do with the risks we registered. On this slide you can see the Risk Map which was created for this project. It categorises the identified risks from the previous slide (the ones in risk register, in order sorted by their ID) based on their likelihood of occurring and the impact which they’d have on the project.</a:t>
            </a:r>
          </a:p>
          <a:p>
            <a:endParaRPr lang="en-GB" dirty="0"/>
          </a:p>
          <a:p>
            <a:r>
              <a:rPr lang="en-GB" dirty="0"/>
              <a:t>We also add a Rating value to each risk and these ratings go up in severity so 0 or 1 is on the lower end and in our case 15 or above are the higher risks.</a:t>
            </a:r>
          </a:p>
          <a:p>
            <a:endParaRPr lang="en-GB" dirty="0"/>
          </a:p>
          <a:p>
            <a:r>
              <a:rPr lang="en-GB" dirty="0"/>
              <a:t>The purpose of the risk map is to allow us to quickly see where the threats to the project lie and therefore be able to put our focus where it is most required. </a:t>
            </a:r>
          </a:p>
        </p:txBody>
      </p:sp>
      <p:sp>
        <p:nvSpPr>
          <p:cNvPr id="4" name="Slide Number Placeholder 3"/>
          <p:cNvSpPr>
            <a:spLocks noGrp="1"/>
          </p:cNvSpPr>
          <p:nvPr>
            <p:ph type="sldNum" sz="quarter" idx="5"/>
          </p:nvPr>
        </p:nvSpPr>
        <p:spPr/>
        <p:txBody>
          <a:bodyPr/>
          <a:lstStyle/>
          <a:p>
            <a:fld id="{4D7E95E9-FA28-469F-9CFA-6BC8B5BDD7BE}" type="slidenum">
              <a:rPr lang="en-GB" smtClean="0"/>
              <a:t>7</a:t>
            </a:fld>
            <a:endParaRPr lang="en-GB"/>
          </a:p>
        </p:txBody>
      </p:sp>
    </p:spTree>
    <p:extLst>
      <p:ext uri="{BB962C8B-B14F-4D97-AF65-F5344CB8AC3E}">
        <p14:creationId xmlns:p14="http://schemas.microsoft.com/office/powerpoint/2010/main" val="28001393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final artefact as part of the Risk Management Plan is the RAID Log. This expands on the identified risks from the Risk Register into higher detail. This is done by assigning a RAID Category to each risk which can be either Risk, Actions/Assumptions, Issues or Decisions/Dependency. We also assign an owner to each identified risk – the owner is a member of the team within the project. In addition to the owner, we also assign a priority value for how urgent the risk is based on all factors we’ve discussed, and they can then be assigned a risk priority number to order them accordingly. Finally, there is the Status value which is updated according to any developments when dealing with the risk.</a:t>
            </a:r>
          </a:p>
          <a:p>
            <a:endParaRPr lang="en-GB" dirty="0"/>
          </a:p>
          <a:p>
            <a:r>
              <a:rPr lang="en-GB" dirty="0"/>
              <a:t>There are no issues within this RAID Log and this is because an issue would be any risk which has progressed from a potential risk to an actual threat occurring because of that risk becoming reality.</a:t>
            </a:r>
          </a:p>
          <a:p>
            <a:endParaRPr lang="en-GB" dirty="0"/>
          </a:p>
        </p:txBody>
      </p:sp>
      <p:sp>
        <p:nvSpPr>
          <p:cNvPr id="4" name="Slide Number Placeholder 3"/>
          <p:cNvSpPr>
            <a:spLocks noGrp="1"/>
          </p:cNvSpPr>
          <p:nvPr>
            <p:ph type="sldNum" sz="quarter" idx="5"/>
          </p:nvPr>
        </p:nvSpPr>
        <p:spPr/>
        <p:txBody>
          <a:bodyPr/>
          <a:lstStyle/>
          <a:p>
            <a:fld id="{4D7E95E9-FA28-469F-9CFA-6BC8B5BDD7BE}" type="slidenum">
              <a:rPr lang="en-GB" smtClean="0"/>
              <a:t>8</a:t>
            </a:fld>
            <a:endParaRPr lang="en-GB"/>
          </a:p>
        </p:txBody>
      </p:sp>
    </p:spTree>
    <p:extLst>
      <p:ext uri="{BB962C8B-B14F-4D97-AF65-F5344CB8AC3E}">
        <p14:creationId xmlns:p14="http://schemas.microsoft.com/office/powerpoint/2010/main" val="254176226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4242851"/>
            <a:ext cx="8968084" cy="275942"/>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11716" y="4243845"/>
            <a:ext cx="3077108" cy="276940"/>
          </a:xfrm>
          <a:prstGeom prst="rect">
            <a:avLst/>
          </a:prstGeom>
        </p:spPr>
      </p:pic>
      <p:sp>
        <p:nvSpPr>
          <p:cNvPr id="9" name="Rectangle 8"/>
          <p:cNvSpPr/>
          <p:nvPr/>
        </p:nvSpPr>
        <p:spPr bwMode="ltGray">
          <a:xfrm>
            <a:off x="0" y="2590078"/>
            <a:ext cx="8968085" cy="1660332"/>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10" name="Rectangle 9"/>
          <p:cNvSpPr/>
          <p:nvPr/>
        </p:nvSpPr>
        <p:spPr>
          <a:xfrm>
            <a:off x="9111715" y="2590078"/>
            <a:ext cx="3077109" cy="166033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p:cNvSpPr>
            <a:spLocks noGrp="1"/>
          </p:cNvSpPr>
          <p:nvPr>
            <p:ph type="ctrTitle"/>
          </p:nvPr>
        </p:nvSpPr>
        <p:spPr>
          <a:xfrm>
            <a:off x="680322" y="2733709"/>
            <a:ext cx="8144134" cy="1373070"/>
          </a:xfrm>
        </p:spPr>
        <p:txBody>
          <a:bodyPr anchor="b">
            <a:noAutofit/>
          </a:bodyPr>
          <a:lstStyle>
            <a:lvl1pPr algn="r">
              <a:defRPr sz="5400"/>
            </a:lvl1pPr>
          </a:lstStyle>
          <a:p>
            <a:r>
              <a:rPr lang="en-US"/>
              <a:t>Click to edit Master title style</a:t>
            </a:r>
            <a:endParaRPr lang="en-US" dirty="0"/>
          </a:p>
        </p:txBody>
      </p:sp>
      <p:sp>
        <p:nvSpPr>
          <p:cNvPr id="3" name="Subtitle 2"/>
          <p:cNvSpPr>
            <a:spLocks noGrp="1"/>
          </p:cNvSpPr>
          <p:nvPr>
            <p:ph type="subTitle" idx="1"/>
          </p:nvPr>
        </p:nvSpPr>
        <p:spPr>
          <a:xfrm>
            <a:off x="680322" y="4394039"/>
            <a:ext cx="8144134" cy="1117687"/>
          </a:xfrm>
        </p:spPr>
        <p:txBody>
          <a:bodyPr>
            <a:normAutofit/>
          </a:bodyPr>
          <a:lstStyle>
            <a:lvl1pPr marL="0" indent="0" algn="r">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A8487364-6656-4621-B013-758523783C72}" type="datetimeFigureOut">
              <a:rPr lang="en-GB" smtClean="0"/>
              <a:t>09/12/2025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a:xfrm>
            <a:off x="9255346" y="2750337"/>
            <a:ext cx="1171888" cy="1356442"/>
          </a:xfrm>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1986812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15" name="Picture 14"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6" name="Picture 15"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7" name="Rectangle 16"/>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18" name="Rectangle 17"/>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8487364-6656-4621-B013-758523783C72}" type="datetimeFigureOut">
              <a:rPr lang="en-GB" smtClean="0"/>
              <a:t>09/12/2025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449011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4086907"/>
            <a:ext cx="10437812" cy="321164"/>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4" y="4087901"/>
            <a:ext cx="1602997" cy="144270"/>
          </a:xfrm>
          <a:prstGeom prst="rect">
            <a:avLst/>
          </a:prstGeom>
        </p:spPr>
      </p:pic>
      <p:sp>
        <p:nvSpPr>
          <p:cNvPr id="9" name="Rectangle 8"/>
          <p:cNvSpPr/>
          <p:nvPr/>
        </p:nvSpPr>
        <p:spPr bwMode="ltGray">
          <a:xfrm>
            <a:off x="-2" y="2726267"/>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0585825" y="2726267"/>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2869895"/>
            <a:ext cx="9613860" cy="1090788"/>
          </a:xfrm>
        </p:spPr>
        <p:txBody>
          <a:bodyPr anchor="ctr">
            <a:normAutofit/>
          </a:bodyPr>
          <a:lstStyle>
            <a:lvl1pPr algn="r">
              <a:defRPr sz="3600"/>
            </a:lvl1pPr>
          </a:lstStyle>
          <a:p>
            <a:r>
              <a:rPr lang="en-US"/>
              <a:t>Click to edit Master title style</a:t>
            </a:r>
            <a:endParaRPr lang="en-US" dirty="0"/>
          </a:p>
        </p:txBody>
      </p:sp>
      <p:sp>
        <p:nvSpPr>
          <p:cNvPr id="3" name="Text Placeholder 2"/>
          <p:cNvSpPr>
            <a:spLocks noGrp="1"/>
          </p:cNvSpPr>
          <p:nvPr>
            <p:ph type="body" idx="1"/>
          </p:nvPr>
        </p:nvSpPr>
        <p:spPr>
          <a:xfrm>
            <a:off x="680322" y="4232171"/>
            <a:ext cx="9613860" cy="1704017"/>
          </a:xfrm>
        </p:spPr>
        <p:txBody>
          <a:bodyPr>
            <a:normAutofit/>
          </a:bodyPr>
          <a:lstStyle>
            <a:lvl1pPr marL="0" indent="0" algn="r">
              <a:buNone/>
              <a:defRPr sz="20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8487364-6656-4621-B013-758523783C72}" type="datetimeFigureOut">
              <a:rPr lang="en-GB" smtClean="0"/>
              <a:t>09/12/2025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a:xfrm>
            <a:off x="10729455" y="2869895"/>
            <a:ext cx="1154151" cy="1090789"/>
          </a:xfrm>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21184531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0320" y="2336873"/>
            <a:ext cx="4698358" cy="359931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594123" y="2336873"/>
            <a:ext cx="4700058" cy="359931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A8487364-6656-4621-B013-758523783C72}" type="datetimeFigureOut">
              <a:rPr lang="en-GB" smtClean="0"/>
              <a:t>09/12/2025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42798780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1" name="Picture 10"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2" name="Rectangle 11"/>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Rectangle 12"/>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19" y="753229"/>
            <a:ext cx="9613863" cy="1080937"/>
          </a:xfrm>
        </p:spPr>
        <p:txBody>
          <a:bodyPr/>
          <a:lstStyle/>
          <a:p>
            <a:r>
              <a:rPr lang="en-US"/>
              <a:t>Click to edit Master title style</a:t>
            </a:r>
            <a:endParaRPr lang="en-US" dirty="0"/>
          </a:p>
        </p:txBody>
      </p:sp>
      <p:sp>
        <p:nvSpPr>
          <p:cNvPr id="3" name="Text Placeholder 2"/>
          <p:cNvSpPr>
            <a:spLocks noGrp="1"/>
          </p:cNvSpPr>
          <p:nvPr>
            <p:ph type="body" idx="1"/>
          </p:nvPr>
        </p:nvSpPr>
        <p:spPr>
          <a:xfrm>
            <a:off x="906350" y="2336873"/>
            <a:ext cx="4472327" cy="69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80322" y="3030008"/>
            <a:ext cx="4698355" cy="290617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820154" y="2336873"/>
            <a:ext cx="4474028" cy="692076"/>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594123" y="3030008"/>
            <a:ext cx="4700059" cy="290617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A8487364-6656-4621-B013-758523783C72}" type="datetimeFigureOut">
              <a:rPr lang="en-GB" smtClean="0"/>
              <a:t>09/12/2025</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14351209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5"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7" name="Picture 6"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8" name="Rectangle 7"/>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A8487364-6656-4621-B013-758523783C72}" type="datetimeFigureOut">
              <a:rPr lang="en-GB" smtClean="0"/>
              <a:t>09/12/2025</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42319082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5" name="Picture 4" descr="HD-ShadowShor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6" name="Rectangle 5"/>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Date Placeholder 1"/>
          <p:cNvSpPr>
            <a:spLocks noGrp="1"/>
          </p:cNvSpPr>
          <p:nvPr>
            <p:ph type="dt" sz="half" idx="10"/>
          </p:nvPr>
        </p:nvSpPr>
        <p:spPr/>
        <p:txBody>
          <a:bodyPr/>
          <a:lstStyle/>
          <a:p>
            <a:fld id="{A8487364-6656-4621-B013-758523783C72}" type="datetimeFigureOut">
              <a:rPr lang="en-GB" smtClean="0"/>
              <a:t>09/12/2025</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20403802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1" y="753227"/>
            <a:ext cx="9613859" cy="1080940"/>
          </a:xfrm>
        </p:spPr>
        <p:txBody>
          <a:bodyPr anchor="ct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a:xfrm>
            <a:off x="4685846" y="2336873"/>
            <a:ext cx="5608336" cy="35993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0322" y="2336872"/>
            <a:ext cx="3790078" cy="3599317"/>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8487364-6656-4621-B013-758523783C72}" type="datetimeFigureOut">
              <a:rPr lang="en-GB" smtClean="0"/>
              <a:t>09/12/2025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34073882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3" y="753228"/>
            <a:ext cx="9613857" cy="1080938"/>
          </a:xfrm>
        </p:spPr>
        <p:txBody>
          <a:bodyPr anchor="ctr">
            <a:normAutofit/>
          </a:bodyPr>
          <a:lstStyle>
            <a:lvl1pPr>
              <a:defRPr sz="3600"/>
            </a:lvl1pPr>
          </a:lstStyle>
          <a:p>
            <a:r>
              <a:rPr lang="en-US"/>
              <a:t>Click to edit Master title style</a:t>
            </a:r>
            <a:endParaRPr lang="en-US" dirty="0"/>
          </a:p>
        </p:txBody>
      </p:sp>
      <p:sp>
        <p:nvSpPr>
          <p:cNvPr id="3" name="Picture Placeholder 2"/>
          <p:cNvSpPr>
            <a:spLocks noGrp="1" noChangeAspect="1"/>
          </p:cNvSpPr>
          <p:nvPr>
            <p:ph type="pic" idx="1"/>
          </p:nvPr>
        </p:nvSpPr>
        <p:spPr>
          <a:xfrm>
            <a:off x="4868333" y="2336874"/>
            <a:ext cx="5425849" cy="3599312"/>
          </a:xfrm>
          <a:noFill/>
          <a:ln>
            <a:noFill/>
          </a:ln>
          <a:effectLst>
            <a:outerShdw blurRad="76200" dist="63500" dir="5040000" algn="tl" rotWithShape="0">
              <a:srgbClr val="000000">
                <a:alpha val="41000"/>
              </a:srgb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0323" y="2336873"/>
            <a:ext cx="3876256" cy="3599315"/>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8487364-6656-4621-B013-758523783C72}" type="datetimeFigureOut">
              <a:rPr lang="en-GB" smtClean="0"/>
              <a:t>09/12/2025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22250212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0" name="Rectangle 9"/>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4711616"/>
            <a:ext cx="9613859" cy="453051"/>
          </a:xfrm>
        </p:spPr>
        <p:txBody>
          <a:bodyPr anchor="b">
            <a:normAutofit/>
          </a:bodyPr>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680322" y="609597"/>
            <a:ext cx="9613859" cy="3589575"/>
          </a:xfrm>
          <a:noFill/>
          <a:ln>
            <a:noFill/>
          </a:ln>
          <a:effectLst>
            <a:outerShdw blurRad="76200" dist="63500" dir="5040000" algn="tl" rotWithShape="0">
              <a:srgbClr val="000000">
                <a:alpha val="41000"/>
              </a:srgb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0319" y="5169583"/>
            <a:ext cx="9613862" cy="622971"/>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8487364-6656-4621-B013-758523783C72}" type="datetimeFigureOut">
              <a:rPr lang="en-GB" smtClean="0"/>
              <a:t>09/12/2025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a:xfrm>
            <a:off x="10729455" y="4711309"/>
            <a:ext cx="1154151" cy="1090789"/>
          </a:xfrm>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37789550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0" name="Rectangle 9"/>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609597"/>
            <a:ext cx="9613858" cy="3592750"/>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680322" y="4711615"/>
            <a:ext cx="9613859" cy="1090789"/>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8487364-6656-4621-B013-758523783C72}" type="datetimeFigureOut">
              <a:rPr lang="en-GB" smtClean="0"/>
              <a:t>09/12/2025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a:xfrm>
            <a:off x="10729455" y="4711615"/>
            <a:ext cx="1154151" cy="1090789"/>
          </a:xfrm>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291813758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1" name="Picture 10"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13" name="Picture 12"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4" name="Rectangle 13"/>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Rectangle 14"/>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127856" y="609598"/>
            <a:ext cx="8718877" cy="3036061"/>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402288" y="3653379"/>
            <a:ext cx="815657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680322" y="4711615"/>
            <a:ext cx="9613859" cy="1090789"/>
          </a:xfrm>
        </p:spPr>
        <p:txBody>
          <a:bodyPr anchor="ct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8487364-6656-4621-B013-758523783C72}" type="datetimeFigureOut">
              <a:rPr lang="en-GB" smtClean="0"/>
              <a:t>09/12/2025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a:xfrm>
            <a:off x="10729455" y="4709925"/>
            <a:ext cx="1154151" cy="1090789"/>
          </a:xfrm>
        </p:spPr>
        <p:txBody>
          <a:bodyPr/>
          <a:lstStyle/>
          <a:p>
            <a:fld id="{28075DBD-45A7-42A0-945E-1B9EB262924A}" type="slidenum">
              <a:rPr lang="en-GB" smtClean="0"/>
              <a:t>‹#›</a:t>
            </a:fld>
            <a:endParaRPr lang="en-GB"/>
          </a:p>
        </p:txBody>
      </p:sp>
      <p:sp>
        <p:nvSpPr>
          <p:cNvPr id="16" name="TextBox 15"/>
          <p:cNvSpPr txBox="1"/>
          <p:nvPr/>
        </p:nvSpPr>
        <p:spPr>
          <a:xfrm>
            <a:off x="583572" y="74811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7200" dirty="0">
                <a:solidFill>
                  <a:schemeClr val="tx1"/>
                </a:solidFill>
                <a:effectLst/>
              </a:rPr>
              <a:t>“</a:t>
            </a:r>
          </a:p>
        </p:txBody>
      </p:sp>
      <p:sp>
        <p:nvSpPr>
          <p:cNvPr id="17" name="TextBox 16"/>
          <p:cNvSpPr txBox="1"/>
          <p:nvPr/>
        </p:nvSpPr>
        <p:spPr>
          <a:xfrm>
            <a:off x="9662809" y="303352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200" dirty="0">
                <a:solidFill>
                  <a:schemeClr val="tx1"/>
                </a:solidFill>
                <a:effectLst/>
              </a:rPr>
              <a:t>”</a:t>
            </a:r>
          </a:p>
        </p:txBody>
      </p:sp>
    </p:spTree>
    <p:extLst>
      <p:ext uri="{BB962C8B-B14F-4D97-AF65-F5344CB8AC3E}">
        <p14:creationId xmlns:p14="http://schemas.microsoft.com/office/powerpoint/2010/main" val="372226302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9" name="Picture 8"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10" name="Picture 9"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1" name="Rectangle 10"/>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2" name="Rectangle 11"/>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19" y="4711615"/>
            <a:ext cx="9613862" cy="5885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680320" y="5300149"/>
            <a:ext cx="9613862" cy="502255"/>
          </a:xfrm>
        </p:spPr>
        <p:txBody>
          <a:bodyPr anchor="t"/>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8487364-6656-4621-B013-758523783C72}" type="datetimeFigureOut">
              <a:rPr lang="en-GB" smtClean="0"/>
              <a:t>09/12/2025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a:xfrm>
            <a:off x="10729455" y="4709925"/>
            <a:ext cx="1154151" cy="1090789"/>
          </a:xfrm>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350148994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pic>
        <p:nvPicPr>
          <p:cNvPr id="13" name="Picture 12"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4" name="Picture 13"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6" name="Rectangle 15"/>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Rectangle 16"/>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Title 1"/>
          <p:cNvSpPr>
            <a:spLocks noGrp="1"/>
          </p:cNvSpPr>
          <p:nvPr>
            <p:ph type="title"/>
          </p:nvPr>
        </p:nvSpPr>
        <p:spPr>
          <a:xfrm>
            <a:off x="669222" y="753228"/>
            <a:ext cx="9624960" cy="1080938"/>
          </a:xfrm>
        </p:spPr>
        <p:txBody>
          <a:bodyPr/>
          <a:lstStyle/>
          <a:p>
            <a:r>
              <a:rPr lang="en-US"/>
              <a:t>Click to edit Master title style</a:t>
            </a:r>
            <a:endParaRPr lang="en-US" dirty="0"/>
          </a:p>
        </p:txBody>
      </p:sp>
      <p:sp>
        <p:nvSpPr>
          <p:cNvPr id="7" name="Text Placeholder 2"/>
          <p:cNvSpPr>
            <a:spLocks noGrp="1"/>
          </p:cNvSpPr>
          <p:nvPr>
            <p:ph type="body" idx="1"/>
          </p:nvPr>
        </p:nvSpPr>
        <p:spPr>
          <a:xfrm>
            <a:off x="660946" y="2336873"/>
            <a:ext cx="3070034"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680322" y="3022673"/>
            <a:ext cx="3049702"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3956025" y="2336873"/>
            <a:ext cx="3063240"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3945470" y="3022673"/>
            <a:ext cx="3063240"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224156" y="2336873"/>
            <a:ext cx="307002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224156" y="3022673"/>
            <a:ext cx="3070025"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A8487364-6656-4621-B013-758523783C72}" type="datetimeFigureOut">
              <a:rPr lang="en-GB" smtClean="0"/>
              <a:t>09/12/2025</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213800904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15" name="Picture 14"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6" name="Picture 15"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7" name="Rectangle 16"/>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8" name="Rectangle 17"/>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0" name="Title 1"/>
          <p:cNvSpPr>
            <a:spLocks noGrp="1"/>
          </p:cNvSpPr>
          <p:nvPr>
            <p:ph type="title"/>
          </p:nvPr>
        </p:nvSpPr>
        <p:spPr>
          <a:xfrm>
            <a:off x="680322" y="753228"/>
            <a:ext cx="9613860" cy="1080938"/>
          </a:xfrm>
        </p:spPr>
        <p:txBody>
          <a:bodyPr/>
          <a:lstStyle/>
          <a:p>
            <a:r>
              <a:rPr lang="en-US"/>
              <a:t>Click to edit Master title style</a:t>
            </a:r>
            <a:endParaRPr lang="en-US" dirty="0"/>
          </a:p>
        </p:txBody>
      </p:sp>
      <p:sp>
        <p:nvSpPr>
          <p:cNvPr id="19" name="Text Placeholder 2"/>
          <p:cNvSpPr>
            <a:spLocks noGrp="1"/>
          </p:cNvSpPr>
          <p:nvPr>
            <p:ph type="body" idx="1"/>
          </p:nvPr>
        </p:nvSpPr>
        <p:spPr>
          <a:xfrm>
            <a:off x="680318" y="4297503"/>
            <a:ext cx="304970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680318" y="2336873"/>
            <a:ext cx="3049705"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680318" y="4873765"/>
            <a:ext cx="3049705"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3945471" y="4297503"/>
            <a:ext cx="3063240"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3945470" y="2336873"/>
            <a:ext cx="3063240"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3944117" y="4873764"/>
            <a:ext cx="3067297"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230678" y="4297503"/>
            <a:ext cx="306350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7230677" y="2336873"/>
            <a:ext cx="3063505"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230553" y="4873762"/>
            <a:ext cx="3067563"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A8487364-6656-4621-B013-758523783C72}" type="datetimeFigureOut">
              <a:rPr lang="en-GB" smtClean="0"/>
              <a:t>09/12/2025</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5852431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9" name="Rectangle 8"/>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lvl1pPr algn="r">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8487364-6656-4621-B013-758523783C72}" type="datetimeFigureOut">
              <a:rPr lang="en-GB" smtClean="0"/>
              <a:t>09/12/2025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179672902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p:nvPr/>
        </p:nvSpPr>
        <p:spPr bwMode="ltGray">
          <a:xfrm rot="5400000">
            <a:off x="8116207" y="1869395"/>
            <a:ext cx="5106988"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rot="5400000">
            <a:off x="9868202" y="5372403"/>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10129231" y="609597"/>
            <a:ext cx="1073802" cy="435376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80322" y="609597"/>
            <a:ext cx="8870004" cy="53265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6807126" y="5936187"/>
            <a:ext cx="2743200" cy="365125"/>
          </a:xfrm>
        </p:spPr>
        <p:txBody>
          <a:bodyPr/>
          <a:lstStyle/>
          <a:p>
            <a:fld id="{A8487364-6656-4621-B013-758523783C72}" type="datetimeFigureOut">
              <a:rPr lang="en-GB" smtClean="0"/>
              <a:t>09/12/2025</a:t>
            </a:fld>
            <a:endParaRPr lang="en-GB"/>
          </a:p>
        </p:txBody>
      </p:sp>
      <p:sp>
        <p:nvSpPr>
          <p:cNvPr id="5" name="Footer Placeholder 4"/>
          <p:cNvSpPr>
            <a:spLocks noGrp="1"/>
          </p:cNvSpPr>
          <p:nvPr>
            <p:ph type="ftr" sz="quarter" idx="11"/>
          </p:nvPr>
        </p:nvSpPr>
        <p:spPr>
          <a:xfrm>
            <a:off x="680321" y="5936188"/>
            <a:ext cx="6126805" cy="365125"/>
          </a:xfrm>
        </p:spPr>
        <p:txBody>
          <a:bodyPr/>
          <a:lstStyle/>
          <a:p>
            <a:endParaRPr lang="en-GB"/>
          </a:p>
        </p:txBody>
      </p:sp>
      <p:sp>
        <p:nvSpPr>
          <p:cNvPr id="6" name="Slide Number Placeholder 5"/>
          <p:cNvSpPr>
            <a:spLocks noGrp="1"/>
          </p:cNvSpPr>
          <p:nvPr>
            <p:ph type="sldNum" sz="quarter" idx="12"/>
          </p:nvPr>
        </p:nvSpPr>
        <p:spPr>
          <a:xfrm>
            <a:off x="10097550" y="5398633"/>
            <a:ext cx="1154151" cy="1090789"/>
          </a:xfrm>
        </p:spPr>
        <p:txBody>
          <a:bodyPr anchor="t"/>
          <a:lstStyle>
            <a:lvl1pPr algn="ctr">
              <a:defRPr/>
            </a:lvl1pPr>
          </a:lstStyle>
          <a:p>
            <a:fld id="{28075DBD-45A7-42A0-945E-1B9EB262924A}" type="slidenum">
              <a:rPr lang="en-GB" smtClean="0"/>
              <a:t>‹#›</a:t>
            </a:fld>
            <a:endParaRPr lang="en-GB"/>
          </a:p>
        </p:txBody>
      </p:sp>
    </p:spTree>
    <p:extLst>
      <p:ext uri="{BB962C8B-B14F-4D97-AF65-F5344CB8AC3E}">
        <p14:creationId xmlns:p14="http://schemas.microsoft.com/office/powerpoint/2010/main" val="4231582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6" descr="hashOverlay-FullResolve.png"/>
          <p:cNvPicPr>
            <a:picLocks noChangeAspect="1"/>
          </p:cNvPicPr>
          <p:nvPr/>
        </p:nvPicPr>
        <p:blipFill>
          <a:blip r:embed="rId19">
            <a:alphaModFix amt="1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Placeholder 1"/>
          <p:cNvSpPr>
            <a:spLocks noGrp="1"/>
          </p:cNvSpPr>
          <p:nvPr>
            <p:ph type="title"/>
          </p:nvPr>
        </p:nvSpPr>
        <p:spPr>
          <a:xfrm>
            <a:off x="680321" y="753228"/>
            <a:ext cx="9613861" cy="1080938"/>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0321" y="2336873"/>
            <a:ext cx="9613861" cy="359931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0981" y="5936187"/>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A8487364-6656-4621-B013-758523783C72}" type="datetimeFigureOut">
              <a:rPr lang="en-GB" smtClean="0"/>
              <a:t>09/12/2025</a:t>
            </a:fld>
            <a:endParaRPr lang="en-GB"/>
          </a:p>
        </p:txBody>
      </p:sp>
      <p:sp>
        <p:nvSpPr>
          <p:cNvPr id="5" name="Footer Placeholder 4"/>
          <p:cNvSpPr>
            <a:spLocks noGrp="1"/>
          </p:cNvSpPr>
          <p:nvPr>
            <p:ph type="ftr" sz="quarter" idx="3"/>
          </p:nvPr>
        </p:nvSpPr>
        <p:spPr>
          <a:xfrm>
            <a:off x="680321" y="5936188"/>
            <a:ext cx="6870660" cy="365125"/>
          </a:xfrm>
          <a:prstGeom prst="rect">
            <a:avLst/>
          </a:prstGeom>
        </p:spPr>
        <p:txBody>
          <a:bodyPr vert="horz" lIns="91440" tIns="45720" rIns="91440" bIns="45720" rtlCol="0" anchor="ctr"/>
          <a:lstStyle>
            <a:lvl1pPr algn="l">
              <a:defRPr sz="105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10729455" y="753227"/>
            <a:ext cx="1154151" cy="1090789"/>
          </a:xfrm>
          <a:prstGeom prst="rect">
            <a:avLst/>
          </a:prstGeom>
        </p:spPr>
        <p:txBody>
          <a:bodyPr vert="horz" lIns="91440" tIns="45720" rIns="91440" bIns="45720" rtlCol="0" anchor="ctr"/>
          <a:lstStyle>
            <a:lvl1pPr algn="l">
              <a:defRPr sz="3600">
                <a:solidFill>
                  <a:schemeClr val="tx1">
                    <a:tint val="75000"/>
                  </a:schemeClr>
                </a:solidFill>
              </a:defRPr>
            </a:lvl1pPr>
          </a:lstStyle>
          <a:p>
            <a:fld id="{28075DBD-45A7-42A0-945E-1B9EB262924A}" type="slidenum">
              <a:rPr lang="en-GB" smtClean="0"/>
              <a:t>‹#›</a:t>
            </a:fld>
            <a:endParaRPr lang="en-GB"/>
          </a:p>
        </p:txBody>
      </p:sp>
    </p:spTree>
    <p:extLst>
      <p:ext uri="{BB962C8B-B14F-4D97-AF65-F5344CB8AC3E}">
        <p14:creationId xmlns:p14="http://schemas.microsoft.com/office/powerpoint/2010/main" val="1838047654"/>
      </p:ext>
    </p:extLst>
  </p:cSld>
  <p:clrMap bg1="dk1" tx1="lt1" bg2="dk2" tx2="lt2" accent1="accent1" accent2="accent2" accent3="accent3" accent4="accent4" accent5="accent5" accent6="accent6" hlink="hlink" folHlink="folHlink"/>
  <p:sldLayoutIdLst>
    <p:sldLayoutId id="2147483738" r:id="rId1"/>
    <p:sldLayoutId id="2147483739" r:id="rId2"/>
    <p:sldLayoutId id="2147483740" r:id="rId3"/>
    <p:sldLayoutId id="2147483741" r:id="rId4"/>
    <p:sldLayoutId id="2147483742" r:id="rId5"/>
    <p:sldLayoutId id="2147483743" r:id="rId6"/>
    <p:sldLayoutId id="2147483744" r:id="rId7"/>
    <p:sldLayoutId id="2147483745" r:id="rId8"/>
    <p:sldLayoutId id="2147483746" r:id="rId9"/>
    <p:sldLayoutId id="2147483747" r:id="rId10"/>
    <p:sldLayoutId id="2147483748" r:id="rId11"/>
    <p:sldLayoutId id="2147483749" r:id="rId12"/>
    <p:sldLayoutId id="2147483750" r:id="rId13"/>
    <p:sldLayoutId id="2147483751" r:id="rId14"/>
    <p:sldLayoutId id="2147483752" r:id="rId15"/>
    <p:sldLayoutId id="2147483753" r:id="rId16"/>
    <p:sldLayoutId id="2147483754" r:id="rId17"/>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4.emf"/><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5.emf"/><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6.emf"/><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2E4ED9-4F6D-0AC8-AA9E-3541D1478210}"/>
              </a:ext>
            </a:extLst>
          </p:cNvPr>
          <p:cNvSpPr>
            <a:spLocks noGrp="1"/>
          </p:cNvSpPr>
          <p:nvPr>
            <p:ph type="ctrTitle"/>
          </p:nvPr>
        </p:nvSpPr>
        <p:spPr>
          <a:xfrm>
            <a:off x="543064" y="3029876"/>
            <a:ext cx="8144134" cy="798248"/>
          </a:xfrm>
        </p:spPr>
        <p:txBody>
          <a:bodyPr/>
          <a:lstStyle/>
          <a:p>
            <a:pPr algn="ctr"/>
            <a:r>
              <a:rPr lang="en-GB" b="1" dirty="0"/>
              <a:t>SY Bus Journey Planner</a:t>
            </a:r>
          </a:p>
        </p:txBody>
      </p:sp>
      <p:sp>
        <p:nvSpPr>
          <p:cNvPr id="3" name="Subtitle 2">
            <a:extLst>
              <a:ext uri="{FF2B5EF4-FFF2-40B4-BE49-F238E27FC236}">
                <a16:creationId xmlns:a16="http://schemas.microsoft.com/office/drawing/2014/main" id="{20AF6084-1FC1-887F-5B92-C7E63AE1054B}"/>
              </a:ext>
            </a:extLst>
          </p:cNvPr>
          <p:cNvSpPr>
            <a:spLocks noGrp="1"/>
          </p:cNvSpPr>
          <p:nvPr>
            <p:ph type="subTitle" idx="1"/>
          </p:nvPr>
        </p:nvSpPr>
        <p:spPr>
          <a:xfrm>
            <a:off x="1153977" y="4290338"/>
            <a:ext cx="1256100" cy="393596"/>
          </a:xfrm>
        </p:spPr>
        <p:txBody>
          <a:bodyPr>
            <a:normAutofit/>
          </a:bodyPr>
          <a:lstStyle/>
          <a:p>
            <a:r>
              <a:rPr lang="en-GB" dirty="0">
                <a:solidFill>
                  <a:schemeClr val="tx1"/>
                </a:solidFill>
              </a:rPr>
              <a:t>Group 2</a:t>
            </a:r>
          </a:p>
        </p:txBody>
      </p:sp>
      <p:sp>
        <p:nvSpPr>
          <p:cNvPr id="4" name="Subtitle 2">
            <a:extLst>
              <a:ext uri="{FF2B5EF4-FFF2-40B4-BE49-F238E27FC236}">
                <a16:creationId xmlns:a16="http://schemas.microsoft.com/office/drawing/2014/main" id="{AAD4087A-520A-0210-36A9-84BA167EA0E0}"/>
              </a:ext>
            </a:extLst>
          </p:cNvPr>
          <p:cNvSpPr txBox="1">
            <a:spLocks/>
          </p:cNvSpPr>
          <p:nvPr/>
        </p:nvSpPr>
        <p:spPr>
          <a:xfrm>
            <a:off x="1140031" y="4683934"/>
            <a:ext cx="2793613" cy="1867830"/>
          </a:xfrm>
          <a:prstGeom prst="rect">
            <a:avLst/>
          </a:prstGeom>
        </p:spPr>
        <p:txBody>
          <a:bodyPr vert="horz" lIns="91440" tIns="45720" rIns="91440" bIns="45720" rtlCol="0" anchor="t">
            <a:normAutofit/>
          </a:bodyPr>
          <a:lstStyle>
            <a:lvl1pPr marL="0" indent="0" algn="l" defTabSz="457200" rtl="0" eaLnBrk="1" latinLnBrk="0" hangingPunct="1">
              <a:spcBef>
                <a:spcPct val="20000"/>
              </a:spcBef>
              <a:spcAft>
                <a:spcPts val="600"/>
              </a:spcAft>
              <a:buClr>
                <a:schemeClr val="tx1"/>
              </a:buClr>
              <a:buSzPct val="80000"/>
              <a:buFont typeface="Wingdings 3" panose="05040102010807070707" pitchFamily="18" charset="2"/>
              <a:buNone/>
              <a:defRPr sz="2100" kern="1200" cap="none">
                <a:solidFill>
                  <a:schemeClr val="bg2">
                    <a:lumMod val="75000"/>
                  </a:schemeClr>
                </a:solidFill>
                <a:effectLst/>
                <a:latin typeface="+mn-lt"/>
                <a:ea typeface="+mn-ea"/>
                <a:cs typeface="+mn-cs"/>
              </a:defRPr>
            </a:lvl1pPr>
            <a:lvl2pPr marL="4572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800" kern="1200" cap="none">
                <a:solidFill>
                  <a:schemeClr val="tx1">
                    <a:tint val="75000"/>
                  </a:schemeClr>
                </a:solidFill>
                <a:effectLst/>
                <a:latin typeface="+mn-lt"/>
                <a:ea typeface="+mn-ea"/>
                <a:cs typeface="+mn-cs"/>
              </a:defRPr>
            </a:lvl2pPr>
            <a:lvl3pPr marL="9144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600" kern="1200" cap="none">
                <a:solidFill>
                  <a:schemeClr val="tx1">
                    <a:tint val="75000"/>
                  </a:schemeClr>
                </a:solidFill>
                <a:effectLst/>
                <a:latin typeface="+mn-lt"/>
                <a:ea typeface="+mn-ea"/>
                <a:cs typeface="+mn-cs"/>
              </a:defRPr>
            </a:lvl3pPr>
            <a:lvl4pPr marL="13716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400" kern="1200" cap="none">
                <a:solidFill>
                  <a:schemeClr val="tx1">
                    <a:tint val="75000"/>
                  </a:schemeClr>
                </a:solidFill>
                <a:effectLst/>
                <a:latin typeface="+mn-lt"/>
                <a:ea typeface="+mn-ea"/>
                <a:cs typeface="+mn-cs"/>
              </a:defRPr>
            </a:lvl4pPr>
            <a:lvl5pPr marL="18288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400" kern="1200" cap="none">
                <a:solidFill>
                  <a:schemeClr val="tx1">
                    <a:tint val="75000"/>
                  </a:schemeClr>
                </a:solidFill>
                <a:effectLst/>
                <a:latin typeface="+mn-lt"/>
                <a:ea typeface="+mn-ea"/>
                <a:cs typeface="+mn-cs"/>
              </a:defRPr>
            </a:lvl5pPr>
            <a:lvl6pPr marL="22860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400" kern="1200" cap="none">
                <a:solidFill>
                  <a:schemeClr val="tx1">
                    <a:tint val="75000"/>
                  </a:schemeClr>
                </a:solidFill>
                <a:effectLst/>
                <a:latin typeface="+mn-lt"/>
                <a:ea typeface="+mn-ea"/>
                <a:cs typeface="+mn-cs"/>
              </a:defRPr>
            </a:lvl6pPr>
            <a:lvl7pPr marL="27432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400" kern="1200" cap="none">
                <a:solidFill>
                  <a:schemeClr val="tx1">
                    <a:tint val="75000"/>
                  </a:schemeClr>
                </a:solidFill>
                <a:effectLst/>
                <a:latin typeface="+mn-lt"/>
                <a:ea typeface="+mn-ea"/>
                <a:cs typeface="+mn-cs"/>
              </a:defRPr>
            </a:lvl7pPr>
            <a:lvl8pPr marL="32004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400" kern="1200" cap="none">
                <a:solidFill>
                  <a:schemeClr val="tx1">
                    <a:tint val="75000"/>
                  </a:schemeClr>
                </a:solidFill>
                <a:effectLst/>
                <a:latin typeface="+mn-lt"/>
                <a:ea typeface="+mn-ea"/>
                <a:cs typeface="+mn-cs"/>
              </a:defRPr>
            </a:lvl8pPr>
            <a:lvl9pPr marL="36576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400" kern="1200" cap="none">
                <a:solidFill>
                  <a:schemeClr val="tx1">
                    <a:tint val="75000"/>
                  </a:schemeClr>
                </a:solidFill>
                <a:effectLst/>
                <a:latin typeface="+mn-lt"/>
                <a:ea typeface="+mn-ea"/>
                <a:cs typeface="+mn-cs"/>
              </a:defRPr>
            </a:lvl9pPr>
          </a:lstStyle>
          <a:p>
            <a:pPr marL="342900" indent="-342900">
              <a:buFont typeface="Arial" panose="020B0604020202020204" pitchFamily="34" charset="0"/>
              <a:buChar char="•"/>
            </a:pPr>
            <a:r>
              <a:rPr lang="en-GB" sz="1400" dirty="0">
                <a:solidFill>
                  <a:schemeClr val="tx1"/>
                </a:solidFill>
              </a:rPr>
              <a:t>Elekir Moyuwen</a:t>
            </a:r>
          </a:p>
          <a:p>
            <a:pPr marL="342900" indent="-342900">
              <a:buFont typeface="Arial" panose="020B0604020202020204" pitchFamily="34" charset="0"/>
              <a:buChar char="•"/>
            </a:pPr>
            <a:r>
              <a:rPr lang="en-GB" sz="1400" dirty="0">
                <a:solidFill>
                  <a:schemeClr val="tx1"/>
                </a:solidFill>
              </a:rPr>
              <a:t>Javani Morris</a:t>
            </a:r>
          </a:p>
          <a:p>
            <a:pPr marL="342900" indent="-342900">
              <a:buFont typeface="Arial" panose="020B0604020202020204" pitchFamily="34" charset="0"/>
              <a:buChar char="•"/>
            </a:pPr>
            <a:r>
              <a:rPr lang="en-GB" sz="1400" dirty="0">
                <a:solidFill>
                  <a:schemeClr val="tx1"/>
                </a:solidFill>
              </a:rPr>
              <a:t>Jack Watson </a:t>
            </a:r>
          </a:p>
          <a:p>
            <a:pPr marL="342900" indent="-342900">
              <a:buFont typeface="Arial" panose="020B0604020202020204" pitchFamily="34" charset="0"/>
              <a:buChar char="•"/>
            </a:pPr>
            <a:r>
              <a:rPr lang="en-GB" sz="1400" dirty="0">
                <a:solidFill>
                  <a:schemeClr val="tx1"/>
                </a:solidFill>
              </a:rPr>
              <a:t>Samuel Okunowo </a:t>
            </a:r>
          </a:p>
        </p:txBody>
      </p:sp>
    </p:spTree>
    <p:extLst>
      <p:ext uri="{BB962C8B-B14F-4D97-AF65-F5344CB8AC3E}">
        <p14:creationId xmlns:p14="http://schemas.microsoft.com/office/powerpoint/2010/main" val="33578524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6CA152-F485-28D0-CB0D-960B99AE9F51}"/>
              </a:ext>
            </a:extLst>
          </p:cNvPr>
          <p:cNvSpPr>
            <a:spLocks noGrp="1"/>
          </p:cNvSpPr>
          <p:nvPr>
            <p:ph type="title"/>
          </p:nvPr>
        </p:nvSpPr>
        <p:spPr/>
        <p:txBody>
          <a:bodyPr/>
          <a:lstStyle/>
          <a:p>
            <a:r>
              <a:rPr lang="en-GB" b="1" dirty="0"/>
              <a:t>Deliverables Overview</a:t>
            </a:r>
          </a:p>
        </p:txBody>
      </p:sp>
      <p:graphicFrame>
        <p:nvGraphicFramePr>
          <p:cNvPr id="9" name="Table 8">
            <a:extLst>
              <a:ext uri="{FF2B5EF4-FFF2-40B4-BE49-F238E27FC236}">
                <a16:creationId xmlns:a16="http://schemas.microsoft.com/office/drawing/2014/main" id="{B09E5492-2402-6534-9FB4-130696D3D27D}"/>
              </a:ext>
            </a:extLst>
          </p:cNvPr>
          <p:cNvGraphicFramePr>
            <a:graphicFrameLocks noGrp="1"/>
          </p:cNvGraphicFramePr>
          <p:nvPr>
            <p:extLst>
              <p:ext uri="{D42A27DB-BD31-4B8C-83A1-F6EECF244321}">
                <p14:modId xmlns:p14="http://schemas.microsoft.com/office/powerpoint/2010/main" val="2901261978"/>
              </p:ext>
            </p:extLst>
          </p:nvPr>
        </p:nvGraphicFramePr>
        <p:xfrm>
          <a:off x="577520" y="2474781"/>
          <a:ext cx="10041597" cy="3442938"/>
        </p:xfrm>
        <a:graphic>
          <a:graphicData uri="http://schemas.openxmlformats.org/drawingml/2006/table">
            <a:tbl>
              <a:tblPr firstRow="1">
                <a:tableStyleId>{5940675A-B579-460E-94D1-54222C63F5DA}</a:tableStyleId>
              </a:tblPr>
              <a:tblGrid>
                <a:gridCol w="2919767">
                  <a:extLst>
                    <a:ext uri="{9D8B030D-6E8A-4147-A177-3AD203B41FA5}">
                      <a16:colId xmlns:a16="http://schemas.microsoft.com/office/drawing/2014/main" val="2901470407"/>
                    </a:ext>
                  </a:extLst>
                </a:gridCol>
                <a:gridCol w="7121830">
                  <a:extLst>
                    <a:ext uri="{9D8B030D-6E8A-4147-A177-3AD203B41FA5}">
                      <a16:colId xmlns:a16="http://schemas.microsoft.com/office/drawing/2014/main" val="3447283797"/>
                    </a:ext>
                  </a:extLst>
                </a:gridCol>
              </a:tblGrid>
              <a:tr h="444250">
                <a:tc>
                  <a:txBody>
                    <a:bodyPr/>
                    <a:lstStyle/>
                    <a:p>
                      <a:pPr>
                        <a:buNone/>
                      </a:pPr>
                      <a:r>
                        <a:rPr lang="en-GB" b="1" dirty="0">
                          <a:solidFill>
                            <a:schemeClr val="bg1"/>
                          </a:solidFill>
                        </a:rPr>
                        <a:t>Areas</a:t>
                      </a:r>
                    </a:p>
                  </a:txBody>
                  <a:tcPr anchor="ctr">
                    <a:solidFill>
                      <a:schemeClr val="bg2"/>
                    </a:solidFill>
                  </a:tcPr>
                </a:tc>
                <a:tc>
                  <a:txBody>
                    <a:bodyPr/>
                    <a:lstStyle/>
                    <a:p>
                      <a:pPr>
                        <a:buNone/>
                      </a:pPr>
                      <a:r>
                        <a:rPr lang="en-GB" b="1" dirty="0">
                          <a:solidFill>
                            <a:schemeClr val="bg1"/>
                          </a:solidFill>
                        </a:rPr>
                        <a:t>Deliverables</a:t>
                      </a:r>
                    </a:p>
                  </a:txBody>
                  <a:tcPr anchor="ctr">
                    <a:solidFill>
                      <a:schemeClr val="bg2"/>
                    </a:solidFill>
                  </a:tcPr>
                </a:tc>
                <a:extLst>
                  <a:ext uri="{0D108BD9-81ED-4DB2-BD59-A6C34878D82A}">
                    <a16:rowId xmlns:a16="http://schemas.microsoft.com/office/drawing/2014/main" val="3329725156"/>
                  </a:ext>
                </a:extLst>
              </a:tr>
              <a:tr h="777438">
                <a:tc>
                  <a:txBody>
                    <a:bodyPr/>
                    <a:lstStyle/>
                    <a:p>
                      <a:pPr>
                        <a:buNone/>
                      </a:pPr>
                      <a:r>
                        <a:rPr lang="en-GB" dirty="0">
                          <a:solidFill>
                            <a:schemeClr val="bg1"/>
                          </a:solidFill>
                        </a:rPr>
                        <a:t>PID (Project Initiation Document)</a:t>
                      </a:r>
                    </a:p>
                  </a:txBody>
                  <a:tcPr anchor="ctr"/>
                </a:tc>
                <a:tc>
                  <a:txBody>
                    <a:bodyPr/>
                    <a:lstStyle/>
                    <a:p>
                      <a:pPr>
                        <a:buNone/>
                      </a:pPr>
                      <a:r>
                        <a:rPr lang="en-GB">
                          <a:solidFill>
                            <a:schemeClr val="bg1"/>
                          </a:solidFill>
                        </a:rPr>
                        <a:t>Methodology, Roles &amp; Responsibilities</a:t>
                      </a:r>
                    </a:p>
                  </a:txBody>
                  <a:tcPr anchor="ctr"/>
                </a:tc>
                <a:extLst>
                  <a:ext uri="{0D108BD9-81ED-4DB2-BD59-A6C34878D82A}">
                    <a16:rowId xmlns:a16="http://schemas.microsoft.com/office/drawing/2014/main" val="2325811752"/>
                  </a:ext>
                </a:extLst>
              </a:tr>
              <a:tr h="444250">
                <a:tc>
                  <a:txBody>
                    <a:bodyPr/>
                    <a:lstStyle/>
                    <a:p>
                      <a:pPr>
                        <a:buNone/>
                      </a:pPr>
                      <a:r>
                        <a:rPr lang="en-GB" dirty="0">
                          <a:solidFill>
                            <a:schemeClr val="bg1"/>
                          </a:solidFill>
                        </a:rPr>
                        <a:t>Business Case</a:t>
                      </a:r>
                    </a:p>
                  </a:txBody>
                  <a:tcPr anchor="ctr"/>
                </a:tc>
                <a:tc>
                  <a:txBody>
                    <a:bodyPr/>
                    <a:lstStyle/>
                    <a:p>
                      <a:pPr>
                        <a:buNone/>
                      </a:pPr>
                      <a:r>
                        <a:rPr lang="en-GB" dirty="0">
                          <a:solidFill>
                            <a:schemeClr val="bg1"/>
                          </a:solidFill>
                        </a:rPr>
                        <a:t>Force Field Analysis, Options Considered, Investment Appraisal</a:t>
                      </a:r>
                    </a:p>
                  </a:txBody>
                  <a:tcPr anchor="ctr"/>
                </a:tc>
                <a:extLst>
                  <a:ext uri="{0D108BD9-81ED-4DB2-BD59-A6C34878D82A}">
                    <a16:rowId xmlns:a16="http://schemas.microsoft.com/office/drawing/2014/main" val="113421986"/>
                  </a:ext>
                </a:extLst>
              </a:tr>
              <a:tr h="444250">
                <a:tc>
                  <a:txBody>
                    <a:bodyPr/>
                    <a:lstStyle/>
                    <a:p>
                      <a:pPr>
                        <a:buNone/>
                      </a:pPr>
                      <a:r>
                        <a:rPr lang="en-GB" dirty="0">
                          <a:solidFill>
                            <a:schemeClr val="bg1"/>
                          </a:solidFill>
                        </a:rPr>
                        <a:t>Project Plan</a:t>
                      </a:r>
                    </a:p>
                  </a:txBody>
                  <a:tcPr anchor="ctr"/>
                </a:tc>
                <a:tc>
                  <a:txBody>
                    <a:bodyPr/>
                    <a:lstStyle/>
                    <a:p>
                      <a:pPr>
                        <a:buNone/>
                      </a:pPr>
                      <a:r>
                        <a:rPr lang="en-GB" dirty="0">
                          <a:solidFill>
                            <a:schemeClr val="bg1"/>
                          </a:solidFill>
                        </a:rPr>
                        <a:t>Work Breakdown Structure, Gantt Chart, COCOMO, RACI Chart</a:t>
                      </a:r>
                    </a:p>
                  </a:txBody>
                  <a:tcPr anchor="ctr"/>
                </a:tc>
                <a:extLst>
                  <a:ext uri="{0D108BD9-81ED-4DB2-BD59-A6C34878D82A}">
                    <a16:rowId xmlns:a16="http://schemas.microsoft.com/office/drawing/2014/main" val="2885051180"/>
                  </a:ext>
                </a:extLst>
              </a:tr>
              <a:tr h="444250">
                <a:tc>
                  <a:txBody>
                    <a:bodyPr/>
                    <a:lstStyle/>
                    <a:p>
                      <a:pPr>
                        <a:buNone/>
                      </a:pPr>
                      <a:r>
                        <a:rPr lang="en-GB">
                          <a:solidFill>
                            <a:schemeClr val="bg1"/>
                          </a:solidFill>
                        </a:rPr>
                        <a:t>Risk</a:t>
                      </a:r>
                    </a:p>
                  </a:txBody>
                  <a:tcPr anchor="ctr"/>
                </a:tc>
                <a:tc>
                  <a:txBody>
                    <a:bodyPr/>
                    <a:lstStyle/>
                    <a:p>
                      <a:pPr>
                        <a:buNone/>
                      </a:pPr>
                      <a:r>
                        <a:rPr lang="en-GB" dirty="0">
                          <a:solidFill>
                            <a:schemeClr val="bg1"/>
                          </a:solidFill>
                        </a:rPr>
                        <a:t>Risk Management Plan (Risk Map, Risk Register, RAID Log)</a:t>
                      </a:r>
                    </a:p>
                  </a:txBody>
                  <a:tcPr anchor="ctr"/>
                </a:tc>
                <a:extLst>
                  <a:ext uri="{0D108BD9-81ED-4DB2-BD59-A6C34878D82A}">
                    <a16:rowId xmlns:a16="http://schemas.microsoft.com/office/drawing/2014/main" val="3018694927"/>
                  </a:ext>
                </a:extLst>
              </a:tr>
              <a:tr h="444250">
                <a:tc>
                  <a:txBody>
                    <a:bodyPr/>
                    <a:lstStyle/>
                    <a:p>
                      <a:pPr>
                        <a:buNone/>
                      </a:pPr>
                      <a:r>
                        <a:rPr lang="en-GB">
                          <a:solidFill>
                            <a:schemeClr val="bg1"/>
                          </a:solidFill>
                        </a:rPr>
                        <a:t>Quality</a:t>
                      </a:r>
                    </a:p>
                  </a:txBody>
                  <a:tcPr anchor="ctr"/>
                </a:tc>
                <a:tc>
                  <a:txBody>
                    <a:bodyPr/>
                    <a:lstStyle/>
                    <a:p>
                      <a:pPr>
                        <a:buNone/>
                      </a:pPr>
                      <a:r>
                        <a:rPr lang="en-GB">
                          <a:solidFill>
                            <a:schemeClr val="bg1"/>
                          </a:solidFill>
                        </a:rPr>
                        <a:t>Quality Plan</a:t>
                      </a:r>
                    </a:p>
                  </a:txBody>
                  <a:tcPr anchor="ctr"/>
                </a:tc>
                <a:extLst>
                  <a:ext uri="{0D108BD9-81ED-4DB2-BD59-A6C34878D82A}">
                    <a16:rowId xmlns:a16="http://schemas.microsoft.com/office/drawing/2014/main" val="3801539509"/>
                  </a:ext>
                </a:extLst>
              </a:tr>
              <a:tr h="444250">
                <a:tc>
                  <a:txBody>
                    <a:bodyPr/>
                    <a:lstStyle/>
                    <a:p>
                      <a:pPr>
                        <a:buNone/>
                      </a:pPr>
                      <a:r>
                        <a:rPr lang="en-GB" dirty="0">
                          <a:solidFill>
                            <a:schemeClr val="bg1"/>
                          </a:solidFill>
                        </a:rPr>
                        <a:t>Envisioned Solution</a:t>
                      </a:r>
                    </a:p>
                  </a:txBody>
                  <a:tcPr anchor="ctr"/>
                </a:tc>
                <a:tc>
                  <a:txBody>
                    <a:bodyPr/>
                    <a:lstStyle/>
                    <a:p>
                      <a:pPr>
                        <a:buNone/>
                      </a:pPr>
                      <a:r>
                        <a:rPr lang="en-GB" dirty="0">
                          <a:solidFill>
                            <a:schemeClr val="bg1"/>
                          </a:solidFill>
                        </a:rPr>
                        <a:t>Prototype</a:t>
                      </a:r>
                      <a:r>
                        <a:rPr lang="en-GB" dirty="0">
                          <a:solidFill>
                            <a:schemeClr val="tx1">
                              <a:lumMod val="50000"/>
                            </a:schemeClr>
                          </a:solidFill>
                        </a:rPr>
                        <a:t>, Video, </a:t>
                      </a:r>
                      <a:r>
                        <a:rPr lang="en-GB" dirty="0">
                          <a:solidFill>
                            <a:schemeClr val="bg1"/>
                          </a:solidFill>
                        </a:rPr>
                        <a:t>MoSCoW</a:t>
                      </a:r>
                    </a:p>
                  </a:txBody>
                  <a:tcPr anchor="ctr"/>
                </a:tc>
                <a:extLst>
                  <a:ext uri="{0D108BD9-81ED-4DB2-BD59-A6C34878D82A}">
                    <a16:rowId xmlns:a16="http://schemas.microsoft.com/office/drawing/2014/main" val="2196882565"/>
                  </a:ext>
                </a:extLst>
              </a:tr>
            </a:tbl>
          </a:graphicData>
        </a:graphic>
      </p:graphicFrame>
    </p:spTree>
    <p:extLst>
      <p:ext uri="{BB962C8B-B14F-4D97-AF65-F5344CB8AC3E}">
        <p14:creationId xmlns:p14="http://schemas.microsoft.com/office/powerpoint/2010/main" val="16464205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FC8F9E-9EB4-0BE6-31AE-3CD1759E0670}"/>
              </a:ext>
            </a:extLst>
          </p:cNvPr>
          <p:cNvSpPr>
            <a:spLocks noGrp="1"/>
          </p:cNvSpPr>
          <p:nvPr>
            <p:ph type="title"/>
          </p:nvPr>
        </p:nvSpPr>
        <p:spPr/>
        <p:txBody>
          <a:bodyPr/>
          <a:lstStyle/>
          <a:p>
            <a:r>
              <a:rPr lang="en-GB" dirty="0"/>
              <a:t>PID -</a:t>
            </a:r>
          </a:p>
        </p:txBody>
      </p:sp>
      <p:sp>
        <p:nvSpPr>
          <p:cNvPr id="3" name="Content Placeholder 2">
            <a:extLst>
              <a:ext uri="{FF2B5EF4-FFF2-40B4-BE49-F238E27FC236}">
                <a16:creationId xmlns:a16="http://schemas.microsoft.com/office/drawing/2014/main" id="{CBB7B3FE-43AA-2C35-2991-C53451438C3F}"/>
              </a:ext>
            </a:extLst>
          </p:cNvPr>
          <p:cNvSpPr>
            <a:spLocks noGrp="1"/>
          </p:cNvSpPr>
          <p:nvPr>
            <p:ph idx="1"/>
          </p:nvPr>
        </p:nvSpPr>
        <p:spPr/>
        <p:txBody>
          <a:bodyPr/>
          <a:lstStyle/>
          <a:p>
            <a:r>
              <a:rPr lang="en-GB" dirty="0"/>
              <a:t>- Methodology: Prince2 Agile</a:t>
            </a:r>
          </a:p>
          <a:p>
            <a:r>
              <a:rPr lang="en-GB" dirty="0"/>
              <a:t>- Roles and Responsibilities –</a:t>
            </a:r>
          </a:p>
          <a:p>
            <a:r>
              <a:rPr lang="en-GB" dirty="0"/>
              <a:t>- Objective -</a:t>
            </a:r>
          </a:p>
        </p:txBody>
      </p:sp>
    </p:spTree>
    <p:extLst>
      <p:ext uri="{BB962C8B-B14F-4D97-AF65-F5344CB8AC3E}">
        <p14:creationId xmlns:p14="http://schemas.microsoft.com/office/powerpoint/2010/main" val="17290146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7848DD-C3AF-29B3-5954-D81D6DA44D7D}"/>
              </a:ext>
            </a:extLst>
          </p:cNvPr>
          <p:cNvSpPr>
            <a:spLocks noGrp="1"/>
          </p:cNvSpPr>
          <p:nvPr>
            <p:ph type="title"/>
          </p:nvPr>
        </p:nvSpPr>
        <p:spPr/>
        <p:txBody>
          <a:bodyPr/>
          <a:lstStyle/>
          <a:p>
            <a:r>
              <a:rPr lang="en-GB" dirty="0"/>
              <a:t>Business Case</a:t>
            </a:r>
          </a:p>
        </p:txBody>
      </p:sp>
      <p:sp>
        <p:nvSpPr>
          <p:cNvPr id="3" name="Content Placeholder 2">
            <a:extLst>
              <a:ext uri="{FF2B5EF4-FFF2-40B4-BE49-F238E27FC236}">
                <a16:creationId xmlns:a16="http://schemas.microsoft.com/office/drawing/2014/main" id="{BB8B6779-998B-FE30-50CB-E1878565C1A0}"/>
              </a:ext>
            </a:extLst>
          </p:cNvPr>
          <p:cNvSpPr>
            <a:spLocks noGrp="1"/>
          </p:cNvSpPr>
          <p:nvPr>
            <p:ph idx="1"/>
          </p:nvPr>
        </p:nvSpPr>
        <p:spPr/>
        <p:txBody>
          <a:bodyPr/>
          <a:lstStyle/>
          <a:p>
            <a:r>
              <a:rPr lang="en-GB" dirty="0"/>
              <a:t>- Force Field Analysis –</a:t>
            </a:r>
          </a:p>
          <a:p>
            <a:r>
              <a:rPr lang="en-GB" dirty="0"/>
              <a:t>- Options Considered –</a:t>
            </a:r>
          </a:p>
          <a:p>
            <a:r>
              <a:rPr lang="en-GB" dirty="0"/>
              <a:t>- Investment Appraisal</a:t>
            </a:r>
          </a:p>
        </p:txBody>
      </p:sp>
    </p:spTree>
    <p:extLst>
      <p:ext uri="{BB962C8B-B14F-4D97-AF65-F5344CB8AC3E}">
        <p14:creationId xmlns:p14="http://schemas.microsoft.com/office/powerpoint/2010/main" val="30517418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17B5D4-CB42-3220-8FB0-E671499158C2}"/>
              </a:ext>
            </a:extLst>
          </p:cNvPr>
          <p:cNvSpPr>
            <a:spLocks noGrp="1"/>
          </p:cNvSpPr>
          <p:nvPr>
            <p:ph type="title"/>
          </p:nvPr>
        </p:nvSpPr>
        <p:spPr/>
        <p:txBody>
          <a:bodyPr/>
          <a:lstStyle/>
          <a:p>
            <a:r>
              <a:rPr lang="en-GB" dirty="0"/>
              <a:t>Project Plan</a:t>
            </a:r>
          </a:p>
        </p:txBody>
      </p:sp>
      <p:sp>
        <p:nvSpPr>
          <p:cNvPr id="3" name="Content Placeholder 2">
            <a:extLst>
              <a:ext uri="{FF2B5EF4-FFF2-40B4-BE49-F238E27FC236}">
                <a16:creationId xmlns:a16="http://schemas.microsoft.com/office/drawing/2014/main" id="{C1665DC0-A037-29C3-825B-F95F22B7E870}"/>
              </a:ext>
            </a:extLst>
          </p:cNvPr>
          <p:cNvSpPr>
            <a:spLocks noGrp="1"/>
          </p:cNvSpPr>
          <p:nvPr>
            <p:ph idx="1"/>
          </p:nvPr>
        </p:nvSpPr>
        <p:spPr/>
        <p:txBody>
          <a:bodyPr/>
          <a:lstStyle/>
          <a:p>
            <a:r>
              <a:rPr lang="en-GB" dirty="0"/>
              <a:t>- WBS –</a:t>
            </a:r>
          </a:p>
          <a:p>
            <a:r>
              <a:rPr lang="en-GB" dirty="0"/>
              <a:t>- Gantt Chart –</a:t>
            </a:r>
          </a:p>
          <a:p>
            <a:r>
              <a:rPr lang="en-GB" dirty="0"/>
              <a:t>- COCOMO Estimate –</a:t>
            </a:r>
          </a:p>
          <a:p>
            <a:r>
              <a:rPr lang="en-GB" dirty="0"/>
              <a:t>- RACI Chart –</a:t>
            </a:r>
          </a:p>
        </p:txBody>
      </p:sp>
    </p:spTree>
    <p:extLst>
      <p:ext uri="{BB962C8B-B14F-4D97-AF65-F5344CB8AC3E}">
        <p14:creationId xmlns:p14="http://schemas.microsoft.com/office/powerpoint/2010/main" val="23588321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a:extLst>
            <a:ext uri="{FF2B5EF4-FFF2-40B4-BE49-F238E27FC236}">
              <a16:creationId xmlns:a16="http://schemas.microsoft.com/office/drawing/2014/main" id="{5A575679-C67B-3E84-59E4-85A6FA1AB384}"/>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1395ACAC-577D-4FAD-955D-280C3D104A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a:extLst>
              <a:ext uri="{FF2B5EF4-FFF2-40B4-BE49-F238E27FC236}">
                <a16:creationId xmlns:a16="http://schemas.microsoft.com/office/drawing/2014/main" id="{E228037F-2EF2-4A1A-8D1D-D08F2C98AD6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sp>
        <p:nvSpPr>
          <p:cNvPr id="16" name="Rectangle 15">
            <a:extLst>
              <a:ext uri="{FF2B5EF4-FFF2-40B4-BE49-F238E27FC236}">
                <a16:creationId xmlns:a16="http://schemas.microsoft.com/office/drawing/2014/main" id="{0AB11C2E-6CA2-4822-BF14-C1C9A6BC6C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39056" y="0"/>
            <a:ext cx="755294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38B3A2B2-7BBB-4E52-8C30-BE2A6F346B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4959094"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42110655-9916-555B-3EA6-0736539BF5E1}"/>
              </a:ext>
            </a:extLst>
          </p:cNvPr>
          <p:cNvSpPr>
            <a:spLocks noGrp="1"/>
          </p:cNvSpPr>
          <p:nvPr>
            <p:ph type="title"/>
          </p:nvPr>
        </p:nvSpPr>
        <p:spPr>
          <a:xfrm>
            <a:off x="680321" y="753228"/>
            <a:ext cx="4136123" cy="1080938"/>
          </a:xfrm>
        </p:spPr>
        <p:txBody>
          <a:bodyPr>
            <a:normAutofit/>
          </a:bodyPr>
          <a:lstStyle/>
          <a:p>
            <a:r>
              <a:rPr lang="en-GB" sz="2400"/>
              <a:t>Risk Management Plan – Risk Register</a:t>
            </a:r>
          </a:p>
        </p:txBody>
      </p:sp>
      <p:pic>
        <p:nvPicPr>
          <p:cNvPr id="20" name="Picture 19">
            <a:extLst>
              <a:ext uri="{FF2B5EF4-FFF2-40B4-BE49-F238E27FC236}">
                <a16:creationId xmlns:a16="http://schemas.microsoft.com/office/drawing/2014/main" id="{FFF756FE-278B-4106-BB2E-DB87CF02DFB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1"/>
            <a:ext cx="4956048" cy="199787"/>
          </a:xfrm>
          <a:prstGeom prst="rect">
            <a:avLst/>
          </a:prstGeom>
        </p:spPr>
      </p:pic>
      <p:sp>
        <p:nvSpPr>
          <p:cNvPr id="9" name="Content Placeholder 8">
            <a:extLst>
              <a:ext uri="{FF2B5EF4-FFF2-40B4-BE49-F238E27FC236}">
                <a16:creationId xmlns:a16="http://schemas.microsoft.com/office/drawing/2014/main" id="{6ED1539B-0743-FE09-D533-D5E58292D39E}"/>
              </a:ext>
            </a:extLst>
          </p:cNvPr>
          <p:cNvSpPr>
            <a:spLocks noGrp="1"/>
          </p:cNvSpPr>
          <p:nvPr>
            <p:ph idx="1"/>
          </p:nvPr>
        </p:nvSpPr>
        <p:spPr>
          <a:xfrm>
            <a:off x="680321" y="2336873"/>
            <a:ext cx="3656289" cy="2351100"/>
          </a:xfrm>
          <a:solidFill>
            <a:srgbClr val="000000">
              <a:alpha val="10196"/>
            </a:srgbClr>
          </a:solidFill>
        </p:spPr>
        <p:txBody>
          <a:bodyPr>
            <a:normAutofit/>
          </a:bodyPr>
          <a:lstStyle/>
          <a:p>
            <a:r>
              <a:rPr lang="en-US" sz="1400" dirty="0"/>
              <a:t>Identify Risks</a:t>
            </a:r>
          </a:p>
          <a:p>
            <a:r>
              <a:rPr lang="en-US" sz="1400" dirty="0"/>
              <a:t>Assign ID and description for each risk</a:t>
            </a:r>
          </a:p>
          <a:p>
            <a:r>
              <a:rPr lang="en-US" sz="1400" dirty="0"/>
              <a:t>Determine how likely (probability) the risk and the impact it would have on project.</a:t>
            </a:r>
          </a:p>
          <a:p>
            <a:r>
              <a:rPr lang="en-US" sz="1400" dirty="0"/>
              <a:t>Determine how to deal with/respond to the risk.</a:t>
            </a:r>
          </a:p>
          <a:p>
            <a:r>
              <a:rPr lang="en-US" sz="1400" dirty="0"/>
              <a:t>Largest risks for this project were Scope Creep and Communication Issues.</a:t>
            </a:r>
          </a:p>
        </p:txBody>
      </p:sp>
      <p:sp>
        <p:nvSpPr>
          <p:cNvPr id="22" name="Rectangle 21">
            <a:extLst>
              <a:ext uri="{FF2B5EF4-FFF2-40B4-BE49-F238E27FC236}">
                <a16:creationId xmlns:a16="http://schemas.microsoft.com/office/drawing/2014/main" id="{09D6A950-3339-40EB-8972-64F44542D3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76090" y="642795"/>
            <a:ext cx="6272654" cy="5575126"/>
          </a:xfrm>
          <a:prstGeom prst="rect">
            <a:avLst/>
          </a:prstGeom>
          <a:solidFill>
            <a:schemeClr val="tx1"/>
          </a:solidFill>
          <a:ln>
            <a:noFill/>
          </a:ln>
          <a:effectLst>
            <a:outerShdw blurRad="76200" dist="63500" dir="5040000" algn="t" rotWithShape="0">
              <a:prstClr val="black">
                <a:alpha val="41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a:extLst>
              <a:ext uri="{FF2B5EF4-FFF2-40B4-BE49-F238E27FC236}">
                <a16:creationId xmlns:a16="http://schemas.microsoft.com/office/drawing/2014/main" id="{784EA6C8-88F6-15DF-C5B5-ED07AE7DA61C}"/>
              </a:ext>
            </a:extLst>
          </p:cNvPr>
          <p:cNvPicPr>
            <a:picLocks noChangeAspect="1"/>
          </p:cNvPicPr>
          <p:nvPr/>
        </p:nvPicPr>
        <p:blipFill>
          <a:blip r:embed="rId5"/>
          <a:stretch>
            <a:fillRect/>
          </a:stretch>
        </p:blipFill>
        <p:spPr>
          <a:xfrm>
            <a:off x="5593085" y="2616181"/>
            <a:ext cx="5629268" cy="1618844"/>
          </a:xfrm>
          <a:prstGeom prst="rect">
            <a:avLst/>
          </a:prstGeom>
          <a:ln>
            <a:noFill/>
          </a:ln>
          <a:effectLst/>
        </p:spPr>
      </p:pic>
    </p:spTree>
    <p:extLst>
      <p:ext uri="{BB962C8B-B14F-4D97-AF65-F5344CB8AC3E}">
        <p14:creationId xmlns:p14="http://schemas.microsoft.com/office/powerpoint/2010/main" val="29463456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A1698906-F123-49CB-B633-247AC48701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 name="Picture 18">
            <a:extLst>
              <a:ext uri="{FF2B5EF4-FFF2-40B4-BE49-F238E27FC236}">
                <a16:creationId xmlns:a16="http://schemas.microsoft.com/office/drawing/2014/main" id="{12AFB628-1D2A-4F5A-8E9E-2C8E917B59E8}"/>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sp>
        <p:nvSpPr>
          <p:cNvPr id="21" name="Rectangle 20">
            <a:extLst>
              <a:ext uri="{FF2B5EF4-FFF2-40B4-BE49-F238E27FC236}">
                <a16:creationId xmlns:a16="http://schemas.microsoft.com/office/drawing/2014/main" id="{5D86D9DA-31E3-48ED-9F77-2D8B649BD4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0"/>
            <a:ext cx="6096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04C6B320-AA89-4C19-89F7-71D46B26BA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641286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1A6CDAB3-AE4A-7450-4582-C1FE88910BDA}"/>
              </a:ext>
            </a:extLst>
          </p:cNvPr>
          <p:cNvSpPr>
            <a:spLocks noGrp="1"/>
          </p:cNvSpPr>
          <p:nvPr>
            <p:ph type="title"/>
          </p:nvPr>
        </p:nvSpPr>
        <p:spPr>
          <a:xfrm>
            <a:off x="680321" y="753228"/>
            <a:ext cx="5584677" cy="1080938"/>
          </a:xfrm>
        </p:spPr>
        <p:txBody>
          <a:bodyPr>
            <a:normAutofit/>
          </a:bodyPr>
          <a:lstStyle/>
          <a:p>
            <a:r>
              <a:rPr lang="en-GB" dirty="0"/>
              <a:t>Risk Management Plan – Risk Map</a:t>
            </a:r>
          </a:p>
        </p:txBody>
      </p:sp>
      <p:pic>
        <p:nvPicPr>
          <p:cNvPr id="25" name="Picture 24">
            <a:extLst>
              <a:ext uri="{FF2B5EF4-FFF2-40B4-BE49-F238E27FC236}">
                <a16:creationId xmlns:a16="http://schemas.microsoft.com/office/drawing/2014/main" id="{4AC1383A-2DFB-422E-8FB2-1CABD96DDF9B}"/>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1"/>
            <a:ext cx="6409944" cy="258395"/>
          </a:xfrm>
          <a:prstGeom prst="rect">
            <a:avLst/>
          </a:prstGeom>
        </p:spPr>
      </p:pic>
      <p:sp>
        <p:nvSpPr>
          <p:cNvPr id="14" name="Content Placeholder 13">
            <a:extLst>
              <a:ext uri="{FF2B5EF4-FFF2-40B4-BE49-F238E27FC236}">
                <a16:creationId xmlns:a16="http://schemas.microsoft.com/office/drawing/2014/main" id="{9CD3459E-A9A6-8A06-22B1-CF463D9DA95A}"/>
              </a:ext>
            </a:extLst>
          </p:cNvPr>
          <p:cNvSpPr>
            <a:spLocks noGrp="1"/>
          </p:cNvSpPr>
          <p:nvPr>
            <p:ph idx="1"/>
          </p:nvPr>
        </p:nvSpPr>
        <p:spPr>
          <a:xfrm>
            <a:off x="680321" y="2336873"/>
            <a:ext cx="5104843" cy="2292492"/>
          </a:xfrm>
          <a:solidFill>
            <a:srgbClr val="000000">
              <a:alpha val="10196"/>
            </a:srgbClr>
          </a:solidFill>
        </p:spPr>
        <p:txBody>
          <a:bodyPr>
            <a:normAutofit/>
          </a:bodyPr>
          <a:lstStyle/>
          <a:p>
            <a:r>
              <a:rPr lang="en-US" sz="2000" dirty="0"/>
              <a:t>Visualizes the probability, impact and category for identified risks in Risk Register.</a:t>
            </a:r>
          </a:p>
          <a:p>
            <a:r>
              <a:rPr lang="en-US" sz="2000" dirty="0"/>
              <a:t>Assign a rating based on how severe the risk is.</a:t>
            </a:r>
          </a:p>
          <a:p>
            <a:r>
              <a:rPr lang="en-US" sz="2000" dirty="0"/>
              <a:t>Intention is to quickly classify risks and know which ones need the most focus.</a:t>
            </a:r>
          </a:p>
        </p:txBody>
      </p:sp>
      <p:sp>
        <p:nvSpPr>
          <p:cNvPr id="27" name="Rectangle 26">
            <a:extLst>
              <a:ext uri="{FF2B5EF4-FFF2-40B4-BE49-F238E27FC236}">
                <a16:creationId xmlns:a16="http://schemas.microsoft.com/office/drawing/2014/main" id="{645EE119-0AC6-45BA-AE5E-A86AFE1C74C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33163" y="642795"/>
            <a:ext cx="4812406" cy="5575125"/>
          </a:xfrm>
          <a:prstGeom prst="rect">
            <a:avLst/>
          </a:prstGeom>
          <a:solidFill>
            <a:schemeClr val="tx1"/>
          </a:solidFill>
          <a:ln>
            <a:noFill/>
          </a:ln>
          <a:effectLst>
            <a:outerShdw blurRad="76200" dist="63500" dir="5040000" algn="t" rotWithShape="0">
              <a:prstClr val="black">
                <a:alpha val="41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Content Placeholder 9">
            <a:extLst>
              <a:ext uri="{FF2B5EF4-FFF2-40B4-BE49-F238E27FC236}">
                <a16:creationId xmlns:a16="http://schemas.microsoft.com/office/drawing/2014/main" id="{9D27BE7B-F29F-3088-EAD7-5749A1E6273E}"/>
              </a:ext>
            </a:extLst>
          </p:cNvPr>
          <p:cNvPicPr>
            <a:picLocks noChangeAspect="1"/>
          </p:cNvPicPr>
          <p:nvPr/>
        </p:nvPicPr>
        <p:blipFill>
          <a:blip r:embed="rId5"/>
          <a:stretch>
            <a:fillRect/>
          </a:stretch>
        </p:blipFill>
        <p:spPr>
          <a:xfrm>
            <a:off x="7043933" y="2400502"/>
            <a:ext cx="4178419" cy="2050201"/>
          </a:xfrm>
          <a:prstGeom prst="rect">
            <a:avLst/>
          </a:prstGeom>
          <a:ln>
            <a:noFill/>
          </a:ln>
          <a:effectLst/>
        </p:spPr>
      </p:pic>
    </p:spTree>
    <p:extLst>
      <p:ext uri="{BB962C8B-B14F-4D97-AF65-F5344CB8AC3E}">
        <p14:creationId xmlns:p14="http://schemas.microsoft.com/office/powerpoint/2010/main" val="30937833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a:extLst>
            <a:ext uri="{FF2B5EF4-FFF2-40B4-BE49-F238E27FC236}">
              <a16:creationId xmlns:a16="http://schemas.microsoft.com/office/drawing/2014/main" id="{72AD2A0D-50F3-2E74-132B-F849BFFD9CE4}"/>
            </a:ext>
          </a:extLst>
        </p:cNvPr>
        <p:cNvGrpSpPr/>
        <p:nvPr/>
      </p:nvGrpSpPr>
      <p:grpSpPr>
        <a:xfrm>
          <a:off x="0" y="0"/>
          <a:ext cx="0" cy="0"/>
          <a:chOff x="0" y="0"/>
          <a:chExt cx="0" cy="0"/>
        </a:xfrm>
      </p:grpSpPr>
      <p:sp useBgFill="1">
        <p:nvSpPr>
          <p:cNvPr id="28" name="Rectangle 27">
            <a:extLst>
              <a:ext uri="{FF2B5EF4-FFF2-40B4-BE49-F238E27FC236}">
                <a16:creationId xmlns:a16="http://schemas.microsoft.com/office/drawing/2014/main" id="{1395ACAC-577D-4FAD-955D-280C3D104A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 name="Picture 29">
            <a:extLst>
              <a:ext uri="{FF2B5EF4-FFF2-40B4-BE49-F238E27FC236}">
                <a16:creationId xmlns:a16="http://schemas.microsoft.com/office/drawing/2014/main" id="{E228037F-2EF2-4A1A-8D1D-D08F2C98AD6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sp>
        <p:nvSpPr>
          <p:cNvPr id="32" name="Rectangle 31">
            <a:extLst>
              <a:ext uri="{FF2B5EF4-FFF2-40B4-BE49-F238E27FC236}">
                <a16:creationId xmlns:a16="http://schemas.microsoft.com/office/drawing/2014/main" id="{0AB11C2E-6CA2-4822-BF14-C1C9A6BC6C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39056" y="0"/>
            <a:ext cx="755294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38B3A2B2-7BBB-4E52-8C30-BE2A6F346B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4959094"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D5CF49AB-CC79-3ED8-6D1B-3DEFFF55D1B5}"/>
              </a:ext>
            </a:extLst>
          </p:cNvPr>
          <p:cNvSpPr>
            <a:spLocks noGrp="1"/>
          </p:cNvSpPr>
          <p:nvPr>
            <p:ph type="title"/>
          </p:nvPr>
        </p:nvSpPr>
        <p:spPr>
          <a:xfrm>
            <a:off x="680321" y="753228"/>
            <a:ext cx="4136123" cy="1080938"/>
          </a:xfrm>
        </p:spPr>
        <p:txBody>
          <a:bodyPr>
            <a:normAutofit/>
          </a:bodyPr>
          <a:lstStyle/>
          <a:p>
            <a:r>
              <a:rPr lang="en-GB" sz="2400"/>
              <a:t>Risk Management Plan – RAID Log</a:t>
            </a:r>
          </a:p>
        </p:txBody>
      </p:sp>
      <p:pic>
        <p:nvPicPr>
          <p:cNvPr id="36" name="Picture 35">
            <a:extLst>
              <a:ext uri="{FF2B5EF4-FFF2-40B4-BE49-F238E27FC236}">
                <a16:creationId xmlns:a16="http://schemas.microsoft.com/office/drawing/2014/main" id="{FFF756FE-278B-4106-BB2E-DB87CF02DFB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1"/>
            <a:ext cx="4956048" cy="199787"/>
          </a:xfrm>
          <a:prstGeom prst="rect">
            <a:avLst/>
          </a:prstGeom>
        </p:spPr>
      </p:pic>
      <p:sp>
        <p:nvSpPr>
          <p:cNvPr id="25" name="Content Placeholder 24">
            <a:extLst>
              <a:ext uri="{FF2B5EF4-FFF2-40B4-BE49-F238E27FC236}">
                <a16:creationId xmlns:a16="http://schemas.microsoft.com/office/drawing/2014/main" id="{E46E3CA5-99D4-057D-0CCF-4EE5776CCD94}"/>
              </a:ext>
            </a:extLst>
          </p:cNvPr>
          <p:cNvSpPr>
            <a:spLocks noGrp="1"/>
          </p:cNvSpPr>
          <p:nvPr>
            <p:ph idx="1"/>
          </p:nvPr>
        </p:nvSpPr>
        <p:spPr>
          <a:xfrm>
            <a:off x="680321" y="2336873"/>
            <a:ext cx="3656289" cy="2782179"/>
          </a:xfrm>
          <a:solidFill>
            <a:srgbClr val="000000">
              <a:alpha val="10196"/>
            </a:srgbClr>
          </a:solidFill>
        </p:spPr>
        <p:txBody>
          <a:bodyPr>
            <a:normAutofit/>
          </a:bodyPr>
          <a:lstStyle/>
          <a:p>
            <a:r>
              <a:rPr lang="en-US" sz="1400" dirty="0"/>
              <a:t>Expands upon risks in detail.</a:t>
            </a:r>
          </a:p>
          <a:p>
            <a:r>
              <a:rPr lang="en-US" sz="1400" dirty="0"/>
              <a:t>Assign a RAID Category; Risk, Actions/Assumptions, Issues or Decisions/Dependency.</a:t>
            </a:r>
          </a:p>
          <a:p>
            <a:r>
              <a:rPr lang="en-US" sz="1400" dirty="0"/>
              <a:t>Assign an owner (someone within the team who is responsible/allocated to the risk)</a:t>
            </a:r>
          </a:p>
          <a:p>
            <a:r>
              <a:rPr lang="en-US" sz="1400" dirty="0"/>
              <a:t>Assign priority value and therefore Risk Priority Number to each risk.</a:t>
            </a:r>
          </a:p>
          <a:p>
            <a:r>
              <a:rPr lang="en-US" sz="1400" dirty="0"/>
              <a:t>Assign a status value whenever the ‘status’ of the risk is updated.</a:t>
            </a:r>
          </a:p>
          <a:p>
            <a:endParaRPr lang="en-US" sz="1400" dirty="0"/>
          </a:p>
        </p:txBody>
      </p:sp>
      <p:sp>
        <p:nvSpPr>
          <p:cNvPr id="38" name="Rectangle 37">
            <a:extLst>
              <a:ext uri="{FF2B5EF4-FFF2-40B4-BE49-F238E27FC236}">
                <a16:creationId xmlns:a16="http://schemas.microsoft.com/office/drawing/2014/main" id="{09D6A950-3339-40EB-8972-64F44542D3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76090" y="642795"/>
            <a:ext cx="6272654" cy="5575126"/>
          </a:xfrm>
          <a:prstGeom prst="rect">
            <a:avLst/>
          </a:prstGeom>
          <a:solidFill>
            <a:schemeClr val="tx1"/>
          </a:solidFill>
          <a:ln>
            <a:noFill/>
          </a:ln>
          <a:effectLst>
            <a:outerShdw blurRad="76200" dist="63500" dir="5040000" algn="t" rotWithShape="0">
              <a:prstClr val="black">
                <a:alpha val="41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1" name="Content Placeholder 20">
            <a:extLst>
              <a:ext uri="{FF2B5EF4-FFF2-40B4-BE49-F238E27FC236}">
                <a16:creationId xmlns:a16="http://schemas.microsoft.com/office/drawing/2014/main" id="{850C7C3B-8E75-6D32-58E1-86C6294305A5}"/>
              </a:ext>
            </a:extLst>
          </p:cNvPr>
          <p:cNvPicPr>
            <a:picLocks noChangeAspect="1"/>
          </p:cNvPicPr>
          <p:nvPr/>
        </p:nvPicPr>
        <p:blipFill>
          <a:blip r:embed="rId5"/>
          <a:stretch>
            <a:fillRect/>
          </a:stretch>
        </p:blipFill>
        <p:spPr>
          <a:xfrm>
            <a:off x="5593085" y="1693095"/>
            <a:ext cx="5629268" cy="3465016"/>
          </a:xfrm>
          <a:prstGeom prst="rect">
            <a:avLst/>
          </a:prstGeom>
          <a:ln>
            <a:noFill/>
          </a:ln>
          <a:effectLst/>
        </p:spPr>
      </p:pic>
    </p:spTree>
    <p:extLst>
      <p:ext uri="{BB962C8B-B14F-4D97-AF65-F5344CB8AC3E}">
        <p14:creationId xmlns:p14="http://schemas.microsoft.com/office/powerpoint/2010/main" val="10354202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C9E8BF-68CB-2347-F4C4-CAC9F7252C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49DD98-E704-4E8E-8636-F87B53251BA4}"/>
              </a:ext>
            </a:extLst>
          </p:cNvPr>
          <p:cNvSpPr>
            <a:spLocks noGrp="1"/>
          </p:cNvSpPr>
          <p:nvPr>
            <p:ph type="title"/>
          </p:nvPr>
        </p:nvSpPr>
        <p:spPr/>
        <p:txBody>
          <a:bodyPr/>
          <a:lstStyle/>
          <a:p>
            <a:r>
              <a:rPr lang="en-GB" dirty="0"/>
              <a:t>Quality</a:t>
            </a:r>
          </a:p>
        </p:txBody>
      </p:sp>
      <p:sp>
        <p:nvSpPr>
          <p:cNvPr id="3" name="Content Placeholder 2">
            <a:extLst>
              <a:ext uri="{FF2B5EF4-FFF2-40B4-BE49-F238E27FC236}">
                <a16:creationId xmlns:a16="http://schemas.microsoft.com/office/drawing/2014/main" id="{B1333849-626E-9D5F-8661-7445A2440826}"/>
              </a:ext>
            </a:extLst>
          </p:cNvPr>
          <p:cNvSpPr>
            <a:spLocks noGrp="1"/>
          </p:cNvSpPr>
          <p:nvPr>
            <p:ph idx="1"/>
          </p:nvPr>
        </p:nvSpPr>
        <p:spPr/>
        <p:txBody>
          <a:bodyPr/>
          <a:lstStyle/>
          <a:p>
            <a:r>
              <a:rPr lang="en-GB" dirty="0"/>
              <a:t>Quality Plan -</a:t>
            </a:r>
          </a:p>
        </p:txBody>
      </p:sp>
    </p:spTree>
    <p:extLst>
      <p:ext uri="{BB962C8B-B14F-4D97-AF65-F5344CB8AC3E}">
        <p14:creationId xmlns:p14="http://schemas.microsoft.com/office/powerpoint/2010/main" val="33202845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A9831D-8BD6-157F-5794-CE8E01379F9C}"/>
              </a:ext>
            </a:extLst>
          </p:cNvPr>
          <p:cNvSpPr>
            <a:spLocks noGrp="1"/>
          </p:cNvSpPr>
          <p:nvPr>
            <p:ph type="title"/>
          </p:nvPr>
        </p:nvSpPr>
        <p:spPr/>
        <p:txBody>
          <a:bodyPr/>
          <a:lstStyle/>
          <a:p>
            <a:r>
              <a:rPr lang="en-GB" dirty="0"/>
              <a:t>High Fidelity Prototype </a:t>
            </a:r>
          </a:p>
        </p:txBody>
      </p:sp>
      <p:sp>
        <p:nvSpPr>
          <p:cNvPr id="3" name="Content Placeholder 2">
            <a:extLst>
              <a:ext uri="{FF2B5EF4-FFF2-40B4-BE49-F238E27FC236}">
                <a16:creationId xmlns:a16="http://schemas.microsoft.com/office/drawing/2014/main" id="{43FE0754-865A-BC52-A7D0-D5BE0C039A92}"/>
              </a:ext>
            </a:extLst>
          </p:cNvPr>
          <p:cNvSpPr>
            <a:spLocks noGrp="1"/>
          </p:cNvSpPr>
          <p:nvPr>
            <p:ph idx="1"/>
          </p:nvPr>
        </p:nvSpPr>
        <p:spPr/>
        <p:txBody>
          <a:bodyPr/>
          <a:lstStyle/>
          <a:p>
            <a:endParaRPr lang="en-GB" dirty="0"/>
          </a:p>
        </p:txBody>
      </p:sp>
    </p:spTree>
    <p:extLst>
      <p:ext uri="{BB962C8B-B14F-4D97-AF65-F5344CB8AC3E}">
        <p14:creationId xmlns:p14="http://schemas.microsoft.com/office/powerpoint/2010/main" val="45819988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8B1F36-D50C-9658-B70E-742F7A4C1DAC}"/>
              </a:ext>
            </a:extLst>
          </p:cNvPr>
          <p:cNvSpPr>
            <a:spLocks noGrp="1"/>
          </p:cNvSpPr>
          <p:nvPr>
            <p:ph type="title"/>
          </p:nvPr>
        </p:nvSpPr>
        <p:spPr/>
        <p:txBody>
          <a:bodyPr/>
          <a:lstStyle/>
          <a:p>
            <a:r>
              <a:rPr lang="en-GB" dirty="0"/>
              <a:t>MoSCoW</a:t>
            </a:r>
          </a:p>
        </p:txBody>
      </p:sp>
      <p:sp>
        <p:nvSpPr>
          <p:cNvPr id="3" name="Content Placeholder 2">
            <a:extLst>
              <a:ext uri="{FF2B5EF4-FFF2-40B4-BE49-F238E27FC236}">
                <a16:creationId xmlns:a16="http://schemas.microsoft.com/office/drawing/2014/main" id="{1EE0EE8C-EA6A-B5D1-0915-09F88FA111D0}"/>
              </a:ext>
            </a:extLst>
          </p:cNvPr>
          <p:cNvSpPr>
            <a:spLocks noGrp="1"/>
          </p:cNvSpPr>
          <p:nvPr>
            <p:ph idx="1"/>
          </p:nvPr>
        </p:nvSpPr>
        <p:spPr/>
        <p:txBody>
          <a:bodyPr/>
          <a:lstStyle/>
          <a:p>
            <a:endParaRPr lang="en-GB"/>
          </a:p>
        </p:txBody>
      </p:sp>
    </p:spTree>
    <p:extLst>
      <p:ext uri="{BB962C8B-B14F-4D97-AF65-F5344CB8AC3E}">
        <p14:creationId xmlns:p14="http://schemas.microsoft.com/office/powerpoint/2010/main" val="4208705017"/>
      </p:ext>
    </p:extLst>
  </p:cSld>
  <p:clrMapOvr>
    <a:masterClrMapping/>
  </p:clrMapOvr>
</p:sld>
</file>

<file path=ppt/theme/theme1.xml><?xml version="1.0" encoding="utf-8"?>
<a:theme xmlns:a="http://schemas.openxmlformats.org/drawingml/2006/main" name="Berlin">
  <a:themeElements>
    <a:clrScheme name="Berlin">
      <a:dk1>
        <a:sysClr val="windowText" lastClr="000000"/>
      </a:dk1>
      <a:lt1>
        <a:sysClr val="window" lastClr="FFFFFF"/>
      </a:lt1>
      <a:dk2>
        <a:srgbClr val="1F8094"/>
      </a:dk2>
      <a:lt2>
        <a:srgbClr val="E7E6E6"/>
      </a:lt2>
      <a:accent1>
        <a:srgbClr val="39CDE7"/>
      </a:accent1>
      <a:accent2>
        <a:srgbClr val="60DE72"/>
      </a:accent2>
      <a:accent3>
        <a:srgbClr val="DDCC64"/>
      </a:accent3>
      <a:accent4>
        <a:srgbClr val="F49D50"/>
      </a:accent4>
      <a:accent5>
        <a:srgbClr val="E44951"/>
      </a:accent5>
      <a:accent6>
        <a:srgbClr val="D666F9"/>
      </a:accent6>
      <a:hlink>
        <a:srgbClr val="4BF7ED"/>
      </a:hlink>
      <a:folHlink>
        <a:srgbClr val="95E9F4"/>
      </a:folHlink>
    </a:clrScheme>
    <a:fontScheme name="Berlin">
      <a:majorFont>
        <a:latin typeface="Trebuchet MS" panose="020B0603020202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rebuchet MS" panose="020B0603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Berlin">
      <a:fillStyleLst>
        <a:solidFill>
          <a:schemeClr val="phClr"/>
        </a:solidFill>
        <a:gradFill rotWithShape="1">
          <a:gsLst>
            <a:gs pos="0">
              <a:schemeClr val="phClr">
                <a:tint val="60000"/>
                <a:satMod val="100000"/>
                <a:lumMod val="110000"/>
              </a:schemeClr>
            </a:gs>
            <a:gs pos="100000">
              <a:schemeClr val="phClr">
                <a:tint val="70000"/>
                <a:satMod val="100000"/>
                <a:lumMod val="100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6000"/>
                <a:shade val="100000"/>
                <a:hueMod val="92000"/>
                <a:satMod val="200000"/>
                <a:lumMod val="128000"/>
              </a:schemeClr>
            </a:gs>
            <a:gs pos="50000">
              <a:schemeClr val="phClr">
                <a:shade val="100000"/>
                <a:hueMod val="100000"/>
                <a:satMod val="110000"/>
                <a:lumMod val="130000"/>
              </a:schemeClr>
            </a:gs>
            <a:gs pos="100000">
              <a:schemeClr val="phClr">
                <a:shade val="78000"/>
                <a:hueMod val="118000"/>
                <a:satMod val="120000"/>
                <a:lumMod val="69000"/>
              </a:schemeClr>
            </a:gs>
          </a:gsLst>
          <a:lin ang="2520000" scaled="0"/>
        </a:gradFill>
      </a:bgFillStyleLst>
    </a:fmtScheme>
  </a:themeElements>
  <a:objectDefaults/>
  <a:extraClrSchemeLst/>
  <a:extLst>
    <a:ext uri="{05A4C25C-085E-4340-85A3-A5531E510DB2}">
      <thm15:themeFamily xmlns:thm15="http://schemas.microsoft.com/office/thememl/2012/main" name="Berlin" id="{7B5DBA9E-B069-418E-9360-A61BDD0615A4}" vid="{C7DC10E3-4FF5-456B-A359-A0F378C1E5F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TM04033917[[fn=Berlin]]</Template>
  <TotalTime>343</TotalTime>
  <Words>953</Words>
  <Application>Microsoft Office PowerPoint</Application>
  <PresentationFormat>Widescreen</PresentationFormat>
  <Paragraphs>70</Paragraphs>
  <Slides>11</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Aptos</vt:lpstr>
      <vt:lpstr>Arial</vt:lpstr>
      <vt:lpstr>Trebuchet MS</vt:lpstr>
      <vt:lpstr>Berlin</vt:lpstr>
      <vt:lpstr>SY Bus Journey Planner</vt:lpstr>
      <vt:lpstr>Deliverables Overview</vt:lpstr>
      <vt:lpstr>PID -</vt:lpstr>
      <vt:lpstr>Business Case</vt:lpstr>
      <vt:lpstr>Project Plan</vt:lpstr>
      <vt:lpstr>Risk Management Plan – Risk Register</vt:lpstr>
      <vt:lpstr>Risk Management Plan – Risk Map</vt:lpstr>
      <vt:lpstr>Risk Management Plan – RAID Log</vt:lpstr>
      <vt:lpstr>Quality</vt:lpstr>
      <vt:lpstr>High Fidelity Prototype </vt:lpstr>
      <vt:lpstr>MoSCoW</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Morris, Javani (Student)</dc:creator>
  <cp:lastModifiedBy>Watson, Jack (Student)</cp:lastModifiedBy>
  <cp:revision>15</cp:revision>
  <dcterms:created xsi:type="dcterms:W3CDTF">2025-12-06T17:43:22Z</dcterms:created>
  <dcterms:modified xsi:type="dcterms:W3CDTF">2025-12-09T13:55:07Z</dcterms:modified>
</cp:coreProperties>
</file>