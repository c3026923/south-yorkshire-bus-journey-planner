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21"/>
  </p:notesMasterIdLst>
  <p:sldIdLst>
    <p:sldId id="256" r:id="rId2"/>
    <p:sldId id="257" r:id="rId3"/>
    <p:sldId id="258" r:id="rId4"/>
    <p:sldId id="271" r:id="rId5"/>
    <p:sldId id="277" r:id="rId6"/>
    <p:sldId id="269" r:id="rId7"/>
    <p:sldId id="278" r:id="rId8"/>
    <p:sldId id="260" r:id="rId9"/>
    <p:sldId id="272" r:id="rId10"/>
    <p:sldId id="273" r:id="rId11"/>
    <p:sldId id="274" r:id="rId12"/>
    <p:sldId id="266" r:id="rId13"/>
    <p:sldId id="261" r:id="rId14"/>
    <p:sldId id="267" r:id="rId15"/>
    <p:sldId id="275" r:id="rId16"/>
    <p:sldId id="264" r:id="rId17"/>
    <p:sldId id="280" r:id="rId18"/>
    <p:sldId id="263" r:id="rId19"/>
    <p:sldId id="28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5BF5E5-08F0-4788-93B4-DC36E80752B6}" v="4" dt="2025-12-10T08:43:06.762"/>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53635" autoAdjust="0"/>
  </p:normalViewPr>
  <p:slideViewPr>
    <p:cSldViewPr snapToGrid="0">
      <p:cViewPr>
        <p:scale>
          <a:sx n="125" d="100"/>
          <a:sy n="125" d="100"/>
        </p:scale>
        <p:origin x="-1650" y="-2328"/>
      </p:cViewPr>
      <p:guideLst/>
    </p:cSldViewPr>
  </p:slideViewPr>
  <p:outlineViewPr>
    <p:cViewPr>
      <p:scale>
        <a:sx n="33" d="100"/>
        <a:sy n="33" d="100"/>
      </p:scale>
      <p:origin x="0" y="-7891"/>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uwen, Elekir (Student)" userId="4e2a76e3-7167-4ff9-9535-77d49f0af40a" providerId="ADAL" clId="{835B047F-93EB-40CF-83F3-EA1547C8FEF3}"/>
    <pc:docChg chg="modSld">
      <pc:chgData name="Moyuwen, Elekir (Student)" userId="4e2a76e3-7167-4ff9-9535-77d49f0af40a" providerId="ADAL" clId="{835B047F-93EB-40CF-83F3-EA1547C8FEF3}" dt="2025-12-10T08:43:10.184" v="18" actId="20577"/>
      <pc:docMkLst>
        <pc:docMk/>
      </pc:docMkLst>
      <pc:sldChg chg="modSp mod">
        <pc:chgData name="Moyuwen, Elekir (Student)" userId="4e2a76e3-7167-4ff9-9535-77d49f0af40a" providerId="ADAL" clId="{835B047F-93EB-40CF-83F3-EA1547C8FEF3}" dt="2025-12-10T08:43:10.184" v="18" actId="20577"/>
        <pc:sldMkLst>
          <pc:docMk/>
          <pc:sldMk cId="1646420599" sldId="257"/>
        </pc:sldMkLst>
        <pc:graphicFrameChg chg="mod modGraphic">
          <ac:chgData name="Moyuwen, Elekir (Student)" userId="4e2a76e3-7167-4ff9-9535-77d49f0af40a" providerId="ADAL" clId="{835B047F-93EB-40CF-83F3-EA1547C8FEF3}" dt="2025-12-10T08:43:10.184" v="18" actId="20577"/>
          <ac:graphicFrameMkLst>
            <pc:docMk/>
            <pc:sldMk cId="1646420599" sldId="257"/>
            <ac:graphicFrameMk id="9" creationId="{B09E5492-2402-6534-9FB4-130696D3D27D}"/>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EC15E0-73A9-4A78-9D84-686BCE9D171A}" type="doc">
      <dgm:prSet loTypeId="urn:microsoft.com/office/officeart/2016/7/layout/HorizontalActionList" loCatId="List" qsTypeId="urn:microsoft.com/office/officeart/2005/8/quickstyle/simple1" qsCatId="simple" csTypeId="urn:microsoft.com/office/officeart/2005/8/colors/accent0_3" csCatId="mainScheme" phldr="1"/>
      <dgm:spPr/>
      <dgm:t>
        <a:bodyPr/>
        <a:lstStyle/>
        <a:p>
          <a:endParaRPr lang="en-US"/>
        </a:p>
      </dgm:t>
    </dgm:pt>
    <dgm:pt modelId="{8A13B145-347A-42F3-B1D6-2F2E32ECF476}">
      <dgm:prSet/>
      <dgm:spPr>
        <a:solidFill>
          <a:schemeClr val="accent5">
            <a:lumMod val="75000"/>
          </a:schemeClr>
        </a:solidFill>
      </dgm:spPr>
      <dgm:t>
        <a:bodyPr/>
        <a:lstStyle/>
        <a:p>
          <a:r>
            <a:rPr lang="en-US" dirty="0"/>
            <a:t>Option A:</a:t>
          </a:r>
        </a:p>
      </dgm:t>
    </dgm:pt>
    <dgm:pt modelId="{63ACA4C8-AC57-4F82-9AFE-A5DFDE13F7E3}" type="parTrans" cxnId="{E23549BE-35CA-469F-BF93-8BCD286EE34B}">
      <dgm:prSet/>
      <dgm:spPr/>
      <dgm:t>
        <a:bodyPr/>
        <a:lstStyle/>
        <a:p>
          <a:endParaRPr lang="en-US"/>
        </a:p>
      </dgm:t>
    </dgm:pt>
    <dgm:pt modelId="{3A1106EA-35AA-4B8B-AB94-CF270D5DE99F}" type="sibTrans" cxnId="{E23549BE-35CA-469F-BF93-8BCD286EE34B}">
      <dgm:prSet/>
      <dgm:spPr/>
      <dgm:t>
        <a:bodyPr/>
        <a:lstStyle/>
        <a:p>
          <a:endParaRPr lang="en-US"/>
        </a:p>
      </dgm:t>
    </dgm:pt>
    <dgm:pt modelId="{96432DC9-0B97-483F-9CD4-F23C8FC6576B}">
      <dgm:prSet/>
      <dgm:spPr/>
      <dgm:t>
        <a:bodyPr/>
        <a:lstStyle/>
        <a:p>
          <a:r>
            <a:rPr lang="en-US" b="1" dirty="0"/>
            <a:t>Do nothing</a:t>
          </a:r>
        </a:p>
      </dgm:t>
    </dgm:pt>
    <dgm:pt modelId="{147CE3C5-9436-45BF-A33C-0AD2B9365731}" type="parTrans" cxnId="{7054D913-39FC-4290-A697-D71A11FB8D2E}">
      <dgm:prSet/>
      <dgm:spPr/>
      <dgm:t>
        <a:bodyPr/>
        <a:lstStyle/>
        <a:p>
          <a:endParaRPr lang="en-US"/>
        </a:p>
      </dgm:t>
    </dgm:pt>
    <dgm:pt modelId="{A043CBD1-546D-44A3-AA2F-33F3AC71882C}" type="sibTrans" cxnId="{7054D913-39FC-4290-A697-D71A11FB8D2E}">
      <dgm:prSet/>
      <dgm:spPr/>
      <dgm:t>
        <a:bodyPr/>
        <a:lstStyle/>
        <a:p>
          <a:endParaRPr lang="en-US"/>
        </a:p>
      </dgm:t>
    </dgm:pt>
    <dgm:pt modelId="{083A7026-291A-4C4A-9FB0-BF8D54FE6B34}">
      <dgm:prSet/>
      <dgm:spPr/>
      <dgm:t>
        <a:bodyPr/>
        <a:lstStyle/>
        <a:p>
          <a:r>
            <a:rPr lang="en-US" dirty="0"/>
            <a:t>No upfront cost</a:t>
          </a:r>
        </a:p>
      </dgm:t>
    </dgm:pt>
    <dgm:pt modelId="{CA7794EA-6783-4740-9A36-E2331BBA9F1C}" type="parTrans" cxnId="{3E7BA0E1-6E79-4629-9027-6F8364CA9373}">
      <dgm:prSet/>
      <dgm:spPr/>
      <dgm:t>
        <a:bodyPr/>
        <a:lstStyle/>
        <a:p>
          <a:endParaRPr lang="en-US"/>
        </a:p>
      </dgm:t>
    </dgm:pt>
    <dgm:pt modelId="{31B06BB9-B13C-4808-A296-35B826BBFDC5}" type="sibTrans" cxnId="{3E7BA0E1-6E79-4629-9027-6F8364CA9373}">
      <dgm:prSet/>
      <dgm:spPr/>
      <dgm:t>
        <a:bodyPr/>
        <a:lstStyle/>
        <a:p>
          <a:endParaRPr lang="en-US"/>
        </a:p>
      </dgm:t>
    </dgm:pt>
    <dgm:pt modelId="{6E328CE9-15B8-473E-9659-4E90558BB149}">
      <dgm:prSet/>
      <dgm:spPr/>
      <dgm:t>
        <a:bodyPr/>
        <a:lstStyle/>
        <a:p>
          <a:r>
            <a:rPr lang="en-US"/>
            <a:t>No improvement to customer experience/accessibility</a:t>
          </a:r>
        </a:p>
      </dgm:t>
    </dgm:pt>
    <dgm:pt modelId="{ECF502DF-2238-4477-9F62-95C5F572FF05}" type="parTrans" cxnId="{54CECF4A-5C43-473D-A7B0-5502840F0F4C}">
      <dgm:prSet/>
      <dgm:spPr/>
      <dgm:t>
        <a:bodyPr/>
        <a:lstStyle/>
        <a:p>
          <a:endParaRPr lang="en-US"/>
        </a:p>
      </dgm:t>
    </dgm:pt>
    <dgm:pt modelId="{054987FA-386E-4169-B2C2-7B33ADD9C850}" type="sibTrans" cxnId="{54CECF4A-5C43-473D-A7B0-5502840F0F4C}">
      <dgm:prSet/>
      <dgm:spPr/>
      <dgm:t>
        <a:bodyPr/>
        <a:lstStyle/>
        <a:p>
          <a:endParaRPr lang="en-US"/>
        </a:p>
      </dgm:t>
    </dgm:pt>
    <dgm:pt modelId="{E01033C1-D06F-4021-82EC-101C32988432}">
      <dgm:prSet/>
      <dgm:spPr/>
      <dgm:t>
        <a:bodyPr/>
        <a:lstStyle/>
        <a:p>
          <a:r>
            <a:rPr lang="en-US"/>
            <a:t>Fails to address barriers identified</a:t>
          </a:r>
        </a:p>
      </dgm:t>
    </dgm:pt>
    <dgm:pt modelId="{D25C950C-6F3A-4684-84D3-3F2153D4A820}" type="parTrans" cxnId="{26F3B9B5-D869-469E-A67D-A3A0B7105C21}">
      <dgm:prSet/>
      <dgm:spPr/>
      <dgm:t>
        <a:bodyPr/>
        <a:lstStyle/>
        <a:p>
          <a:endParaRPr lang="en-US"/>
        </a:p>
      </dgm:t>
    </dgm:pt>
    <dgm:pt modelId="{C879FF2B-C3F0-439F-8642-49B591C42E54}" type="sibTrans" cxnId="{26F3B9B5-D869-469E-A67D-A3A0B7105C21}">
      <dgm:prSet/>
      <dgm:spPr/>
      <dgm:t>
        <a:bodyPr/>
        <a:lstStyle/>
        <a:p>
          <a:endParaRPr lang="en-US"/>
        </a:p>
      </dgm:t>
    </dgm:pt>
    <dgm:pt modelId="{E3A1DD46-8968-44C5-BDB6-7F942ED4F7C1}">
      <dgm:prSet/>
      <dgm:spPr>
        <a:solidFill>
          <a:schemeClr val="accent5">
            <a:lumMod val="75000"/>
          </a:schemeClr>
        </a:solidFill>
      </dgm:spPr>
      <dgm:t>
        <a:bodyPr/>
        <a:lstStyle/>
        <a:p>
          <a:r>
            <a:rPr lang="en-US" dirty="0"/>
            <a:t>Option B:</a:t>
          </a:r>
        </a:p>
      </dgm:t>
    </dgm:pt>
    <dgm:pt modelId="{A74028BB-076F-4077-91E0-8BDD1642B0B8}" type="parTrans" cxnId="{0B10E337-6A88-4384-9535-28242D68CC41}">
      <dgm:prSet/>
      <dgm:spPr/>
      <dgm:t>
        <a:bodyPr/>
        <a:lstStyle/>
        <a:p>
          <a:endParaRPr lang="en-US"/>
        </a:p>
      </dgm:t>
    </dgm:pt>
    <dgm:pt modelId="{AF24BAEE-9E51-4FEE-B7CC-F78F40DA254D}" type="sibTrans" cxnId="{0B10E337-6A88-4384-9535-28242D68CC41}">
      <dgm:prSet/>
      <dgm:spPr/>
      <dgm:t>
        <a:bodyPr/>
        <a:lstStyle/>
        <a:p>
          <a:endParaRPr lang="en-US"/>
        </a:p>
      </dgm:t>
    </dgm:pt>
    <dgm:pt modelId="{31E7EB04-A30A-4803-ACA4-3B7BDE456D2E}">
      <dgm:prSet/>
      <dgm:spPr/>
      <dgm:t>
        <a:bodyPr/>
        <a:lstStyle/>
        <a:p>
          <a:r>
            <a:rPr lang="en-US" b="1" dirty="0"/>
            <a:t>Minimal Change – Web </a:t>
          </a:r>
          <a:r>
            <a:rPr lang="en-US" b="1"/>
            <a:t>timetable Website</a:t>
          </a:r>
          <a:endParaRPr lang="en-US" b="1" dirty="0"/>
        </a:p>
      </dgm:t>
    </dgm:pt>
    <dgm:pt modelId="{68BAF280-80E7-4292-AD40-0F0E9D795B21}" type="parTrans" cxnId="{ECBDF0D2-23C2-4740-8A0B-883F2192ECC6}">
      <dgm:prSet/>
      <dgm:spPr/>
      <dgm:t>
        <a:bodyPr/>
        <a:lstStyle/>
        <a:p>
          <a:endParaRPr lang="en-US"/>
        </a:p>
      </dgm:t>
    </dgm:pt>
    <dgm:pt modelId="{3C3F308C-8F8A-4BE4-B49F-4299E99B7F00}" type="sibTrans" cxnId="{ECBDF0D2-23C2-4740-8A0B-883F2192ECC6}">
      <dgm:prSet/>
      <dgm:spPr/>
      <dgm:t>
        <a:bodyPr/>
        <a:lstStyle/>
        <a:p>
          <a:endParaRPr lang="en-US"/>
        </a:p>
      </dgm:t>
    </dgm:pt>
    <dgm:pt modelId="{292C07D2-B761-449C-9EFD-3E01BC09794B}">
      <dgm:prSet/>
      <dgm:spPr/>
      <dgm:t>
        <a:bodyPr/>
        <a:lstStyle/>
        <a:p>
          <a:r>
            <a:rPr lang="en-US" dirty="0"/>
            <a:t>Low cost, Low effort (Small UI updates)</a:t>
          </a:r>
        </a:p>
      </dgm:t>
    </dgm:pt>
    <dgm:pt modelId="{E3A8536C-0278-4865-887F-BF558ED5FC26}" type="parTrans" cxnId="{C1B5BCF3-D333-405C-91FC-3184B4196C25}">
      <dgm:prSet/>
      <dgm:spPr/>
      <dgm:t>
        <a:bodyPr/>
        <a:lstStyle/>
        <a:p>
          <a:endParaRPr lang="en-US"/>
        </a:p>
      </dgm:t>
    </dgm:pt>
    <dgm:pt modelId="{CFEB9C69-0C91-4CA4-9E27-9A6A79DAAB60}" type="sibTrans" cxnId="{C1B5BCF3-D333-405C-91FC-3184B4196C25}">
      <dgm:prSet/>
      <dgm:spPr/>
      <dgm:t>
        <a:bodyPr/>
        <a:lstStyle/>
        <a:p>
          <a:endParaRPr lang="en-US"/>
        </a:p>
      </dgm:t>
    </dgm:pt>
    <dgm:pt modelId="{2377C2FD-B3F7-4580-BF16-55CE19377ED2}">
      <dgm:prSet/>
      <dgm:spPr/>
      <dgm:t>
        <a:bodyPr/>
        <a:lstStyle/>
        <a:p>
          <a:r>
            <a:rPr lang="en-US" dirty="0"/>
            <a:t>Convert current bus timetables into a basic responsive website (no live routing or tickets)</a:t>
          </a:r>
        </a:p>
      </dgm:t>
    </dgm:pt>
    <dgm:pt modelId="{BBC74B08-4E49-435E-88AC-AECB7B7E7507}" type="parTrans" cxnId="{F127A92B-D33A-4B66-8D06-8D4D3F25A7F6}">
      <dgm:prSet/>
      <dgm:spPr/>
      <dgm:t>
        <a:bodyPr/>
        <a:lstStyle/>
        <a:p>
          <a:endParaRPr lang="en-US"/>
        </a:p>
      </dgm:t>
    </dgm:pt>
    <dgm:pt modelId="{DE0A8F98-BABC-4BBB-8067-82C739E8DC35}" type="sibTrans" cxnId="{F127A92B-D33A-4B66-8D06-8D4D3F25A7F6}">
      <dgm:prSet/>
      <dgm:spPr/>
      <dgm:t>
        <a:bodyPr/>
        <a:lstStyle/>
        <a:p>
          <a:endParaRPr lang="en-US"/>
        </a:p>
      </dgm:t>
    </dgm:pt>
    <dgm:pt modelId="{7358376D-4C33-435D-94A7-F0ED0AA404EE}">
      <dgm:prSet/>
      <dgm:spPr>
        <a:solidFill>
          <a:schemeClr val="accent2">
            <a:lumMod val="75000"/>
          </a:schemeClr>
        </a:solidFill>
      </dgm:spPr>
      <dgm:t>
        <a:bodyPr/>
        <a:lstStyle/>
        <a:p>
          <a:r>
            <a:rPr lang="en-US" dirty="0"/>
            <a:t>Option C:</a:t>
          </a:r>
        </a:p>
      </dgm:t>
    </dgm:pt>
    <dgm:pt modelId="{7B466F71-EB4A-4727-95D8-233A716B5C11}" type="parTrans" cxnId="{660A14C3-EDD3-422F-872A-795D2394CBE6}">
      <dgm:prSet/>
      <dgm:spPr/>
      <dgm:t>
        <a:bodyPr/>
        <a:lstStyle/>
        <a:p>
          <a:endParaRPr lang="en-US"/>
        </a:p>
      </dgm:t>
    </dgm:pt>
    <dgm:pt modelId="{C3F39171-5B41-421E-9CCE-F1470F11C848}" type="sibTrans" cxnId="{660A14C3-EDD3-422F-872A-795D2394CBE6}">
      <dgm:prSet/>
      <dgm:spPr/>
      <dgm:t>
        <a:bodyPr/>
        <a:lstStyle/>
        <a:p>
          <a:endParaRPr lang="en-US"/>
        </a:p>
      </dgm:t>
    </dgm:pt>
    <dgm:pt modelId="{B01CB5ED-D2D5-43CD-840B-451A426FB1DA}">
      <dgm:prSet/>
      <dgm:spPr/>
      <dgm:t>
        <a:bodyPr/>
        <a:lstStyle/>
        <a:p>
          <a:r>
            <a:rPr lang="en-US" b="1" dirty="0"/>
            <a:t>Envisioned Solution – Journey Planner App</a:t>
          </a:r>
        </a:p>
      </dgm:t>
    </dgm:pt>
    <dgm:pt modelId="{D980610E-7330-450B-9127-DB8A4C9F6E82}" type="parTrans" cxnId="{FCA5357D-3886-48AE-9867-505BF0306FC2}">
      <dgm:prSet/>
      <dgm:spPr/>
      <dgm:t>
        <a:bodyPr/>
        <a:lstStyle/>
        <a:p>
          <a:endParaRPr lang="en-US"/>
        </a:p>
      </dgm:t>
    </dgm:pt>
    <dgm:pt modelId="{0BBC3284-BC65-4922-ABB0-1EA222788AC9}" type="sibTrans" cxnId="{FCA5357D-3886-48AE-9867-505BF0306FC2}">
      <dgm:prSet/>
      <dgm:spPr/>
      <dgm:t>
        <a:bodyPr/>
        <a:lstStyle/>
        <a:p>
          <a:endParaRPr lang="en-US"/>
        </a:p>
      </dgm:t>
    </dgm:pt>
    <dgm:pt modelId="{19C0EC48-4D5D-423D-AB91-60BA18034577}">
      <dgm:prSet/>
      <dgm:spPr/>
      <dgm:t>
        <a:bodyPr/>
        <a:lstStyle/>
        <a:p>
          <a:r>
            <a:rPr lang="en-US" dirty="0"/>
            <a:t>Mobile-first application, high-Fidelity Prototype + Complete management artefacts</a:t>
          </a:r>
        </a:p>
      </dgm:t>
    </dgm:pt>
    <dgm:pt modelId="{754A2E6C-F1E6-4ED4-9F69-3EAB000B9374}" type="parTrans" cxnId="{DD34AB2B-9036-4964-B584-2091A1FA7164}">
      <dgm:prSet/>
      <dgm:spPr/>
      <dgm:t>
        <a:bodyPr/>
        <a:lstStyle/>
        <a:p>
          <a:endParaRPr lang="en-US"/>
        </a:p>
      </dgm:t>
    </dgm:pt>
    <dgm:pt modelId="{FB4BEAA8-E3F2-4933-85B6-50E5FF033D1D}" type="sibTrans" cxnId="{DD34AB2B-9036-4964-B584-2091A1FA7164}">
      <dgm:prSet/>
      <dgm:spPr/>
      <dgm:t>
        <a:bodyPr/>
        <a:lstStyle/>
        <a:p>
          <a:endParaRPr lang="en-US"/>
        </a:p>
      </dgm:t>
    </dgm:pt>
    <dgm:pt modelId="{7207171C-E77C-4596-9C28-2308829F3C2A}">
      <dgm:prSet/>
      <dgm:spPr/>
      <dgm:t>
        <a:bodyPr/>
        <a:lstStyle/>
        <a:p>
          <a:r>
            <a:rPr lang="en-US"/>
            <a:t>Demonstrates feasibility with concrete evidence</a:t>
          </a:r>
        </a:p>
      </dgm:t>
    </dgm:pt>
    <dgm:pt modelId="{BCB25727-CC80-4E15-8699-EF0C28FE3D50}" type="parTrans" cxnId="{71CB81C8-8F99-4B61-805C-2B4815DE463D}">
      <dgm:prSet/>
      <dgm:spPr/>
      <dgm:t>
        <a:bodyPr/>
        <a:lstStyle/>
        <a:p>
          <a:endParaRPr lang="en-US"/>
        </a:p>
      </dgm:t>
    </dgm:pt>
    <dgm:pt modelId="{BAB77730-E748-4812-BF26-8606AA99515A}" type="sibTrans" cxnId="{71CB81C8-8F99-4B61-805C-2B4815DE463D}">
      <dgm:prSet/>
      <dgm:spPr/>
      <dgm:t>
        <a:bodyPr/>
        <a:lstStyle/>
        <a:p>
          <a:endParaRPr lang="en-US"/>
        </a:p>
      </dgm:t>
    </dgm:pt>
    <dgm:pt modelId="{5FD51750-B256-4940-AA5D-85E46A217718}">
      <dgm:prSet/>
      <dgm:spPr/>
      <dgm:t>
        <a:bodyPr/>
        <a:lstStyle/>
        <a:p>
          <a:r>
            <a:rPr lang="en-US" dirty="0"/>
            <a:t>MVP approach: real value at lower risk</a:t>
          </a:r>
        </a:p>
      </dgm:t>
    </dgm:pt>
    <dgm:pt modelId="{8A64BBBE-AE5A-4300-9D41-931FE96FA2A0}" type="parTrans" cxnId="{7EA17FAB-645F-4308-8F6E-832E2C08069B}">
      <dgm:prSet/>
      <dgm:spPr/>
      <dgm:t>
        <a:bodyPr/>
        <a:lstStyle/>
        <a:p>
          <a:endParaRPr lang="en-US"/>
        </a:p>
      </dgm:t>
    </dgm:pt>
    <dgm:pt modelId="{B21BAACD-D22B-4194-8309-D0772E8B2BD5}" type="sibTrans" cxnId="{7EA17FAB-645F-4308-8F6E-832E2C08069B}">
      <dgm:prSet/>
      <dgm:spPr/>
      <dgm:t>
        <a:bodyPr/>
        <a:lstStyle/>
        <a:p>
          <a:endParaRPr lang="en-US"/>
        </a:p>
      </dgm:t>
    </dgm:pt>
    <dgm:pt modelId="{9CA73676-2882-4178-B3C6-31E0EA89C49D}" type="pres">
      <dgm:prSet presAssocID="{70EC15E0-73A9-4A78-9D84-686BCE9D171A}" presName="Name0" presStyleCnt="0">
        <dgm:presLayoutVars>
          <dgm:dir/>
          <dgm:animLvl val="lvl"/>
          <dgm:resizeHandles val="exact"/>
        </dgm:presLayoutVars>
      </dgm:prSet>
      <dgm:spPr/>
    </dgm:pt>
    <dgm:pt modelId="{F9973DF7-0797-493B-8044-2291A7E5B941}" type="pres">
      <dgm:prSet presAssocID="{8A13B145-347A-42F3-B1D6-2F2E32ECF476}" presName="composite" presStyleCnt="0"/>
      <dgm:spPr/>
    </dgm:pt>
    <dgm:pt modelId="{162736F6-0C9A-4BD0-8193-A403702E4EFB}" type="pres">
      <dgm:prSet presAssocID="{8A13B145-347A-42F3-B1D6-2F2E32ECF476}" presName="parTx" presStyleLbl="alignNode1" presStyleIdx="0" presStyleCnt="3">
        <dgm:presLayoutVars>
          <dgm:chMax val="0"/>
          <dgm:chPref val="0"/>
        </dgm:presLayoutVars>
      </dgm:prSet>
      <dgm:spPr/>
    </dgm:pt>
    <dgm:pt modelId="{9B6C979A-FF95-470B-8B22-2C0B2C5C8A41}" type="pres">
      <dgm:prSet presAssocID="{8A13B145-347A-42F3-B1D6-2F2E32ECF476}" presName="desTx" presStyleLbl="alignAccFollowNode1" presStyleIdx="0" presStyleCnt="3">
        <dgm:presLayoutVars/>
      </dgm:prSet>
      <dgm:spPr/>
    </dgm:pt>
    <dgm:pt modelId="{659D3605-CB3F-41AE-9347-0BF4A2762A55}" type="pres">
      <dgm:prSet presAssocID="{3A1106EA-35AA-4B8B-AB94-CF270D5DE99F}" presName="space" presStyleCnt="0"/>
      <dgm:spPr/>
    </dgm:pt>
    <dgm:pt modelId="{0A052A95-DC5A-4CAD-B649-BDAAD88C2E61}" type="pres">
      <dgm:prSet presAssocID="{E3A1DD46-8968-44C5-BDB6-7F942ED4F7C1}" presName="composite" presStyleCnt="0"/>
      <dgm:spPr/>
    </dgm:pt>
    <dgm:pt modelId="{FBBED180-350E-4DCA-B388-B1535C0E37D6}" type="pres">
      <dgm:prSet presAssocID="{E3A1DD46-8968-44C5-BDB6-7F942ED4F7C1}" presName="parTx" presStyleLbl="alignNode1" presStyleIdx="1" presStyleCnt="3">
        <dgm:presLayoutVars>
          <dgm:chMax val="0"/>
          <dgm:chPref val="0"/>
        </dgm:presLayoutVars>
      </dgm:prSet>
      <dgm:spPr/>
    </dgm:pt>
    <dgm:pt modelId="{11332FA0-D6E1-4449-B57F-35ACB9682792}" type="pres">
      <dgm:prSet presAssocID="{E3A1DD46-8968-44C5-BDB6-7F942ED4F7C1}" presName="desTx" presStyleLbl="alignAccFollowNode1" presStyleIdx="1" presStyleCnt="3">
        <dgm:presLayoutVars/>
      </dgm:prSet>
      <dgm:spPr/>
    </dgm:pt>
    <dgm:pt modelId="{52CBA14E-58F9-448C-A860-19986C6C8EE3}" type="pres">
      <dgm:prSet presAssocID="{AF24BAEE-9E51-4FEE-B7CC-F78F40DA254D}" presName="space" presStyleCnt="0"/>
      <dgm:spPr/>
    </dgm:pt>
    <dgm:pt modelId="{0F2A8E1B-7FAE-4039-B38C-068974AA2F02}" type="pres">
      <dgm:prSet presAssocID="{7358376D-4C33-435D-94A7-F0ED0AA404EE}" presName="composite" presStyleCnt="0"/>
      <dgm:spPr/>
    </dgm:pt>
    <dgm:pt modelId="{B884D7B0-B620-4844-AE71-205FED6FB08C}" type="pres">
      <dgm:prSet presAssocID="{7358376D-4C33-435D-94A7-F0ED0AA404EE}" presName="parTx" presStyleLbl="alignNode1" presStyleIdx="2" presStyleCnt="3">
        <dgm:presLayoutVars>
          <dgm:chMax val="0"/>
          <dgm:chPref val="0"/>
        </dgm:presLayoutVars>
      </dgm:prSet>
      <dgm:spPr/>
    </dgm:pt>
    <dgm:pt modelId="{7E5A14E6-F182-4581-9848-419B94AC66EE}" type="pres">
      <dgm:prSet presAssocID="{7358376D-4C33-435D-94A7-F0ED0AA404EE}" presName="desTx" presStyleLbl="alignAccFollowNode1" presStyleIdx="2" presStyleCnt="3">
        <dgm:presLayoutVars/>
      </dgm:prSet>
      <dgm:spPr/>
    </dgm:pt>
  </dgm:ptLst>
  <dgm:cxnLst>
    <dgm:cxn modelId="{7054D913-39FC-4290-A697-D71A11FB8D2E}" srcId="{8A13B145-347A-42F3-B1D6-2F2E32ECF476}" destId="{96432DC9-0B97-483F-9CD4-F23C8FC6576B}" srcOrd="0" destOrd="0" parTransId="{147CE3C5-9436-45BF-A33C-0AD2B9365731}" sibTransId="{A043CBD1-546D-44A3-AA2F-33F3AC71882C}"/>
    <dgm:cxn modelId="{F127A92B-D33A-4B66-8D06-8D4D3F25A7F6}" srcId="{31E7EB04-A30A-4803-ACA4-3B7BDE456D2E}" destId="{2377C2FD-B3F7-4580-BF16-55CE19377ED2}" srcOrd="1" destOrd="0" parTransId="{BBC74B08-4E49-435E-88AC-AECB7B7E7507}" sibTransId="{DE0A8F98-BABC-4BBB-8067-82C739E8DC35}"/>
    <dgm:cxn modelId="{DD34AB2B-9036-4964-B584-2091A1FA7164}" srcId="{B01CB5ED-D2D5-43CD-840B-451A426FB1DA}" destId="{19C0EC48-4D5D-423D-AB91-60BA18034577}" srcOrd="0" destOrd="0" parTransId="{754A2E6C-F1E6-4ED4-9F69-3EAB000B9374}" sibTransId="{FB4BEAA8-E3F2-4933-85B6-50E5FF033D1D}"/>
    <dgm:cxn modelId="{134DDE2F-5BEE-4D5F-9692-952EE66054EC}" type="presOf" srcId="{5FD51750-B256-4940-AA5D-85E46A217718}" destId="{7E5A14E6-F182-4581-9848-419B94AC66EE}" srcOrd="0" destOrd="3" presId="urn:microsoft.com/office/officeart/2016/7/layout/HorizontalActionList"/>
    <dgm:cxn modelId="{9A3DA235-4A88-4F05-89A1-D180D08A06CF}" type="presOf" srcId="{7358376D-4C33-435D-94A7-F0ED0AA404EE}" destId="{B884D7B0-B620-4844-AE71-205FED6FB08C}" srcOrd="0" destOrd="0" presId="urn:microsoft.com/office/officeart/2016/7/layout/HorizontalActionList"/>
    <dgm:cxn modelId="{0B10E337-6A88-4384-9535-28242D68CC41}" srcId="{70EC15E0-73A9-4A78-9D84-686BCE9D171A}" destId="{E3A1DD46-8968-44C5-BDB6-7F942ED4F7C1}" srcOrd="1" destOrd="0" parTransId="{A74028BB-076F-4077-91E0-8BDD1642B0B8}" sibTransId="{AF24BAEE-9E51-4FEE-B7CC-F78F40DA254D}"/>
    <dgm:cxn modelId="{4C4C1043-3027-4866-B6F0-427531337146}" type="presOf" srcId="{31E7EB04-A30A-4803-ACA4-3B7BDE456D2E}" destId="{11332FA0-D6E1-4449-B57F-35ACB9682792}" srcOrd="0" destOrd="0" presId="urn:microsoft.com/office/officeart/2016/7/layout/HorizontalActionList"/>
    <dgm:cxn modelId="{8BDDD569-4631-410D-B2D0-998E3229865F}" type="presOf" srcId="{083A7026-291A-4C4A-9FB0-BF8D54FE6B34}" destId="{9B6C979A-FF95-470B-8B22-2C0B2C5C8A41}" srcOrd="0" destOrd="1" presId="urn:microsoft.com/office/officeart/2016/7/layout/HorizontalActionList"/>
    <dgm:cxn modelId="{4A33F449-94FA-4A97-9158-DFDDB61368CB}" type="presOf" srcId="{70EC15E0-73A9-4A78-9D84-686BCE9D171A}" destId="{9CA73676-2882-4178-B3C6-31E0EA89C49D}" srcOrd="0" destOrd="0" presId="urn:microsoft.com/office/officeart/2016/7/layout/HorizontalActionList"/>
    <dgm:cxn modelId="{54CECF4A-5C43-473D-A7B0-5502840F0F4C}" srcId="{96432DC9-0B97-483F-9CD4-F23C8FC6576B}" destId="{6E328CE9-15B8-473E-9659-4E90558BB149}" srcOrd="1" destOrd="0" parTransId="{ECF502DF-2238-4477-9F62-95C5F572FF05}" sibTransId="{054987FA-386E-4169-B2C2-7B33ADD9C850}"/>
    <dgm:cxn modelId="{F0A53579-A79A-4BAE-9294-1CFD85B7B1CC}" type="presOf" srcId="{292C07D2-B761-449C-9EFD-3E01BC09794B}" destId="{11332FA0-D6E1-4449-B57F-35ACB9682792}" srcOrd="0" destOrd="1" presId="urn:microsoft.com/office/officeart/2016/7/layout/HorizontalActionList"/>
    <dgm:cxn modelId="{FCA5357D-3886-48AE-9867-505BF0306FC2}" srcId="{7358376D-4C33-435D-94A7-F0ED0AA404EE}" destId="{B01CB5ED-D2D5-43CD-840B-451A426FB1DA}" srcOrd="0" destOrd="0" parTransId="{D980610E-7330-450B-9127-DB8A4C9F6E82}" sibTransId="{0BBC3284-BC65-4922-ABB0-1EA222788AC9}"/>
    <dgm:cxn modelId="{189CF194-8695-4E8D-B085-C26439D55B4D}" type="presOf" srcId="{96432DC9-0B97-483F-9CD4-F23C8FC6576B}" destId="{9B6C979A-FF95-470B-8B22-2C0B2C5C8A41}" srcOrd="0" destOrd="0" presId="urn:microsoft.com/office/officeart/2016/7/layout/HorizontalActionList"/>
    <dgm:cxn modelId="{5A1B7FAA-6B22-4A10-BE51-142573F9D675}" type="presOf" srcId="{19C0EC48-4D5D-423D-AB91-60BA18034577}" destId="{7E5A14E6-F182-4581-9848-419B94AC66EE}" srcOrd="0" destOrd="1" presId="urn:microsoft.com/office/officeart/2016/7/layout/HorizontalActionList"/>
    <dgm:cxn modelId="{7EA17FAB-645F-4308-8F6E-832E2C08069B}" srcId="{B01CB5ED-D2D5-43CD-840B-451A426FB1DA}" destId="{5FD51750-B256-4940-AA5D-85E46A217718}" srcOrd="2" destOrd="0" parTransId="{8A64BBBE-AE5A-4300-9D41-931FE96FA2A0}" sibTransId="{B21BAACD-D22B-4194-8309-D0772E8B2BD5}"/>
    <dgm:cxn modelId="{48B677AF-E82E-4099-9E90-9A095CC54B0A}" type="presOf" srcId="{E3A1DD46-8968-44C5-BDB6-7F942ED4F7C1}" destId="{FBBED180-350E-4DCA-B388-B1535C0E37D6}" srcOrd="0" destOrd="0" presId="urn:microsoft.com/office/officeart/2016/7/layout/HorizontalActionList"/>
    <dgm:cxn modelId="{67943FB3-98CA-4F0F-8187-58C587807CC9}" type="presOf" srcId="{E01033C1-D06F-4021-82EC-101C32988432}" destId="{9B6C979A-FF95-470B-8B22-2C0B2C5C8A41}" srcOrd="0" destOrd="3" presId="urn:microsoft.com/office/officeart/2016/7/layout/HorizontalActionList"/>
    <dgm:cxn modelId="{26F3B9B5-D869-469E-A67D-A3A0B7105C21}" srcId="{96432DC9-0B97-483F-9CD4-F23C8FC6576B}" destId="{E01033C1-D06F-4021-82EC-101C32988432}" srcOrd="2" destOrd="0" parTransId="{D25C950C-6F3A-4684-84D3-3F2153D4A820}" sibTransId="{C879FF2B-C3F0-439F-8642-49B591C42E54}"/>
    <dgm:cxn modelId="{E23549BE-35CA-469F-BF93-8BCD286EE34B}" srcId="{70EC15E0-73A9-4A78-9D84-686BCE9D171A}" destId="{8A13B145-347A-42F3-B1D6-2F2E32ECF476}" srcOrd="0" destOrd="0" parTransId="{63ACA4C8-AC57-4F82-9AFE-A5DFDE13F7E3}" sibTransId="{3A1106EA-35AA-4B8B-AB94-CF270D5DE99F}"/>
    <dgm:cxn modelId="{660A14C3-EDD3-422F-872A-795D2394CBE6}" srcId="{70EC15E0-73A9-4A78-9D84-686BCE9D171A}" destId="{7358376D-4C33-435D-94A7-F0ED0AA404EE}" srcOrd="2" destOrd="0" parTransId="{7B466F71-EB4A-4727-95D8-233A716B5C11}" sibTransId="{C3F39171-5B41-421E-9CCE-F1470F11C848}"/>
    <dgm:cxn modelId="{71CB81C8-8F99-4B61-805C-2B4815DE463D}" srcId="{B01CB5ED-D2D5-43CD-840B-451A426FB1DA}" destId="{7207171C-E77C-4596-9C28-2308829F3C2A}" srcOrd="1" destOrd="0" parTransId="{BCB25727-CC80-4E15-8699-EF0C28FE3D50}" sibTransId="{BAB77730-E748-4812-BF26-8606AA99515A}"/>
    <dgm:cxn modelId="{ECBDF0D2-23C2-4740-8A0B-883F2192ECC6}" srcId="{E3A1DD46-8968-44C5-BDB6-7F942ED4F7C1}" destId="{31E7EB04-A30A-4803-ACA4-3B7BDE456D2E}" srcOrd="0" destOrd="0" parTransId="{68BAF280-80E7-4292-AD40-0F0E9D795B21}" sibTransId="{3C3F308C-8F8A-4BE4-B49F-4299E99B7F00}"/>
    <dgm:cxn modelId="{EAA5BADB-5475-4B32-B813-6B790E1E4A9E}" type="presOf" srcId="{B01CB5ED-D2D5-43CD-840B-451A426FB1DA}" destId="{7E5A14E6-F182-4581-9848-419B94AC66EE}" srcOrd="0" destOrd="0" presId="urn:microsoft.com/office/officeart/2016/7/layout/HorizontalActionList"/>
    <dgm:cxn modelId="{C38F25DE-5B07-4366-849D-94444A4DE504}" type="presOf" srcId="{6E328CE9-15B8-473E-9659-4E90558BB149}" destId="{9B6C979A-FF95-470B-8B22-2C0B2C5C8A41}" srcOrd="0" destOrd="2" presId="urn:microsoft.com/office/officeart/2016/7/layout/HorizontalActionList"/>
    <dgm:cxn modelId="{3E7BA0E1-6E79-4629-9027-6F8364CA9373}" srcId="{96432DC9-0B97-483F-9CD4-F23C8FC6576B}" destId="{083A7026-291A-4C4A-9FB0-BF8D54FE6B34}" srcOrd="0" destOrd="0" parTransId="{CA7794EA-6783-4740-9A36-E2331BBA9F1C}" sibTransId="{31B06BB9-B13C-4808-A296-35B826BBFDC5}"/>
    <dgm:cxn modelId="{99B743E3-7BBC-4150-9D50-CEE62256770A}" type="presOf" srcId="{7207171C-E77C-4596-9C28-2308829F3C2A}" destId="{7E5A14E6-F182-4581-9848-419B94AC66EE}" srcOrd="0" destOrd="2" presId="urn:microsoft.com/office/officeart/2016/7/layout/HorizontalActionList"/>
    <dgm:cxn modelId="{D61B56EB-DB0A-47B1-84FA-B81C40B95B66}" type="presOf" srcId="{8A13B145-347A-42F3-B1D6-2F2E32ECF476}" destId="{162736F6-0C9A-4BD0-8193-A403702E4EFB}" srcOrd="0" destOrd="0" presId="urn:microsoft.com/office/officeart/2016/7/layout/HorizontalActionList"/>
    <dgm:cxn modelId="{C6D9E9EE-1FA6-4B43-872B-0BBF0020A7F3}" type="presOf" srcId="{2377C2FD-B3F7-4580-BF16-55CE19377ED2}" destId="{11332FA0-D6E1-4449-B57F-35ACB9682792}" srcOrd="0" destOrd="2" presId="urn:microsoft.com/office/officeart/2016/7/layout/HorizontalActionList"/>
    <dgm:cxn modelId="{C1B5BCF3-D333-405C-91FC-3184B4196C25}" srcId="{31E7EB04-A30A-4803-ACA4-3B7BDE456D2E}" destId="{292C07D2-B761-449C-9EFD-3E01BC09794B}" srcOrd="0" destOrd="0" parTransId="{E3A8536C-0278-4865-887F-BF558ED5FC26}" sibTransId="{CFEB9C69-0C91-4CA4-9E27-9A6A79DAAB60}"/>
    <dgm:cxn modelId="{04879FB4-00A5-47FC-881F-7D34A1364ADF}" type="presParOf" srcId="{9CA73676-2882-4178-B3C6-31E0EA89C49D}" destId="{F9973DF7-0797-493B-8044-2291A7E5B941}" srcOrd="0" destOrd="0" presId="urn:microsoft.com/office/officeart/2016/7/layout/HorizontalActionList"/>
    <dgm:cxn modelId="{308BD909-FCA0-424C-8F99-048348E21D5E}" type="presParOf" srcId="{F9973DF7-0797-493B-8044-2291A7E5B941}" destId="{162736F6-0C9A-4BD0-8193-A403702E4EFB}" srcOrd="0" destOrd="0" presId="urn:microsoft.com/office/officeart/2016/7/layout/HorizontalActionList"/>
    <dgm:cxn modelId="{E2623A77-EFC9-40A8-B0A8-AC99B6277149}" type="presParOf" srcId="{F9973DF7-0797-493B-8044-2291A7E5B941}" destId="{9B6C979A-FF95-470B-8B22-2C0B2C5C8A41}" srcOrd="1" destOrd="0" presId="urn:microsoft.com/office/officeart/2016/7/layout/HorizontalActionList"/>
    <dgm:cxn modelId="{558843FC-38B5-4D79-AFBE-968570BFE369}" type="presParOf" srcId="{9CA73676-2882-4178-B3C6-31E0EA89C49D}" destId="{659D3605-CB3F-41AE-9347-0BF4A2762A55}" srcOrd="1" destOrd="0" presId="urn:microsoft.com/office/officeart/2016/7/layout/HorizontalActionList"/>
    <dgm:cxn modelId="{1E959503-B51F-4D13-BEFF-A310DF238199}" type="presParOf" srcId="{9CA73676-2882-4178-B3C6-31E0EA89C49D}" destId="{0A052A95-DC5A-4CAD-B649-BDAAD88C2E61}" srcOrd="2" destOrd="0" presId="urn:microsoft.com/office/officeart/2016/7/layout/HorizontalActionList"/>
    <dgm:cxn modelId="{4DAA2D47-B764-41F6-89CE-228F56A77EFC}" type="presParOf" srcId="{0A052A95-DC5A-4CAD-B649-BDAAD88C2E61}" destId="{FBBED180-350E-4DCA-B388-B1535C0E37D6}" srcOrd="0" destOrd="0" presId="urn:microsoft.com/office/officeart/2016/7/layout/HorizontalActionList"/>
    <dgm:cxn modelId="{8C382F75-D51A-4FB2-9E67-A7EDB6D68622}" type="presParOf" srcId="{0A052A95-DC5A-4CAD-B649-BDAAD88C2E61}" destId="{11332FA0-D6E1-4449-B57F-35ACB9682792}" srcOrd="1" destOrd="0" presId="urn:microsoft.com/office/officeart/2016/7/layout/HorizontalActionList"/>
    <dgm:cxn modelId="{81DD38B1-293A-461C-A719-7A2ACBC73055}" type="presParOf" srcId="{9CA73676-2882-4178-B3C6-31E0EA89C49D}" destId="{52CBA14E-58F9-448C-A860-19986C6C8EE3}" srcOrd="3" destOrd="0" presId="urn:microsoft.com/office/officeart/2016/7/layout/HorizontalActionList"/>
    <dgm:cxn modelId="{39430E2F-E2CE-4B88-876D-9DA68C9C8A82}" type="presParOf" srcId="{9CA73676-2882-4178-B3C6-31E0EA89C49D}" destId="{0F2A8E1B-7FAE-4039-B38C-068974AA2F02}" srcOrd="4" destOrd="0" presId="urn:microsoft.com/office/officeart/2016/7/layout/HorizontalActionList"/>
    <dgm:cxn modelId="{8AA68761-78D7-4C24-8AD7-B1DEB74FB945}" type="presParOf" srcId="{0F2A8E1B-7FAE-4039-B38C-068974AA2F02}" destId="{B884D7B0-B620-4844-AE71-205FED6FB08C}" srcOrd="0" destOrd="0" presId="urn:microsoft.com/office/officeart/2016/7/layout/HorizontalActionList"/>
    <dgm:cxn modelId="{5B9F6A23-4822-4443-BC2F-73A3EA4A0E1E}" type="presParOf" srcId="{0F2A8E1B-7FAE-4039-B38C-068974AA2F02}" destId="{7E5A14E6-F182-4581-9848-419B94AC66EE}" srcOrd="1" destOrd="0" presId="urn:microsoft.com/office/officeart/2016/7/layout/HorizontalAction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2736F6-0C9A-4BD0-8193-A403702E4EFB}">
      <dsp:nvSpPr>
        <dsp:cNvPr id="0" name=""/>
        <dsp:cNvSpPr/>
      </dsp:nvSpPr>
      <dsp:spPr>
        <a:xfrm>
          <a:off x="4851" y="184401"/>
          <a:ext cx="3069320" cy="920796"/>
        </a:xfrm>
        <a:prstGeom prst="rect">
          <a:avLst/>
        </a:prstGeom>
        <a:solidFill>
          <a:schemeClr val="accent5">
            <a:lumMod val="7500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545" tIns="242545" rIns="242545" bIns="242545" numCol="1" spcCol="1270" anchor="ctr" anchorCtr="0">
          <a:noAutofit/>
        </a:bodyPr>
        <a:lstStyle/>
        <a:p>
          <a:pPr marL="0" lvl="0" indent="0" algn="ctr" defTabSz="1422400">
            <a:lnSpc>
              <a:spcPct val="90000"/>
            </a:lnSpc>
            <a:spcBef>
              <a:spcPct val="0"/>
            </a:spcBef>
            <a:spcAft>
              <a:spcPct val="35000"/>
            </a:spcAft>
            <a:buNone/>
          </a:pPr>
          <a:r>
            <a:rPr lang="en-US" sz="3200" kern="1200" dirty="0"/>
            <a:t>Option A:</a:t>
          </a:r>
        </a:p>
      </dsp:txBody>
      <dsp:txXfrm>
        <a:off x="4851" y="184401"/>
        <a:ext cx="3069320" cy="920796"/>
      </dsp:txXfrm>
    </dsp:sp>
    <dsp:sp modelId="{9B6C979A-FF95-470B-8B22-2C0B2C5C8A41}">
      <dsp:nvSpPr>
        <dsp:cNvPr id="0" name=""/>
        <dsp:cNvSpPr/>
      </dsp:nvSpPr>
      <dsp:spPr>
        <a:xfrm>
          <a:off x="4851" y="1105197"/>
          <a:ext cx="3069320" cy="1871062"/>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3181" tIns="303181" rIns="303181" bIns="303181" numCol="1" spcCol="1270" anchor="t" anchorCtr="0">
          <a:noAutofit/>
        </a:bodyPr>
        <a:lstStyle/>
        <a:p>
          <a:pPr marL="0" lvl="0" indent="0" algn="l" defTabSz="577850">
            <a:lnSpc>
              <a:spcPct val="90000"/>
            </a:lnSpc>
            <a:spcBef>
              <a:spcPct val="0"/>
            </a:spcBef>
            <a:spcAft>
              <a:spcPct val="35000"/>
            </a:spcAft>
            <a:buNone/>
          </a:pPr>
          <a:r>
            <a:rPr lang="en-US" sz="1300" b="1" kern="1200" dirty="0"/>
            <a:t>Do nothing</a:t>
          </a:r>
        </a:p>
        <a:p>
          <a:pPr marL="57150" lvl="1" indent="-57150" algn="l" defTabSz="444500">
            <a:lnSpc>
              <a:spcPct val="90000"/>
            </a:lnSpc>
            <a:spcBef>
              <a:spcPct val="0"/>
            </a:spcBef>
            <a:spcAft>
              <a:spcPct val="15000"/>
            </a:spcAft>
            <a:buChar char="•"/>
          </a:pPr>
          <a:r>
            <a:rPr lang="en-US" sz="1000" kern="1200" dirty="0"/>
            <a:t>No upfront cost</a:t>
          </a:r>
        </a:p>
        <a:p>
          <a:pPr marL="57150" lvl="1" indent="-57150" algn="l" defTabSz="444500">
            <a:lnSpc>
              <a:spcPct val="90000"/>
            </a:lnSpc>
            <a:spcBef>
              <a:spcPct val="0"/>
            </a:spcBef>
            <a:spcAft>
              <a:spcPct val="15000"/>
            </a:spcAft>
            <a:buChar char="•"/>
          </a:pPr>
          <a:r>
            <a:rPr lang="en-US" sz="1000" kern="1200"/>
            <a:t>No improvement to customer experience/accessibility</a:t>
          </a:r>
        </a:p>
        <a:p>
          <a:pPr marL="57150" lvl="1" indent="-57150" algn="l" defTabSz="444500">
            <a:lnSpc>
              <a:spcPct val="90000"/>
            </a:lnSpc>
            <a:spcBef>
              <a:spcPct val="0"/>
            </a:spcBef>
            <a:spcAft>
              <a:spcPct val="15000"/>
            </a:spcAft>
            <a:buChar char="•"/>
          </a:pPr>
          <a:r>
            <a:rPr lang="en-US" sz="1000" kern="1200"/>
            <a:t>Fails to address barriers identified</a:t>
          </a:r>
        </a:p>
      </dsp:txBody>
      <dsp:txXfrm>
        <a:off x="4851" y="1105197"/>
        <a:ext cx="3069320" cy="1871062"/>
      </dsp:txXfrm>
    </dsp:sp>
    <dsp:sp modelId="{FBBED180-350E-4DCA-B388-B1535C0E37D6}">
      <dsp:nvSpPr>
        <dsp:cNvPr id="0" name=""/>
        <dsp:cNvSpPr/>
      </dsp:nvSpPr>
      <dsp:spPr>
        <a:xfrm>
          <a:off x="3182066" y="184401"/>
          <a:ext cx="3069320" cy="920796"/>
        </a:xfrm>
        <a:prstGeom prst="rect">
          <a:avLst/>
        </a:prstGeom>
        <a:solidFill>
          <a:schemeClr val="accent5">
            <a:lumMod val="7500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545" tIns="242545" rIns="242545" bIns="242545" numCol="1" spcCol="1270" anchor="ctr" anchorCtr="0">
          <a:noAutofit/>
        </a:bodyPr>
        <a:lstStyle/>
        <a:p>
          <a:pPr marL="0" lvl="0" indent="0" algn="ctr" defTabSz="1422400">
            <a:lnSpc>
              <a:spcPct val="90000"/>
            </a:lnSpc>
            <a:spcBef>
              <a:spcPct val="0"/>
            </a:spcBef>
            <a:spcAft>
              <a:spcPct val="35000"/>
            </a:spcAft>
            <a:buNone/>
          </a:pPr>
          <a:r>
            <a:rPr lang="en-US" sz="3200" kern="1200" dirty="0"/>
            <a:t>Option B:</a:t>
          </a:r>
        </a:p>
      </dsp:txBody>
      <dsp:txXfrm>
        <a:off x="3182066" y="184401"/>
        <a:ext cx="3069320" cy="920796"/>
      </dsp:txXfrm>
    </dsp:sp>
    <dsp:sp modelId="{11332FA0-D6E1-4449-B57F-35ACB9682792}">
      <dsp:nvSpPr>
        <dsp:cNvPr id="0" name=""/>
        <dsp:cNvSpPr/>
      </dsp:nvSpPr>
      <dsp:spPr>
        <a:xfrm>
          <a:off x="3182066" y="1105197"/>
          <a:ext cx="3069320" cy="1871062"/>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3181" tIns="303181" rIns="303181" bIns="303181" numCol="1" spcCol="1270" anchor="t" anchorCtr="0">
          <a:noAutofit/>
        </a:bodyPr>
        <a:lstStyle/>
        <a:p>
          <a:pPr marL="0" lvl="0" indent="0" algn="l" defTabSz="577850">
            <a:lnSpc>
              <a:spcPct val="90000"/>
            </a:lnSpc>
            <a:spcBef>
              <a:spcPct val="0"/>
            </a:spcBef>
            <a:spcAft>
              <a:spcPct val="35000"/>
            </a:spcAft>
            <a:buNone/>
          </a:pPr>
          <a:r>
            <a:rPr lang="en-US" sz="1300" b="1" kern="1200" dirty="0"/>
            <a:t>Minimal Change – Web </a:t>
          </a:r>
          <a:r>
            <a:rPr lang="en-US" sz="1300" b="1" kern="1200"/>
            <a:t>timetable Website</a:t>
          </a:r>
          <a:endParaRPr lang="en-US" sz="1300" b="1" kern="1200" dirty="0"/>
        </a:p>
        <a:p>
          <a:pPr marL="57150" lvl="1" indent="-57150" algn="l" defTabSz="444500">
            <a:lnSpc>
              <a:spcPct val="90000"/>
            </a:lnSpc>
            <a:spcBef>
              <a:spcPct val="0"/>
            </a:spcBef>
            <a:spcAft>
              <a:spcPct val="15000"/>
            </a:spcAft>
            <a:buChar char="•"/>
          </a:pPr>
          <a:r>
            <a:rPr lang="en-US" sz="1000" kern="1200" dirty="0"/>
            <a:t>Low cost, Low effort (Small UI updates)</a:t>
          </a:r>
        </a:p>
        <a:p>
          <a:pPr marL="57150" lvl="1" indent="-57150" algn="l" defTabSz="444500">
            <a:lnSpc>
              <a:spcPct val="90000"/>
            </a:lnSpc>
            <a:spcBef>
              <a:spcPct val="0"/>
            </a:spcBef>
            <a:spcAft>
              <a:spcPct val="15000"/>
            </a:spcAft>
            <a:buChar char="•"/>
          </a:pPr>
          <a:r>
            <a:rPr lang="en-US" sz="1000" kern="1200" dirty="0"/>
            <a:t>Convert current bus timetables into a basic responsive website (no live routing or tickets)</a:t>
          </a:r>
        </a:p>
      </dsp:txBody>
      <dsp:txXfrm>
        <a:off x="3182066" y="1105197"/>
        <a:ext cx="3069320" cy="1871062"/>
      </dsp:txXfrm>
    </dsp:sp>
    <dsp:sp modelId="{B884D7B0-B620-4844-AE71-205FED6FB08C}">
      <dsp:nvSpPr>
        <dsp:cNvPr id="0" name=""/>
        <dsp:cNvSpPr/>
      </dsp:nvSpPr>
      <dsp:spPr>
        <a:xfrm>
          <a:off x="6359281" y="184401"/>
          <a:ext cx="3069320" cy="920796"/>
        </a:xfrm>
        <a:prstGeom prst="rect">
          <a:avLst/>
        </a:prstGeom>
        <a:solidFill>
          <a:schemeClr val="accent2">
            <a:lumMod val="7500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545" tIns="242545" rIns="242545" bIns="242545" numCol="1" spcCol="1270" anchor="ctr" anchorCtr="0">
          <a:noAutofit/>
        </a:bodyPr>
        <a:lstStyle/>
        <a:p>
          <a:pPr marL="0" lvl="0" indent="0" algn="ctr" defTabSz="1422400">
            <a:lnSpc>
              <a:spcPct val="90000"/>
            </a:lnSpc>
            <a:spcBef>
              <a:spcPct val="0"/>
            </a:spcBef>
            <a:spcAft>
              <a:spcPct val="35000"/>
            </a:spcAft>
            <a:buNone/>
          </a:pPr>
          <a:r>
            <a:rPr lang="en-US" sz="3200" kern="1200" dirty="0"/>
            <a:t>Option C:</a:t>
          </a:r>
        </a:p>
      </dsp:txBody>
      <dsp:txXfrm>
        <a:off x="6359281" y="184401"/>
        <a:ext cx="3069320" cy="920796"/>
      </dsp:txXfrm>
    </dsp:sp>
    <dsp:sp modelId="{7E5A14E6-F182-4581-9848-419B94AC66EE}">
      <dsp:nvSpPr>
        <dsp:cNvPr id="0" name=""/>
        <dsp:cNvSpPr/>
      </dsp:nvSpPr>
      <dsp:spPr>
        <a:xfrm>
          <a:off x="6359281" y="1105197"/>
          <a:ext cx="3069320" cy="1871062"/>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3181" tIns="303181" rIns="303181" bIns="303181" numCol="1" spcCol="1270" anchor="t" anchorCtr="0">
          <a:noAutofit/>
        </a:bodyPr>
        <a:lstStyle/>
        <a:p>
          <a:pPr marL="0" lvl="0" indent="0" algn="l" defTabSz="577850">
            <a:lnSpc>
              <a:spcPct val="90000"/>
            </a:lnSpc>
            <a:spcBef>
              <a:spcPct val="0"/>
            </a:spcBef>
            <a:spcAft>
              <a:spcPct val="35000"/>
            </a:spcAft>
            <a:buNone/>
          </a:pPr>
          <a:r>
            <a:rPr lang="en-US" sz="1300" b="1" kern="1200" dirty="0"/>
            <a:t>Envisioned Solution – Journey Planner App</a:t>
          </a:r>
        </a:p>
        <a:p>
          <a:pPr marL="57150" lvl="1" indent="-57150" algn="l" defTabSz="444500">
            <a:lnSpc>
              <a:spcPct val="90000"/>
            </a:lnSpc>
            <a:spcBef>
              <a:spcPct val="0"/>
            </a:spcBef>
            <a:spcAft>
              <a:spcPct val="15000"/>
            </a:spcAft>
            <a:buChar char="•"/>
          </a:pPr>
          <a:r>
            <a:rPr lang="en-US" sz="1000" kern="1200" dirty="0"/>
            <a:t>Mobile-first application, high-Fidelity Prototype + Complete management artefacts</a:t>
          </a:r>
        </a:p>
        <a:p>
          <a:pPr marL="57150" lvl="1" indent="-57150" algn="l" defTabSz="444500">
            <a:lnSpc>
              <a:spcPct val="90000"/>
            </a:lnSpc>
            <a:spcBef>
              <a:spcPct val="0"/>
            </a:spcBef>
            <a:spcAft>
              <a:spcPct val="15000"/>
            </a:spcAft>
            <a:buChar char="•"/>
          </a:pPr>
          <a:r>
            <a:rPr lang="en-US" sz="1000" kern="1200"/>
            <a:t>Demonstrates feasibility with concrete evidence</a:t>
          </a:r>
        </a:p>
        <a:p>
          <a:pPr marL="57150" lvl="1" indent="-57150" algn="l" defTabSz="444500">
            <a:lnSpc>
              <a:spcPct val="90000"/>
            </a:lnSpc>
            <a:spcBef>
              <a:spcPct val="0"/>
            </a:spcBef>
            <a:spcAft>
              <a:spcPct val="15000"/>
            </a:spcAft>
            <a:buChar char="•"/>
          </a:pPr>
          <a:r>
            <a:rPr lang="en-US" sz="1000" kern="1200" dirty="0"/>
            <a:t>MVP approach: real value at lower risk</a:t>
          </a:r>
        </a:p>
      </dsp:txBody>
      <dsp:txXfrm>
        <a:off x="6359281" y="1105197"/>
        <a:ext cx="3069320" cy="1871062"/>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FCF3D4-4B19-40BF-97C8-2490B697FBE7}" type="datetimeFigureOut">
              <a:rPr lang="en-GB" smtClean="0"/>
              <a:t>10/12/2025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E95E9-FA28-469F-9CFA-6BC8B5BDD7BE}" type="slidenum">
              <a:rPr lang="en-GB" smtClean="0"/>
              <a:t>‹#›</a:t>
            </a:fld>
            <a:endParaRPr lang="en-GB"/>
          </a:p>
        </p:txBody>
      </p:sp>
    </p:spTree>
    <p:extLst>
      <p:ext uri="{BB962C8B-B14F-4D97-AF65-F5344CB8AC3E}">
        <p14:creationId xmlns:p14="http://schemas.microsoft.com/office/powerpoint/2010/main" val="615474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Project overview: </a:t>
            </a:r>
            <a:r>
              <a:rPr lang="en-GB" dirty="0"/>
              <a:t>Our project is the SYB Journey Planner. The idea is to help passengers plan journeys more easily, cut down on boarding delays, and improve digital engagement for South Yorkshire Buses and their partners.</a:t>
            </a:r>
          </a:p>
          <a:p>
            <a:r>
              <a:rPr lang="en-GB" dirty="0"/>
              <a:t>We chose Prince2 Agile because it gives us the best of both worlds. PRINCE2 gives us structure; clear roles, a live business case, and stage controls. Agile gives us flexibility; short prototype cycles, </a:t>
            </a:r>
            <a:r>
              <a:rPr lang="en-GB" dirty="0" err="1"/>
              <a:t>MoSCoW</a:t>
            </a:r>
            <a:r>
              <a:rPr lang="en-GB" dirty="0"/>
              <a:t> prioritisation, and regular client feedback. With both of them combined, it means we stay organised but can adapt quickly.</a:t>
            </a:r>
          </a:p>
          <a:p>
            <a:r>
              <a:rPr lang="en-GB" dirty="0"/>
              <a:t>The </a:t>
            </a:r>
            <a:r>
              <a:rPr lang="en-GB" b="1" dirty="0"/>
              <a:t>business objectives</a:t>
            </a:r>
            <a:r>
              <a:rPr lang="en-GB" dirty="0"/>
              <a:t> are simple: to provide clear journey information, encourage people to buy tickets before boarding, and make sure the app is accessible to everyone.</a:t>
            </a:r>
          </a:p>
          <a:p>
            <a:r>
              <a:rPr lang="en-GB" dirty="0"/>
              <a:t>The </a:t>
            </a:r>
            <a:r>
              <a:rPr lang="en-GB" b="1" dirty="0"/>
              <a:t>project objectives</a:t>
            </a:r>
            <a:r>
              <a:rPr lang="en-GB" dirty="0"/>
              <a:t> are what we’re delivering in this module; a high‑fidelity prototype and all the project management artefacts; things like the business case, WBS, Gantt chart, risk and quality plans. </a:t>
            </a:r>
          </a:p>
          <a:p>
            <a:r>
              <a:rPr lang="en-GB" dirty="0"/>
              <a:t>In terms of </a:t>
            </a:r>
            <a:r>
              <a:rPr lang="en-GB" b="1" dirty="0"/>
              <a:t>scope</a:t>
            </a:r>
            <a:r>
              <a:rPr lang="en-GB" dirty="0"/>
              <a:t>, we’re keeping it focused on MVP features: routing from A to B, next‑bus times, ticket recommendations, and live updates. Payment integration and native apps are out of scope for now.</a:t>
            </a:r>
          </a:p>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3</a:t>
            </a:fld>
            <a:endParaRPr lang="en-GB"/>
          </a:p>
        </p:txBody>
      </p:sp>
    </p:spTree>
    <p:extLst>
      <p:ext uri="{BB962C8B-B14F-4D97-AF65-F5344CB8AC3E}">
        <p14:creationId xmlns:p14="http://schemas.microsoft.com/office/powerpoint/2010/main" val="1534783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Roles and responsibilities:</a:t>
            </a:r>
            <a:r>
              <a:rPr lang="en-GB" dirty="0"/>
              <a:t> Jack is our Project Manager, keeping the plan on track. Javani is the Sponsor, handling budget costs and approvals. Elekir is the Business Analyst, gathering requirements. I’m leading Quality Assurance, making sure accessibility and testing are covered. Our Designer handles wireframes and prototypes, the Risk Manager maintains the RAID log, and the Software Team looks at technical feasibility like APIs and hosting.</a:t>
            </a:r>
          </a:p>
          <a:p>
            <a:r>
              <a:rPr lang="en-GB" b="1" dirty="0"/>
              <a:t>Summary: </a:t>
            </a:r>
            <a:r>
              <a:rPr lang="en-GB" dirty="0"/>
              <a:t>Prince2 Agile gives us the framework, our objectives keep us focused, and our roles make sure every part of the project is covered.</a:t>
            </a:r>
          </a:p>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4</a:t>
            </a:fld>
            <a:endParaRPr lang="en-GB"/>
          </a:p>
        </p:txBody>
      </p:sp>
    </p:spTree>
    <p:extLst>
      <p:ext uri="{BB962C8B-B14F-4D97-AF65-F5344CB8AC3E}">
        <p14:creationId xmlns:p14="http://schemas.microsoft.com/office/powerpoint/2010/main" val="2725458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6B16D-2903-8BC8-754A-02EB2CDB5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FA4E4-81E2-CBC9-F8A3-AA7F49B8E4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95E3D-8E52-3EAB-16E7-EB92AE069F85}"/>
              </a:ext>
            </a:extLst>
          </p:cNvPr>
          <p:cNvSpPr>
            <a:spLocks noGrp="1"/>
          </p:cNvSpPr>
          <p:nvPr>
            <p:ph type="body" idx="1"/>
          </p:nvPr>
        </p:nvSpPr>
        <p:spPr/>
        <p:txBody>
          <a:bodyPr/>
          <a:lstStyle/>
          <a:p>
            <a:r>
              <a:rPr lang="en-GB" dirty="0"/>
              <a:t>As part of our Business Case, this slide shows our force field analysis for the SYB Journey Planner, where we scored the main forces pushing for and against the project. Overall, the forces for change total 19 and the forces against total 12, so the drivers for the project are noticeably stronger than the barriers.</a:t>
            </a:r>
          </a:p>
          <a:p>
            <a:endParaRPr lang="en-GB" dirty="0"/>
          </a:p>
          <a:p>
            <a:r>
              <a:rPr lang="en-GB" dirty="0"/>
              <a:t>On the left, the strongest drives are improved customer experience, alignment with existing operators like Stagecoach and First Bus, and meeting accessibility requirements.</a:t>
            </a:r>
          </a:p>
          <a:p>
            <a:endParaRPr lang="en-GB" dirty="0"/>
          </a:p>
          <a:p>
            <a:r>
              <a:rPr lang="en-GB" dirty="0"/>
              <a:t>We also expect practical benefits such as reduced boarding delays, lower enquiry volumes, and a more modern digital brand for SYB.</a:t>
            </a:r>
          </a:p>
          <a:p>
            <a:endParaRPr lang="en-GB" dirty="0"/>
          </a:p>
          <a:p>
            <a:r>
              <a:rPr lang="en-GB" dirty="0"/>
              <a:t>On the right, the main barriers are the fixed budget, a short delivery timeline, strong competition from established journey-planner apps, and uncertainty about who would own and maintain the system after launch.</a:t>
            </a:r>
          </a:p>
          <a:p>
            <a:endParaRPr lang="en-GB" dirty="0"/>
          </a:p>
          <a:p>
            <a:endParaRPr lang="en-GB" dirty="0"/>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C950B033-8C3D-ADB0-5DE1-9BDAEE0679FB}"/>
              </a:ext>
            </a:extLst>
          </p:cNvPr>
          <p:cNvSpPr>
            <a:spLocks noGrp="1"/>
          </p:cNvSpPr>
          <p:nvPr>
            <p:ph type="sldNum" sz="quarter" idx="5"/>
          </p:nvPr>
        </p:nvSpPr>
        <p:spPr/>
        <p:txBody>
          <a:bodyPr/>
          <a:lstStyle/>
          <a:p>
            <a:fld id="{4D7E95E9-FA28-469F-9CFA-6BC8B5BDD7BE}" type="slidenum">
              <a:rPr lang="en-GB" smtClean="0"/>
              <a:t>5</a:t>
            </a:fld>
            <a:endParaRPr lang="en-GB"/>
          </a:p>
        </p:txBody>
      </p:sp>
    </p:spTree>
    <p:extLst>
      <p:ext uri="{BB962C8B-B14F-4D97-AF65-F5344CB8AC3E}">
        <p14:creationId xmlns:p14="http://schemas.microsoft.com/office/powerpoint/2010/main" val="4203954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C4B8B-91FB-4B07-3766-26D697846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9AEA8-F60D-557E-80F3-9DA750859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FAE52-DA60-159A-877F-4D36F1326C7A}"/>
              </a:ext>
            </a:extLst>
          </p:cNvPr>
          <p:cNvSpPr>
            <a:spLocks noGrp="1"/>
          </p:cNvSpPr>
          <p:nvPr>
            <p:ph type="body" idx="1"/>
          </p:nvPr>
        </p:nvSpPr>
        <p:spPr/>
        <p:txBody>
          <a:bodyPr/>
          <a:lstStyle/>
          <a:p>
            <a:r>
              <a:rPr lang="en-GB" dirty="0"/>
              <a:t>As part of our Business Case, we followed PRINCE2 Agile guidance which says we should evaluate a range of delivery options before selecting the most appropriate solution.</a:t>
            </a:r>
          </a:p>
          <a:p>
            <a:endParaRPr lang="en-GB" dirty="0"/>
          </a:p>
          <a:p>
            <a:r>
              <a:rPr lang="en-GB" dirty="0"/>
              <a:t>We considered three options. The first was to ‘Do Nothing’, where SY Bus continues with the current system. There is no upfront cost, but it delivers no improvement to customer experience and accessibility. Making this not viable given the forces for change we identified.</a:t>
            </a:r>
          </a:p>
          <a:p>
            <a:endParaRPr lang="en-GB" dirty="0"/>
          </a:p>
          <a:p>
            <a:r>
              <a:rPr lang="en-GB" dirty="0"/>
              <a:t>The second was a ‘Minimal Enhancement’ which would add small UI updates, making this low-cost and low-effort. It does not address the core user needs such as live routing, ticket purchasing or alignment with partner operators. So, the client still faces the barriers we identified, particularly budget pressure and competition.</a:t>
            </a:r>
          </a:p>
          <a:p>
            <a:endParaRPr lang="en-GB" dirty="0"/>
          </a:p>
          <a:p>
            <a:r>
              <a:rPr lang="en-GB" dirty="0"/>
              <a:t>Our preferred option, which is what our project delivers, is the ‘Envisioned Solution – Journey Planner App’ featuring a Mobile-first Journey Planner application, High-Fidelity prototype and complete management artefacts. This option demonstrates feasibility and provides the client with concrete evidence. In Prince2 Agile terms, this is the right balance as we deliver real value at lower risk than committing fully to a product upfront, as well as remaining open to any feedback.</a:t>
            </a:r>
          </a:p>
          <a:p>
            <a:endParaRPr lang="en-GB" dirty="0"/>
          </a:p>
        </p:txBody>
      </p:sp>
      <p:sp>
        <p:nvSpPr>
          <p:cNvPr id="4" name="Slide Number Placeholder 3">
            <a:extLst>
              <a:ext uri="{FF2B5EF4-FFF2-40B4-BE49-F238E27FC236}">
                <a16:creationId xmlns:a16="http://schemas.microsoft.com/office/drawing/2014/main" id="{C8C4F69F-3EB9-30F4-0DC5-9DE54B8C5BDC}"/>
              </a:ext>
            </a:extLst>
          </p:cNvPr>
          <p:cNvSpPr>
            <a:spLocks noGrp="1"/>
          </p:cNvSpPr>
          <p:nvPr>
            <p:ph type="sldNum" sz="quarter" idx="5"/>
          </p:nvPr>
        </p:nvSpPr>
        <p:spPr/>
        <p:txBody>
          <a:bodyPr/>
          <a:lstStyle/>
          <a:p>
            <a:fld id="{4D7E95E9-FA28-469F-9CFA-6BC8B5BDD7BE}" type="slidenum">
              <a:rPr lang="en-GB" smtClean="0"/>
              <a:t>6</a:t>
            </a:fld>
            <a:endParaRPr lang="en-GB"/>
          </a:p>
        </p:txBody>
      </p:sp>
    </p:spTree>
    <p:extLst>
      <p:ext uri="{BB962C8B-B14F-4D97-AF65-F5344CB8AC3E}">
        <p14:creationId xmlns:p14="http://schemas.microsoft.com/office/powerpoint/2010/main" val="2842005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5C3BF-45E9-CCC3-7A30-DB220406E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1C4D3-F828-A974-F293-1BE23F98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72F6A-3BD0-6676-9628-EAB7D262C7F6}"/>
              </a:ext>
            </a:extLst>
          </p:cNvPr>
          <p:cNvSpPr>
            <a:spLocks noGrp="1"/>
          </p:cNvSpPr>
          <p:nvPr>
            <p:ph type="body" idx="1"/>
          </p:nvPr>
        </p:nvSpPr>
        <p:spPr/>
        <p:txBody>
          <a:bodyPr/>
          <a:lstStyle/>
          <a:p>
            <a:r>
              <a:rPr lang="en-GB" dirty="0"/>
              <a:t>Our Cost-benefit Appraisal goes over the potential Costs and Benefits of our project.</a:t>
            </a:r>
          </a:p>
          <a:p>
            <a:endParaRPr lang="en-GB" dirty="0"/>
          </a:p>
          <a:p>
            <a:r>
              <a:rPr lang="en-GB" dirty="0"/>
              <a:t>On Costs: The Initial development budget is £65,000 which the client approved. From Year 1 onwards, we have recurring costs for cloud hosting, the Transport API for mapping, and customer support. These total around £4-5,000 per year and grow with inflation.</a:t>
            </a:r>
          </a:p>
          <a:p>
            <a:endParaRPr lang="en-GB" dirty="0"/>
          </a:p>
          <a:p>
            <a:r>
              <a:rPr lang="en-GB" dirty="0"/>
              <a:t>On benefits: We projected two Revenue and Savings streams. For Revenue we decided ticket commissions of approximately £36,000 per year, based on 10,000 users purchasing tickets at 10% commission.  We also included a small operational saving of around £2000 from faster boarding due to the journey planner assisting passengers with deciding their route and their ticket in advance, drivers spend less time stationary potentially making annual savings from lower overtime/fuel.</a:t>
            </a:r>
          </a:p>
          <a:p>
            <a:endParaRPr lang="en-GB" dirty="0"/>
          </a:p>
          <a:p>
            <a:r>
              <a:rPr lang="en-GB" dirty="0"/>
              <a:t>Financial Outcome: Year 1 shows a loss of roughly £30,000 with the revenue from year 2 onwards exceeding costs. Over the full five-year period, the project generates just over £100,000 giving a strong positive return on the £65,000 budget.</a:t>
            </a:r>
          </a:p>
        </p:txBody>
      </p:sp>
      <p:sp>
        <p:nvSpPr>
          <p:cNvPr id="4" name="Slide Number Placeholder 3">
            <a:extLst>
              <a:ext uri="{FF2B5EF4-FFF2-40B4-BE49-F238E27FC236}">
                <a16:creationId xmlns:a16="http://schemas.microsoft.com/office/drawing/2014/main" id="{AC85B2DF-A161-16EA-90C3-03C8B3953315}"/>
              </a:ext>
            </a:extLst>
          </p:cNvPr>
          <p:cNvSpPr>
            <a:spLocks noGrp="1"/>
          </p:cNvSpPr>
          <p:nvPr>
            <p:ph type="sldNum" sz="quarter" idx="5"/>
          </p:nvPr>
        </p:nvSpPr>
        <p:spPr/>
        <p:txBody>
          <a:bodyPr/>
          <a:lstStyle/>
          <a:p>
            <a:fld id="{4D7E95E9-FA28-469F-9CFA-6BC8B5BDD7BE}" type="slidenum">
              <a:rPr lang="en-GB" smtClean="0"/>
              <a:t>7</a:t>
            </a:fld>
            <a:endParaRPr lang="en-GB"/>
          </a:p>
        </p:txBody>
      </p:sp>
    </p:spTree>
    <p:extLst>
      <p:ext uri="{BB962C8B-B14F-4D97-AF65-F5344CB8AC3E}">
        <p14:creationId xmlns:p14="http://schemas.microsoft.com/office/powerpoint/2010/main" val="1859858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 work</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breakdown structure (WBS) showing the work required</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to produce them.</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Intro</a:t>
            </a:r>
          </a:p>
          <a:p>
            <a:r>
              <a:rPr lang="en-GB" dirty="0"/>
              <a:t>* The </a:t>
            </a:r>
            <a:r>
              <a:rPr lang="en-GB" b="1" dirty="0"/>
              <a:t>Work Breakdown Structure (WBS)</a:t>
            </a:r>
            <a:r>
              <a:rPr lang="en-GB" dirty="0"/>
              <a:t> is the foundation of our project plan, defining the total scope of work required to achieve the project objectives.</a:t>
            </a:r>
          </a:p>
          <a:p>
            <a:br>
              <a:rPr lang="en-GB" dirty="0"/>
            </a:br>
            <a:endParaRPr lang="en-GB" dirty="0"/>
          </a:p>
          <a:p>
            <a:r>
              <a:rPr lang="en-GB" dirty="0"/>
              <a:t>* Our initial focus is on </a:t>
            </a:r>
            <a:r>
              <a:rPr lang="en-GB" b="1" dirty="0"/>
              <a:t>Project Planning</a:t>
            </a:r>
            <a:r>
              <a:rPr lang="en-GB" dirty="0"/>
              <a:t>, which establishes the roadmap for execution.</a:t>
            </a:r>
          </a:p>
          <a:p>
            <a:br>
              <a:rPr lang="en-GB" dirty="0"/>
            </a:br>
            <a:endParaRPr lang="en-GB" dirty="0"/>
          </a:p>
          <a:p>
            <a:pPr marL="171450" indent="-171450">
              <a:buFont typeface="Arial" panose="020B0604020202020204" pitchFamily="34" charset="0"/>
              <a:buChar char="•"/>
            </a:pPr>
            <a:r>
              <a:rPr lang="en-GB" dirty="0"/>
              <a:t>This phase ensures we have clear </a:t>
            </a:r>
            <a:r>
              <a:rPr lang="en-GB" b="1" dirty="0"/>
              <a:t>objectives</a:t>
            </a:r>
            <a:r>
              <a:rPr lang="en-GB" dirty="0"/>
              <a:t>, measurable </a:t>
            </a:r>
            <a:r>
              <a:rPr lang="en-GB" b="1" dirty="0"/>
              <a:t>deliverables</a:t>
            </a:r>
            <a:r>
              <a:rPr lang="en-GB" dirty="0"/>
              <a:t>, and well-defined </a:t>
            </a:r>
            <a:r>
              <a:rPr lang="en-GB" b="1" dirty="0"/>
              <a:t>processes</a:t>
            </a:r>
            <a:r>
              <a:rPr lang="en-GB" dirty="0"/>
              <a:t> before development begins</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r>
              <a:rPr lang="en-GB" dirty="0"/>
              <a:t>Work package </a:t>
            </a:r>
          </a:p>
          <a:p>
            <a:r>
              <a:rPr lang="en-GB" b="1" dirty="0"/>
              <a:t>Measurable Output:</a:t>
            </a:r>
            <a:r>
              <a:rPr lang="en-GB" dirty="0"/>
              <a:t> They are the smallest, specific, and manageable pieces of work that result in a defined </a:t>
            </a:r>
            <a:r>
              <a:rPr lang="en-GB" b="1" dirty="0"/>
              <a:t>deliverable</a:t>
            </a:r>
            <a:r>
              <a:rPr lang="en-GB" dirty="0"/>
              <a:t> or product (e.g., 'GANTT Chart', 'Wireframe', 'Source Code').</a:t>
            </a:r>
          </a:p>
          <a:p>
            <a:r>
              <a:rPr lang="en-GB" b="1" dirty="0"/>
              <a:t>Estimation &amp; Assignment:</a:t>
            </a:r>
            <a:r>
              <a:rPr lang="en-GB" dirty="0"/>
              <a:t> At this level, it is possible to accurately estimate the </a:t>
            </a:r>
            <a:r>
              <a:rPr lang="en-GB" b="1" dirty="0"/>
              <a:t>cost, duration, and resources</a:t>
            </a:r>
            <a:r>
              <a:rPr lang="en-GB" dirty="0"/>
              <a:t> needed, and assign the work to a specific individual or team.</a:t>
            </a:r>
          </a:p>
          <a:p>
            <a:r>
              <a:rPr lang="en-GB" b="1" dirty="0"/>
              <a:t>Control Point:</a:t>
            </a:r>
            <a:r>
              <a:rPr lang="en-GB" dirty="0"/>
              <a:t> All </a:t>
            </a:r>
            <a:r>
              <a:rPr lang="en-GB" b="1" dirty="0"/>
              <a:t>progress tracking</a:t>
            </a:r>
            <a:r>
              <a:rPr lang="en-GB" dirty="0"/>
              <a:t> and </a:t>
            </a:r>
            <a:r>
              <a:rPr lang="en-GB" b="1" dirty="0"/>
              <a:t>earned value calculations</a:t>
            </a:r>
            <a:r>
              <a:rPr lang="en-GB" dirty="0"/>
              <a:t> happen at the Work Package level.</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r>
              <a:rPr lang="en-GB" dirty="0"/>
              <a:t>Workflow</a:t>
            </a:r>
          </a:p>
          <a:p>
            <a:r>
              <a:rPr lang="en-GB" dirty="0"/>
              <a:t>The WBS logically follows the project lifecycle, starting with </a:t>
            </a:r>
            <a:r>
              <a:rPr lang="en-GB" b="1" dirty="0"/>
              <a:t>1.1 Project management</a:t>
            </a:r>
            <a:r>
              <a:rPr lang="en-GB" dirty="0"/>
              <a:t> (Planning/Definition) and moving through </a:t>
            </a:r>
            <a:r>
              <a:rPr lang="en-GB" b="1" dirty="0"/>
              <a:t>1.2 Development</a:t>
            </a:r>
            <a:r>
              <a:rPr lang="en-GB" dirty="0"/>
              <a:t> and </a:t>
            </a:r>
            <a:r>
              <a:rPr lang="en-GB" b="1" dirty="0"/>
              <a:t>1.3 Infrastructure</a:t>
            </a:r>
            <a:r>
              <a:rPr lang="en-GB" dirty="0"/>
              <a:t>, before concluding with </a:t>
            </a:r>
            <a:r>
              <a:rPr lang="en-GB" b="1" dirty="0"/>
              <a:t>1.4 Deliverables</a:t>
            </a:r>
            <a:r>
              <a:rPr lang="en-GB" dirty="0"/>
              <a:t> (Testing/Deployment) and </a:t>
            </a:r>
            <a:r>
              <a:rPr lang="en-GB" b="1" dirty="0"/>
              <a:t>1.5 Handover &amp; Closure</a:t>
            </a:r>
            <a:r>
              <a:rPr lang="en-GB" dirty="0"/>
              <a:t>.</a:t>
            </a:r>
          </a:p>
          <a:p>
            <a:r>
              <a:rPr lang="en-GB" b="1" dirty="0"/>
              <a:t>Inputs and Outputs:</a:t>
            </a:r>
            <a:r>
              <a:rPr lang="en-GB" dirty="0"/>
              <a:t> Completion of early work packages (e.g., 'Business Case' in 1.1) provides the necessary </a:t>
            </a:r>
            <a:r>
              <a:rPr lang="en-GB" b="1" dirty="0"/>
              <a:t>inputs</a:t>
            </a:r>
            <a:r>
              <a:rPr lang="en-GB" dirty="0"/>
              <a:t> for subsequent work packages (e.g., 'High-fidelity Prototype' in 1.2).</a:t>
            </a:r>
          </a:p>
          <a:p>
            <a:r>
              <a:rPr lang="en-GB" b="1" dirty="0"/>
              <a:t>Progressive Elaboration:</a:t>
            </a:r>
            <a:r>
              <a:rPr lang="en-GB" dirty="0"/>
              <a:t> The WBS moves from high-level deliverables (top) to detailed tasks (bottom), allowing for </a:t>
            </a:r>
            <a:r>
              <a:rPr lang="en-GB" b="1" dirty="0"/>
              <a:t>progressive elaboration</a:t>
            </a:r>
            <a:r>
              <a:rPr lang="en-GB" dirty="0"/>
              <a:t> as the project moves forward and more is learned.</a:t>
            </a:r>
          </a:p>
          <a:p>
            <a:pPr marL="171450" indent="-171450">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8</a:t>
            </a:fld>
            <a:endParaRPr lang="en-GB"/>
          </a:p>
        </p:txBody>
      </p:sp>
    </p:spTree>
    <p:extLst>
      <p:ext uri="{BB962C8B-B14F-4D97-AF65-F5344CB8AC3E}">
        <p14:creationId xmlns:p14="http://schemas.microsoft.com/office/powerpoint/2010/main" val="405212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Intro:</a:t>
            </a:r>
            <a:r>
              <a:rPr lang="en-GB" dirty="0"/>
              <a:t> "The Gantt Chart is our primary tool for </a:t>
            </a:r>
            <a:r>
              <a:rPr lang="en-GB" b="1" dirty="0"/>
              <a:t>scheduling and tracking</a:t>
            </a:r>
            <a:r>
              <a:rPr lang="en-GB" dirty="0"/>
              <a:t> the execution phase. It converts our WBS tasks into a dynamic, manageable timeline."</a:t>
            </a:r>
          </a:p>
          <a:p>
            <a:r>
              <a:rPr lang="en-GB" b="1" dirty="0"/>
              <a:t>Schedule &amp; Duration:</a:t>
            </a:r>
            <a:r>
              <a:rPr lang="en-GB" dirty="0"/>
              <a:t> "The chart's visual layout allows stakeholders to see the </a:t>
            </a:r>
            <a:r>
              <a:rPr lang="en-GB" b="1" dirty="0"/>
              <a:t>entire project duration at a glance</a:t>
            </a:r>
            <a:r>
              <a:rPr lang="en-GB" dirty="0"/>
              <a:t>. The length of each bar is a direct representation of the effort and time allocated, as determined by our </a:t>
            </a:r>
            <a:r>
              <a:rPr lang="en-GB" b="1" dirty="0"/>
              <a:t>COCOMO</a:t>
            </a:r>
            <a:r>
              <a:rPr lang="en-GB" dirty="0"/>
              <a:t> estimates."</a:t>
            </a:r>
          </a:p>
          <a:p>
            <a:r>
              <a:rPr lang="en-GB" b="1" dirty="0"/>
              <a:t>Dependencies:</a:t>
            </a:r>
            <a:r>
              <a:rPr lang="en-GB" dirty="0"/>
              <a:t> "Dependencies are crucial. For example, the </a:t>
            </a:r>
            <a:r>
              <a:rPr lang="en-GB" b="1" dirty="0"/>
              <a:t>UI Development</a:t>
            </a:r>
            <a:r>
              <a:rPr lang="en-GB" dirty="0"/>
              <a:t> cannot begin until the </a:t>
            </a:r>
            <a:r>
              <a:rPr lang="en-GB" b="1" dirty="0"/>
              <a:t>Wireframe Sign-off</a:t>
            </a:r>
            <a:r>
              <a:rPr lang="en-GB" dirty="0"/>
              <a:t> is complete. This visual link ensures we don't start work prematurely, which is a common cause of project delays."</a:t>
            </a:r>
          </a:p>
          <a:p>
            <a:r>
              <a:rPr lang="en-GB" b="1" dirty="0"/>
              <a:t>Milestones &amp; Critical Path:</a:t>
            </a:r>
            <a:r>
              <a:rPr lang="en-GB" dirty="0"/>
              <a:t> "We mark major accomplishments, such as </a:t>
            </a:r>
            <a:r>
              <a:rPr lang="en-GB" b="1" dirty="0"/>
              <a:t>'Prototype Sign-off'</a:t>
            </a:r>
            <a:r>
              <a:rPr lang="en-GB" dirty="0"/>
              <a:t>, as </a:t>
            </a:r>
            <a:r>
              <a:rPr lang="en-GB" b="1" dirty="0"/>
              <a:t>Milestones</a:t>
            </a:r>
            <a:r>
              <a:rPr lang="en-GB" dirty="0"/>
              <a:t> (often shown as diamonds) to keep everyone focused on key deadlines. Most importantly, the Gantt chart clearly identifies the </a:t>
            </a:r>
            <a:r>
              <a:rPr lang="en-GB" b="1" dirty="0"/>
              <a:t>Critical Path</a:t>
            </a:r>
            <a:r>
              <a:rPr lang="en-GB" dirty="0"/>
              <a:t>. Any delay on a critical path task will immediately delay the entire project completion date."</a:t>
            </a:r>
          </a:p>
          <a:p>
            <a:r>
              <a:rPr lang="en-GB" b="1" dirty="0"/>
              <a:t>Monitoring:</a:t>
            </a:r>
            <a:r>
              <a:rPr lang="en-GB" dirty="0"/>
              <a:t> "This chart acts as a </a:t>
            </a:r>
            <a:r>
              <a:rPr lang="en-GB" b="1" dirty="0"/>
              <a:t>control tool</a:t>
            </a:r>
            <a:r>
              <a:rPr lang="en-GB" dirty="0"/>
              <a:t>, allowing us to compare </a:t>
            </a:r>
            <a:r>
              <a:rPr lang="en-GB" b="1" dirty="0"/>
              <a:t>Planned vs. Actual</a:t>
            </a:r>
            <a:r>
              <a:rPr lang="en-GB" dirty="0"/>
              <a:t> progress in real-time, enabling prompt corrective action when we fall behind schedule."</a:t>
            </a:r>
          </a:p>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9</a:t>
            </a:fld>
            <a:endParaRPr lang="en-GB"/>
          </a:p>
        </p:txBody>
      </p:sp>
    </p:spTree>
    <p:extLst>
      <p:ext uri="{BB962C8B-B14F-4D97-AF65-F5344CB8AC3E}">
        <p14:creationId xmlns:p14="http://schemas.microsoft.com/office/powerpoint/2010/main" val="3909347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10</a:t>
            </a:fld>
            <a:endParaRPr lang="en-GB"/>
          </a:p>
        </p:txBody>
      </p:sp>
    </p:spTree>
    <p:extLst>
      <p:ext uri="{BB962C8B-B14F-4D97-AF65-F5344CB8AC3E}">
        <p14:creationId xmlns:p14="http://schemas.microsoft.com/office/powerpoint/2010/main" val="1113934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b="1" dirty="0">
                <a:effectLst/>
              </a:rPr>
              <a:t>Introduction:</a:t>
            </a:r>
            <a:r>
              <a:rPr lang="en-GB" dirty="0">
                <a:effectLst/>
              </a:rPr>
              <a:t> "This slide shows the </a:t>
            </a:r>
            <a:r>
              <a:rPr lang="en-GB" b="1" dirty="0">
                <a:effectLst/>
              </a:rPr>
              <a:t>quantitative backbone</a:t>
            </a:r>
            <a:r>
              <a:rPr lang="en-GB" dirty="0">
                <a:effectLst/>
              </a:rPr>
              <a:t> of our project plan. We used the </a:t>
            </a:r>
            <a:r>
              <a:rPr lang="en-GB" b="1" dirty="0">
                <a:effectLst/>
              </a:rPr>
              <a:t>COCOMO II</a:t>
            </a:r>
            <a:r>
              <a:rPr lang="en-GB" dirty="0">
                <a:effectLst/>
              </a:rPr>
              <a:t> model to move beyond guesswork and establish objective estimates for our effort and schedule."</a:t>
            </a:r>
          </a:p>
          <a:p>
            <a:pPr rtl="0"/>
            <a:r>
              <a:rPr lang="en-GB" b="1" dirty="0">
                <a:effectLst/>
              </a:rPr>
              <a:t>Core Results:</a:t>
            </a:r>
            <a:r>
              <a:rPr lang="en-GB" dirty="0">
                <a:effectLst/>
              </a:rPr>
              <a:t> "The primary outputs are </a:t>
            </a:r>
            <a:r>
              <a:rPr lang="en-GB" b="1" dirty="0">
                <a:effectLst/>
              </a:rPr>
              <a:t>2.3 Person-Months</a:t>
            </a:r>
            <a:r>
              <a:rPr lang="en-GB" dirty="0">
                <a:effectLst/>
              </a:rPr>
              <a:t> of total effort and a </a:t>
            </a:r>
            <a:r>
              <a:rPr lang="en-GB" b="1" dirty="0">
                <a:effectLst/>
              </a:rPr>
              <a:t>3.1-month schedule</a:t>
            </a:r>
            <a:r>
              <a:rPr lang="en-GB" dirty="0">
                <a:effectLst/>
              </a:rPr>
              <a:t>. This indicates that given the project's small size (8448 SLOC), we are looking at a tightly scheduled, focused development effort."</a:t>
            </a:r>
          </a:p>
          <a:p>
            <a:pPr rtl="0"/>
            <a:r>
              <a:rPr lang="en-GB" b="1" dirty="0">
                <a:effectLst/>
              </a:rPr>
              <a:t>Phase Distribution:</a:t>
            </a:r>
            <a:r>
              <a:rPr lang="en-GB" dirty="0">
                <a:effectLst/>
              </a:rPr>
              <a:t> "Looking at the breakdown, the majority of the work (74%) is concentrated in the </a:t>
            </a:r>
            <a:r>
              <a:rPr lang="en-GB" b="1" dirty="0">
                <a:effectLst/>
              </a:rPr>
              <a:t>Construction phase</a:t>
            </a:r>
            <a:r>
              <a:rPr lang="en-GB" dirty="0">
                <a:effectLst/>
              </a:rPr>
              <a:t> (1.7 PMs), which is where the coding and core feature implementation of the 'SYB Journey Planner' will occur. This tells us exactly when we need our core development team to be fully engaged."</a:t>
            </a:r>
          </a:p>
          <a:p>
            <a:pPr rtl="0"/>
            <a:r>
              <a:rPr lang="en-GB" b="1" dirty="0">
                <a:effectLst/>
              </a:rPr>
              <a:t>Planning Impact:</a:t>
            </a:r>
            <a:r>
              <a:rPr lang="en-GB" dirty="0">
                <a:effectLst/>
              </a:rPr>
              <a:t> "The </a:t>
            </a:r>
            <a:r>
              <a:rPr lang="en-GB" b="1" dirty="0">
                <a:effectLst/>
              </a:rPr>
              <a:t>3.1-month schedule</a:t>
            </a:r>
            <a:r>
              <a:rPr lang="en-GB" dirty="0">
                <a:effectLst/>
              </a:rPr>
              <a:t> is the key input for our overall project timeline and the high-level bar on the GANTT Chart. The required effort of </a:t>
            </a:r>
            <a:r>
              <a:rPr lang="en-GB" b="1" dirty="0">
                <a:effectLst/>
              </a:rPr>
              <a:t>2.3 Person-Months</a:t>
            </a:r>
            <a:r>
              <a:rPr lang="en-GB" dirty="0">
                <a:effectLst/>
              </a:rPr>
              <a:t> helps us determine the optimal team size needed to meet that 3.1-month deadline without causing resource burnout."</a:t>
            </a:r>
          </a:p>
          <a:p>
            <a:pPr rtl="0"/>
            <a:r>
              <a:rPr lang="en-GB" b="1" dirty="0">
                <a:effectLst/>
              </a:rPr>
              <a:t>Conclusion:</a:t>
            </a:r>
            <a:r>
              <a:rPr lang="en-GB" dirty="0">
                <a:effectLst/>
              </a:rPr>
              <a:t> "By leveraging COCOMO II, we ensure our schedule and cost estimates are grounded in industry-tested metrics related to the size and complexity of the software."</a:t>
            </a:r>
          </a:p>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11</a:t>
            </a:fld>
            <a:endParaRPr lang="en-GB"/>
          </a:p>
        </p:txBody>
      </p:sp>
    </p:spTree>
    <p:extLst>
      <p:ext uri="{BB962C8B-B14F-4D97-AF65-F5344CB8AC3E}">
        <p14:creationId xmlns:p14="http://schemas.microsoft.com/office/powerpoint/2010/main" val="874668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 this right-hand side of this slide, you can see the Risk Register. This is a list of our identified risks to the project. For each risk we assigned a unique ID, a description for the risk so that you know what the actual risk is, a probability value for how likely the risk is to occur, an impact value for how much damage it would cause to the project if that risk were to become a reality, a category which helps stress how much of a problem the risk poses and therefore how much focus it should have and finally a response for each risk such as attempting to reduce the likelihood of the risk, avoid the risk, transfer the risk elsewhere, creating a contingency plan for the risk or accepting that the risk exists and essentially leaving that risk unchecked/not tackling the risk.</a:t>
            </a:r>
          </a:p>
          <a:p>
            <a:endParaRPr lang="en-GB" dirty="0"/>
          </a:p>
          <a:p>
            <a:r>
              <a:rPr lang="en-GB" dirty="0"/>
              <a:t>The highest priority risks for the project are Scope Creep and Communication Issues. To tackle these risks, it involves attempts to reduce the likelihood of them occurring. For Scope Creep, we would evaluate what is currently in the scope and approve or reject changes based on how much they’d cause a scope creep issue. For Communication Issues, the way to reduce the likelihood is through maintaining open communication between team members and with the client.</a:t>
            </a:r>
          </a:p>
          <a:p>
            <a:endParaRPr lang="en-GB" dirty="0"/>
          </a:p>
          <a:p>
            <a:r>
              <a:rPr lang="en-GB" dirty="0"/>
              <a:t>The lowest risks were Vague Information regarding requirements and Acts of Nature. To tackle vague information, we simply have to reduce the risk by seeking  clarification for the requirements. For the acts of nature, it is even simpler – we just accept that there’s nothing we can do to prevent any complications as we are not able to control storms or earthquakes etc.</a:t>
            </a:r>
          </a:p>
        </p:txBody>
      </p:sp>
      <p:sp>
        <p:nvSpPr>
          <p:cNvPr id="4" name="Slide Number Placeholder 3"/>
          <p:cNvSpPr>
            <a:spLocks noGrp="1"/>
          </p:cNvSpPr>
          <p:nvPr>
            <p:ph type="sldNum" sz="quarter" idx="5"/>
          </p:nvPr>
        </p:nvSpPr>
        <p:spPr/>
        <p:txBody>
          <a:bodyPr/>
          <a:lstStyle/>
          <a:p>
            <a:fld id="{4D7E95E9-FA28-469F-9CFA-6BC8B5BDD7BE}" type="slidenum">
              <a:rPr lang="en-GB" smtClean="0"/>
              <a:t>12</a:t>
            </a:fld>
            <a:endParaRPr lang="en-GB"/>
          </a:p>
        </p:txBody>
      </p:sp>
    </p:spTree>
    <p:extLst>
      <p:ext uri="{BB962C8B-B14F-4D97-AF65-F5344CB8AC3E}">
        <p14:creationId xmlns:p14="http://schemas.microsoft.com/office/powerpoint/2010/main" val="2903329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next two slides are directly related to the risk register, so I will try not to repeat what we’ve just discussed and instead summarise what the artefacts do with the risks we registered. On this slide you can see the Risk Map which was created for this project. It categorises the identified risks from the previous slide (the ones in risk register, in order sorted by their ID) based on their likelihood of occurring and the impact which they’d have on the project.</a:t>
            </a:r>
          </a:p>
          <a:p>
            <a:endParaRPr lang="en-GB" dirty="0"/>
          </a:p>
          <a:p>
            <a:r>
              <a:rPr lang="en-GB" dirty="0"/>
              <a:t>We also add a Rating value to each risk and these ratings go up in severity so 0 or 1 is on the lower end and in our case 15 or above are the higher risks.</a:t>
            </a:r>
          </a:p>
          <a:p>
            <a:endParaRPr lang="en-GB" dirty="0"/>
          </a:p>
          <a:p>
            <a:r>
              <a:rPr lang="en-GB" dirty="0"/>
              <a:t>The purpose of the risk map is to allow us to quickly see where the threats to the project lie and therefore be able to put our focus where it is most required. </a:t>
            </a:r>
          </a:p>
        </p:txBody>
      </p:sp>
      <p:sp>
        <p:nvSpPr>
          <p:cNvPr id="4" name="Slide Number Placeholder 3"/>
          <p:cNvSpPr>
            <a:spLocks noGrp="1"/>
          </p:cNvSpPr>
          <p:nvPr>
            <p:ph type="sldNum" sz="quarter" idx="5"/>
          </p:nvPr>
        </p:nvSpPr>
        <p:spPr/>
        <p:txBody>
          <a:bodyPr/>
          <a:lstStyle/>
          <a:p>
            <a:fld id="{4D7E95E9-FA28-469F-9CFA-6BC8B5BDD7BE}" type="slidenum">
              <a:rPr lang="en-GB" smtClean="0"/>
              <a:t>13</a:t>
            </a:fld>
            <a:endParaRPr lang="en-GB"/>
          </a:p>
        </p:txBody>
      </p:sp>
    </p:spTree>
    <p:extLst>
      <p:ext uri="{BB962C8B-B14F-4D97-AF65-F5344CB8AC3E}">
        <p14:creationId xmlns:p14="http://schemas.microsoft.com/office/powerpoint/2010/main" val="2800139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final artefact as part of the Risk Management Plan is the RAID Log. This expands on the identified risks from the Risk Register into higher detail. This is done by assigning a RAID Category to each risk which can be either Risk, Actions/Assumptions, Issues or Decisions/Dependency. We also assign an owner to each identified risk – the owner is a member of the team within the project. In addition to the owner, we also assign a priority value for how urgent the risk is based on all factors we’ve discussed, and they can then be assigned a risk priority number to order them accordingly. Finally, there is the Status value which is updated according to any developments when dealing with the risk.</a:t>
            </a:r>
          </a:p>
          <a:p>
            <a:endParaRPr lang="en-GB" dirty="0"/>
          </a:p>
          <a:p>
            <a:r>
              <a:rPr lang="en-GB" dirty="0"/>
              <a:t>There are no issues within this RAID Log and this is because an issue would be any risk which has progressed from a potential risk to an actual threat occurring because of that risk becoming reality.</a:t>
            </a:r>
          </a:p>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14</a:t>
            </a:fld>
            <a:endParaRPr lang="en-GB"/>
          </a:p>
        </p:txBody>
      </p:sp>
    </p:spTree>
    <p:extLst>
      <p:ext uri="{BB962C8B-B14F-4D97-AF65-F5344CB8AC3E}">
        <p14:creationId xmlns:p14="http://schemas.microsoft.com/office/powerpoint/2010/main" val="2541762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Intro:</a:t>
            </a:r>
            <a:r>
              <a:rPr lang="en-GB" dirty="0"/>
              <a:t> "Effective project execution starts with knowing what to build first. We used the </a:t>
            </a:r>
            <a:r>
              <a:rPr lang="en-GB" b="1" dirty="0" err="1"/>
              <a:t>MoSCoW</a:t>
            </a:r>
            <a:r>
              <a:rPr lang="en-GB" b="1" dirty="0"/>
              <a:t> technique</a:t>
            </a:r>
            <a:r>
              <a:rPr lang="en-GB" dirty="0"/>
              <a:t> to give clear priorities to the functional requirements for the 'SYB Journey Planner' system."</a:t>
            </a:r>
          </a:p>
          <a:p>
            <a:r>
              <a:rPr lang="en-GB" b="1" dirty="0"/>
              <a:t>Categories:</a:t>
            </a:r>
            <a:r>
              <a:rPr lang="en-GB" dirty="0"/>
              <a:t> "The technique is essential for managing scope creep and delivering a viable product on time. We commit to delivering all the </a:t>
            </a:r>
            <a:r>
              <a:rPr lang="en-GB" b="1" dirty="0"/>
              <a:t>'Must haves'</a:t>
            </a:r>
            <a:r>
              <a:rPr lang="en-GB" dirty="0"/>
              <a:t>. If a Must Have is compromised, the project objectives cannot be met."</a:t>
            </a:r>
          </a:p>
          <a:p>
            <a:r>
              <a:rPr lang="en-GB" b="1" dirty="0"/>
              <a:t>Must Haves Examples:</a:t>
            </a:r>
            <a:r>
              <a:rPr lang="en-GB" dirty="0"/>
              <a:t> "As shown in the table, examples of </a:t>
            </a:r>
            <a:r>
              <a:rPr lang="en-GB" b="1" dirty="0"/>
              <a:t>Must Haves</a:t>
            </a:r>
            <a:r>
              <a:rPr lang="en-GB" dirty="0"/>
              <a:t> are fundamental features like </a:t>
            </a:r>
            <a:r>
              <a:rPr lang="en-GB" b="1" dirty="0"/>
              <a:t>calculating available bus routes</a:t>
            </a:r>
            <a:r>
              <a:rPr lang="en-GB" dirty="0"/>
              <a:t> (FR04) and using the user's location to list nearby bus stops (FR05/FR06). These are non-negotiable for a functioning journey planner."</a:t>
            </a:r>
          </a:p>
          <a:p>
            <a:r>
              <a:rPr lang="en-GB" b="1" dirty="0"/>
              <a:t>Should Haves Examples:</a:t>
            </a:r>
            <a:r>
              <a:rPr lang="en-GB" dirty="0"/>
              <a:t> "</a:t>
            </a:r>
            <a:r>
              <a:rPr lang="en-GB" b="1" dirty="0"/>
              <a:t>Should Haves</a:t>
            </a:r>
            <a:r>
              <a:rPr lang="en-GB" dirty="0"/>
              <a:t>, like allowing the user to search by departure time (FR02) or zoom/pan (FR09), are important for a good experience but can be delivered in a subsequent release if necessary."</a:t>
            </a:r>
          </a:p>
          <a:p>
            <a:r>
              <a:rPr lang="en-GB" b="1" dirty="0"/>
              <a:t>Impact:</a:t>
            </a:r>
            <a:r>
              <a:rPr lang="en-GB" dirty="0"/>
              <a:t> "By prioritizing this way, we ensure our limited time and effort (as estimated by COCOMO) is spent only on the features that provide the highest value and ensure the project's critical objectives are met on schedule."</a:t>
            </a:r>
          </a:p>
          <a:p>
            <a:endParaRPr lang="en-GB" dirty="0"/>
          </a:p>
        </p:txBody>
      </p:sp>
      <p:sp>
        <p:nvSpPr>
          <p:cNvPr id="4" name="Slide Number Placeholder 3"/>
          <p:cNvSpPr>
            <a:spLocks noGrp="1"/>
          </p:cNvSpPr>
          <p:nvPr>
            <p:ph type="sldNum" sz="quarter" idx="5"/>
          </p:nvPr>
        </p:nvSpPr>
        <p:spPr/>
        <p:txBody>
          <a:bodyPr/>
          <a:lstStyle/>
          <a:p>
            <a:fld id="{4D7E95E9-FA28-469F-9CFA-6BC8B5BDD7BE}" type="slidenum">
              <a:rPr lang="en-GB" smtClean="0"/>
              <a:t>16</a:t>
            </a:fld>
            <a:endParaRPr lang="en-GB"/>
          </a:p>
        </p:txBody>
      </p:sp>
    </p:spTree>
    <p:extLst>
      <p:ext uri="{BB962C8B-B14F-4D97-AF65-F5344CB8AC3E}">
        <p14:creationId xmlns:p14="http://schemas.microsoft.com/office/powerpoint/2010/main" val="2394143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487364-6656-4621-B013-758523783C72}"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9255346" y="2750337"/>
            <a:ext cx="1171888" cy="1356442"/>
          </a:xfrm>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1986812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487364-6656-4621-B013-758523783C72}"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44901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487364-6656-4621-B013-758523783C72}"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729455" y="2869895"/>
            <a:ext cx="1154151" cy="1090789"/>
          </a:xfrm>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2118453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487364-6656-4621-B013-758523783C72}"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4279878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487364-6656-4621-B013-758523783C72}" type="datetimeFigureOut">
              <a:rPr lang="en-GB" smtClean="0"/>
              <a:t>10/12/2025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1435120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487364-6656-4621-B013-758523783C72}" type="datetimeFigureOut">
              <a:rPr lang="en-GB" smtClean="0"/>
              <a:t>10/12/2025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4231908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Date Placeholder 1"/>
          <p:cNvSpPr>
            <a:spLocks noGrp="1"/>
          </p:cNvSpPr>
          <p:nvPr>
            <p:ph type="dt" sz="half" idx="10"/>
          </p:nvPr>
        </p:nvSpPr>
        <p:spPr/>
        <p:txBody>
          <a:bodyPr/>
          <a:lstStyle/>
          <a:p>
            <a:fld id="{A8487364-6656-4621-B013-758523783C72}" type="datetimeFigureOut">
              <a:rPr lang="en-GB" smtClean="0"/>
              <a:t>10/12/2025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2040380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87364-6656-4621-B013-758523783C72}"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3407388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87364-6656-4621-B013-758523783C72}"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2225021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87364-6656-4621-B013-758523783C72}"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309"/>
            <a:ext cx="1154151" cy="1090789"/>
          </a:xfrm>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3778955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87364-6656-4621-B013-758523783C72}"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615"/>
            <a:ext cx="1154151" cy="1090789"/>
          </a:xfrm>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2918137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87364-6656-4621-B013-758523783C72}"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fld id="{28075DBD-45A7-42A0-945E-1B9EB262924A}" type="slidenum">
              <a:rPr lang="en-GB" smtClean="0"/>
              <a:t>‹#›</a:t>
            </a:fld>
            <a:endParaRPr lang="en-GB"/>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722263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87364-6656-4621-B013-758523783C72}"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3501489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487364-6656-4621-B013-758523783C72}" type="datetimeFigureOut">
              <a:rPr lang="en-GB" smtClean="0"/>
              <a:t>10/12/2025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2138009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487364-6656-4621-B013-758523783C72}" type="datetimeFigureOut">
              <a:rPr lang="en-GB" smtClean="0"/>
              <a:t>10/12/2025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58524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487364-6656-4621-B013-758523783C72}"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075DBD-45A7-42A0-945E-1B9EB262924A}" type="slidenum">
              <a:rPr lang="en-GB" smtClean="0"/>
              <a:t>‹#›</a:t>
            </a:fld>
            <a:endParaRPr lang="en-GB"/>
          </a:p>
        </p:txBody>
      </p:sp>
    </p:spTree>
    <p:extLst>
      <p:ext uri="{BB962C8B-B14F-4D97-AF65-F5344CB8AC3E}">
        <p14:creationId xmlns:p14="http://schemas.microsoft.com/office/powerpoint/2010/main" val="1796729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A8487364-6656-4621-B013-758523783C72}" type="datetimeFigureOut">
              <a:rPr lang="en-GB" smtClean="0"/>
              <a:t>10/12/2025</a:t>
            </a:fld>
            <a:endParaRPr lang="en-GB"/>
          </a:p>
        </p:txBody>
      </p:sp>
      <p:sp>
        <p:nvSpPr>
          <p:cNvPr id="5" name="Footer Placeholder 4"/>
          <p:cNvSpPr>
            <a:spLocks noGrp="1"/>
          </p:cNvSpPr>
          <p:nvPr>
            <p:ph type="ftr" sz="quarter" idx="11"/>
          </p:nvPr>
        </p:nvSpPr>
        <p:spPr>
          <a:xfrm>
            <a:off x="680321" y="5936188"/>
            <a:ext cx="6126805" cy="365125"/>
          </a:xfrm>
        </p:spPr>
        <p:txBody>
          <a:bodyPr/>
          <a:lstStyle/>
          <a:p>
            <a:endParaRPr lang="en-GB"/>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8075DBD-45A7-42A0-945E-1B9EB262924A}" type="slidenum">
              <a:rPr lang="en-GB" smtClean="0"/>
              <a:t>‹#›</a:t>
            </a:fld>
            <a:endParaRPr lang="en-GB"/>
          </a:p>
        </p:txBody>
      </p:sp>
    </p:spTree>
    <p:extLst>
      <p:ext uri="{BB962C8B-B14F-4D97-AF65-F5344CB8AC3E}">
        <p14:creationId xmlns:p14="http://schemas.microsoft.com/office/powerpoint/2010/main" val="42315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8487364-6656-4621-B013-758523783C72}" type="datetimeFigureOut">
              <a:rPr lang="en-GB" smtClean="0"/>
              <a:t>10/12/2025</a:t>
            </a:fld>
            <a:endParaRPr lang="en-GB"/>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8075DBD-45A7-42A0-945E-1B9EB262924A}" type="slidenum">
              <a:rPr lang="en-GB" smtClean="0"/>
              <a:t>‹#›</a:t>
            </a:fld>
            <a:endParaRPr lang="en-GB"/>
          </a:p>
        </p:txBody>
      </p:sp>
    </p:spTree>
    <p:extLst>
      <p:ext uri="{BB962C8B-B14F-4D97-AF65-F5344CB8AC3E}">
        <p14:creationId xmlns:p14="http://schemas.microsoft.com/office/powerpoint/2010/main" val="1838047654"/>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png"/><Relationship Id="rId7" Type="http://schemas.openxmlformats.org/officeDocument/2006/relationships/diagramLayout" Target="../diagrams/layout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3.png"/><Relationship Id="rId10" Type="http://schemas.microsoft.com/office/2007/relationships/diagramDrawing" Target="../diagrams/drawing1.xml"/><Relationship Id="rId4" Type="http://schemas.openxmlformats.org/officeDocument/2006/relationships/image" Target="../media/image2.png"/><Relationship Id="rId9" Type="http://schemas.openxmlformats.org/officeDocument/2006/relationships/diagramColors" Target="../diagrams/colors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emf"/><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emf"/><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E4ED9-4F6D-0AC8-AA9E-3541D1478210}"/>
              </a:ext>
            </a:extLst>
          </p:cNvPr>
          <p:cNvSpPr>
            <a:spLocks noGrp="1"/>
          </p:cNvSpPr>
          <p:nvPr>
            <p:ph type="ctrTitle"/>
          </p:nvPr>
        </p:nvSpPr>
        <p:spPr>
          <a:xfrm>
            <a:off x="543064" y="3029876"/>
            <a:ext cx="8144134" cy="798248"/>
          </a:xfrm>
        </p:spPr>
        <p:txBody>
          <a:bodyPr/>
          <a:lstStyle/>
          <a:p>
            <a:pPr algn="ctr"/>
            <a:r>
              <a:rPr lang="en-GB" b="1" dirty="0"/>
              <a:t>SY Bus Journey Planner</a:t>
            </a:r>
          </a:p>
        </p:txBody>
      </p:sp>
      <p:sp>
        <p:nvSpPr>
          <p:cNvPr id="3" name="Subtitle 2">
            <a:extLst>
              <a:ext uri="{FF2B5EF4-FFF2-40B4-BE49-F238E27FC236}">
                <a16:creationId xmlns:a16="http://schemas.microsoft.com/office/drawing/2014/main" id="{20AF6084-1FC1-887F-5B92-C7E63AE1054B}"/>
              </a:ext>
            </a:extLst>
          </p:cNvPr>
          <p:cNvSpPr>
            <a:spLocks noGrp="1"/>
          </p:cNvSpPr>
          <p:nvPr>
            <p:ph type="subTitle" idx="1"/>
          </p:nvPr>
        </p:nvSpPr>
        <p:spPr>
          <a:xfrm>
            <a:off x="1153977" y="4290338"/>
            <a:ext cx="1256100" cy="393596"/>
          </a:xfrm>
        </p:spPr>
        <p:txBody>
          <a:bodyPr>
            <a:normAutofit/>
          </a:bodyPr>
          <a:lstStyle/>
          <a:p>
            <a:r>
              <a:rPr lang="en-GB" dirty="0">
                <a:solidFill>
                  <a:schemeClr val="tx1"/>
                </a:solidFill>
              </a:rPr>
              <a:t>Group 2</a:t>
            </a:r>
          </a:p>
        </p:txBody>
      </p:sp>
      <p:sp>
        <p:nvSpPr>
          <p:cNvPr id="4" name="Subtitle 2">
            <a:extLst>
              <a:ext uri="{FF2B5EF4-FFF2-40B4-BE49-F238E27FC236}">
                <a16:creationId xmlns:a16="http://schemas.microsoft.com/office/drawing/2014/main" id="{AAD4087A-520A-0210-36A9-84BA167EA0E0}"/>
              </a:ext>
            </a:extLst>
          </p:cNvPr>
          <p:cNvSpPr txBox="1">
            <a:spLocks/>
          </p:cNvSpPr>
          <p:nvPr/>
        </p:nvSpPr>
        <p:spPr>
          <a:xfrm>
            <a:off x="1140031" y="4683934"/>
            <a:ext cx="2793613" cy="186783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tx1"/>
              </a:buClr>
              <a:buSzPct val="80000"/>
              <a:buFont typeface="Wingdings 3" panose="05040102010807070707" pitchFamily="18" charset="2"/>
              <a:buNone/>
              <a:defRPr sz="2100" kern="1200" cap="none">
                <a:solidFill>
                  <a:schemeClr val="bg2">
                    <a:lumMod val="75000"/>
                  </a:schemeClr>
                </a:solidFill>
                <a:effectLst/>
                <a:latin typeface="+mn-lt"/>
                <a:ea typeface="+mn-ea"/>
                <a:cs typeface="+mn-cs"/>
              </a:defRPr>
            </a:lvl1pPr>
            <a:lvl2pPr marL="457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8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6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tx1"/>
              </a:buClr>
              <a:buSzPct val="80000"/>
              <a:buFont typeface="Wingdings 3" panose="05040102010807070707" pitchFamily="18" charset="2"/>
              <a:buNone/>
              <a:defRPr sz="1400" kern="1200" cap="none">
                <a:solidFill>
                  <a:schemeClr val="tx1">
                    <a:tint val="75000"/>
                  </a:schemeClr>
                </a:solidFill>
                <a:effectLst/>
                <a:latin typeface="+mn-lt"/>
                <a:ea typeface="+mn-ea"/>
                <a:cs typeface="+mn-cs"/>
              </a:defRPr>
            </a:lvl9pPr>
          </a:lstStyle>
          <a:p>
            <a:pPr marL="342900" indent="-342900">
              <a:buFont typeface="Arial" panose="020B0604020202020204" pitchFamily="34" charset="0"/>
              <a:buChar char="•"/>
            </a:pPr>
            <a:r>
              <a:rPr lang="en-GB" sz="1400" dirty="0">
                <a:solidFill>
                  <a:schemeClr val="tx1"/>
                </a:solidFill>
              </a:rPr>
              <a:t>Elekir Moyuwen</a:t>
            </a:r>
          </a:p>
          <a:p>
            <a:pPr marL="342900" indent="-342900">
              <a:buFont typeface="Arial" panose="020B0604020202020204" pitchFamily="34" charset="0"/>
              <a:buChar char="•"/>
            </a:pPr>
            <a:r>
              <a:rPr lang="en-GB" sz="1400" dirty="0">
                <a:solidFill>
                  <a:schemeClr val="tx1"/>
                </a:solidFill>
              </a:rPr>
              <a:t>Javani Morris</a:t>
            </a:r>
          </a:p>
          <a:p>
            <a:pPr marL="342900" indent="-342900">
              <a:buFont typeface="Arial" panose="020B0604020202020204" pitchFamily="34" charset="0"/>
              <a:buChar char="•"/>
            </a:pPr>
            <a:r>
              <a:rPr lang="en-GB" sz="1400" dirty="0">
                <a:solidFill>
                  <a:schemeClr val="tx1"/>
                </a:solidFill>
              </a:rPr>
              <a:t>Jack Watson </a:t>
            </a:r>
          </a:p>
          <a:p>
            <a:pPr marL="342900" indent="-342900">
              <a:buFont typeface="Arial" panose="020B0604020202020204" pitchFamily="34" charset="0"/>
              <a:buChar char="•"/>
            </a:pPr>
            <a:r>
              <a:rPr lang="en-GB" sz="1400" dirty="0">
                <a:solidFill>
                  <a:schemeClr val="tx1"/>
                </a:solidFill>
              </a:rPr>
              <a:t>Samuel Okunowo </a:t>
            </a:r>
          </a:p>
        </p:txBody>
      </p:sp>
    </p:spTree>
    <p:extLst>
      <p:ext uri="{BB962C8B-B14F-4D97-AF65-F5344CB8AC3E}">
        <p14:creationId xmlns:p14="http://schemas.microsoft.com/office/powerpoint/2010/main" val="3357852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CA152-F485-28D0-CB0D-960B99AE9F51}"/>
              </a:ext>
            </a:extLst>
          </p:cNvPr>
          <p:cNvSpPr>
            <a:spLocks noGrp="1"/>
          </p:cNvSpPr>
          <p:nvPr>
            <p:ph type="title"/>
          </p:nvPr>
        </p:nvSpPr>
        <p:spPr/>
        <p:txBody>
          <a:bodyPr/>
          <a:lstStyle/>
          <a:p>
            <a:r>
              <a:rPr lang="en-GB" b="1" dirty="0"/>
              <a:t>Deliverables Overview</a:t>
            </a:r>
          </a:p>
        </p:txBody>
      </p:sp>
      <p:graphicFrame>
        <p:nvGraphicFramePr>
          <p:cNvPr id="9" name="Table 8">
            <a:extLst>
              <a:ext uri="{FF2B5EF4-FFF2-40B4-BE49-F238E27FC236}">
                <a16:creationId xmlns:a16="http://schemas.microsoft.com/office/drawing/2014/main" id="{B09E5492-2402-6534-9FB4-130696D3D27D}"/>
              </a:ext>
            </a:extLst>
          </p:cNvPr>
          <p:cNvGraphicFramePr>
            <a:graphicFrameLocks noGrp="1"/>
          </p:cNvGraphicFramePr>
          <p:nvPr>
            <p:extLst>
              <p:ext uri="{D42A27DB-BD31-4B8C-83A1-F6EECF244321}">
                <p14:modId xmlns:p14="http://schemas.microsoft.com/office/powerpoint/2010/main" val="624150118"/>
              </p:ext>
            </p:extLst>
          </p:nvPr>
        </p:nvGraphicFramePr>
        <p:xfrm>
          <a:off x="577520" y="2474781"/>
          <a:ext cx="10041597" cy="3638768"/>
        </p:xfrm>
        <a:graphic>
          <a:graphicData uri="http://schemas.openxmlformats.org/drawingml/2006/table">
            <a:tbl>
              <a:tblPr firstRow="1">
                <a:tableStyleId>{5940675A-B579-460E-94D1-54222C63F5DA}</a:tableStyleId>
              </a:tblPr>
              <a:tblGrid>
                <a:gridCol w="2919767">
                  <a:extLst>
                    <a:ext uri="{9D8B030D-6E8A-4147-A177-3AD203B41FA5}">
                      <a16:colId xmlns:a16="http://schemas.microsoft.com/office/drawing/2014/main" val="2901470407"/>
                    </a:ext>
                  </a:extLst>
                </a:gridCol>
                <a:gridCol w="7121830">
                  <a:extLst>
                    <a:ext uri="{9D8B030D-6E8A-4147-A177-3AD203B41FA5}">
                      <a16:colId xmlns:a16="http://schemas.microsoft.com/office/drawing/2014/main" val="3447283797"/>
                    </a:ext>
                  </a:extLst>
                </a:gridCol>
              </a:tblGrid>
              <a:tr h="444250">
                <a:tc>
                  <a:txBody>
                    <a:bodyPr/>
                    <a:lstStyle/>
                    <a:p>
                      <a:pPr>
                        <a:buNone/>
                      </a:pPr>
                      <a:r>
                        <a:rPr lang="en-GB" b="1" dirty="0">
                          <a:solidFill>
                            <a:schemeClr val="bg1"/>
                          </a:solidFill>
                        </a:rPr>
                        <a:t>Areas</a:t>
                      </a:r>
                    </a:p>
                  </a:txBody>
                  <a:tcPr anchor="ctr">
                    <a:solidFill>
                      <a:schemeClr val="bg2"/>
                    </a:solidFill>
                  </a:tcPr>
                </a:tc>
                <a:tc>
                  <a:txBody>
                    <a:bodyPr/>
                    <a:lstStyle/>
                    <a:p>
                      <a:pPr>
                        <a:buNone/>
                      </a:pPr>
                      <a:r>
                        <a:rPr lang="en-GB" b="1" dirty="0">
                          <a:solidFill>
                            <a:schemeClr val="bg1"/>
                          </a:solidFill>
                        </a:rPr>
                        <a:t>Deliverables</a:t>
                      </a:r>
                    </a:p>
                  </a:txBody>
                  <a:tcPr anchor="ctr">
                    <a:solidFill>
                      <a:schemeClr val="bg2"/>
                    </a:solidFill>
                  </a:tcPr>
                </a:tc>
                <a:extLst>
                  <a:ext uri="{0D108BD9-81ED-4DB2-BD59-A6C34878D82A}">
                    <a16:rowId xmlns:a16="http://schemas.microsoft.com/office/drawing/2014/main" val="3329725156"/>
                  </a:ext>
                </a:extLst>
              </a:tr>
              <a:tr h="777438">
                <a:tc>
                  <a:txBody>
                    <a:bodyPr/>
                    <a:lstStyle/>
                    <a:p>
                      <a:pPr>
                        <a:buNone/>
                      </a:pPr>
                      <a:r>
                        <a:rPr lang="en-GB" dirty="0">
                          <a:solidFill>
                            <a:schemeClr val="bg1"/>
                          </a:solidFill>
                        </a:rPr>
                        <a:t>PID (Project Initiation Document)</a:t>
                      </a:r>
                    </a:p>
                  </a:txBody>
                  <a:tcPr anchor="ctr"/>
                </a:tc>
                <a:tc>
                  <a:txBody>
                    <a:bodyPr/>
                    <a:lstStyle/>
                    <a:p>
                      <a:pPr>
                        <a:buNone/>
                      </a:pPr>
                      <a:r>
                        <a:rPr lang="en-GB">
                          <a:solidFill>
                            <a:schemeClr val="bg1"/>
                          </a:solidFill>
                        </a:rPr>
                        <a:t>Methodology, Roles &amp; Responsibilities</a:t>
                      </a:r>
                    </a:p>
                  </a:txBody>
                  <a:tcPr anchor="ctr"/>
                </a:tc>
                <a:extLst>
                  <a:ext uri="{0D108BD9-81ED-4DB2-BD59-A6C34878D82A}">
                    <a16:rowId xmlns:a16="http://schemas.microsoft.com/office/drawing/2014/main" val="2325811752"/>
                  </a:ext>
                </a:extLst>
              </a:tr>
              <a:tr h="444250">
                <a:tc>
                  <a:txBody>
                    <a:bodyPr/>
                    <a:lstStyle/>
                    <a:p>
                      <a:pPr>
                        <a:buNone/>
                      </a:pPr>
                      <a:r>
                        <a:rPr lang="en-GB" dirty="0">
                          <a:solidFill>
                            <a:schemeClr val="bg1"/>
                          </a:solidFill>
                        </a:rPr>
                        <a:t>Business Case</a:t>
                      </a:r>
                    </a:p>
                  </a:txBody>
                  <a:tcPr anchor="ctr"/>
                </a:tc>
                <a:tc>
                  <a:txBody>
                    <a:bodyPr/>
                    <a:lstStyle/>
                    <a:p>
                      <a:pPr>
                        <a:buNone/>
                      </a:pPr>
                      <a:r>
                        <a:rPr lang="en-GB" dirty="0">
                          <a:solidFill>
                            <a:schemeClr val="bg1"/>
                          </a:solidFill>
                        </a:rPr>
                        <a:t>Force Field Analysis, Options Considered, Investment Appraisal</a:t>
                      </a:r>
                    </a:p>
                  </a:txBody>
                  <a:tcPr anchor="ctr"/>
                </a:tc>
                <a:extLst>
                  <a:ext uri="{0D108BD9-81ED-4DB2-BD59-A6C34878D82A}">
                    <a16:rowId xmlns:a16="http://schemas.microsoft.com/office/drawing/2014/main" val="113421986"/>
                  </a:ext>
                </a:extLst>
              </a:tr>
              <a:tr h="444250">
                <a:tc>
                  <a:txBody>
                    <a:bodyPr/>
                    <a:lstStyle/>
                    <a:p>
                      <a:pPr>
                        <a:buNone/>
                      </a:pPr>
                      <a:r>
                        <a:rPr lang="en-GB" dirty="0">
                          <a:solidFill>
                            <a:schemeClr val="bg1"/>
                          </a:solidFill>
                        </a:rPr>
                        <a:t>Project Plan</a:t>
                      </a:r>
                    </a:p>
                  </a:txBody>
                  <a:tcPr anchor="ctr"/>
                </a:tc>
                <a:tc>
                  <a:txBody>
                    <a:bodyPr/>
                    <a:lstStyle/>
                    <a:p>
                      <a:pPr>
                        <a:buNone/>
                      </a:pPr>
                      <a:r>
                        <a:rPr lang="en-GB" dirty="0">
                          <a:solidFill>
                            <a:schemeClr val="bg1"/>
                          </a:solidFill>
                        </a:rPr>
                        <a:t>Work Breakdown Structure, Gantt Chart, COCOMO, RACI Chart</a:t>
                      </a:r>
                    </a:p>
                  </a:txBody>
                  <a:tcPr anchor="ctr"/>
                </a:tc>
                <a:extLst>
                  <a:ext uri="{0D108BD9-81ED-4DB2-BD59-A6C34878D82A}">
                    <a16:rowId xmlns:a16="http://schemas.microsoft.com/office/drawing/2014/main" val="2885051180"/>
                  </a:ext>
                </a:extLst>
              </a:tr>
              <a:tr h="444250">
                <a:tc>
                  <a:txBody>
                    <a:bodyPr/>
                    <a:lstStyle/>
                    <a:p>
                      <a:pPr>
                        <a:buNone/>
                      </a:pPr>
                      <a:r>
                        <a:rPr lang="en-GB">
                          <a:solidFill>
                            <a:schemeClr val="bg1"/>
                          </a:solidFill>
                        </a:rPr>
                        <a:t>Risk</a:t>
                      </a:r>
                    </a:p>
                  </a:txBody>
                  <a:tcPr anchor="ctr"/>
                </a:tc>
                <a:tc>
                  <a:txBody>
                    <a:bodyPr/>
                    <a:lstStyle/>
                    <a:p>
                      <a:pPr>
                        <a:buNone/>
                      </a:pPr>
                      <a:r>
                        <a:rPr lang="en-GB" dirty="0">
                          <a:solidFill>
                            <a:schemeClr val="bg1"/>
                          </a:solidFill>
                        </a:rPr>
                        <a:t>Risk Management Plan (Risk Map, Risk Register, RAID Log)</a:t>
                      </a:r>
                    </a:p>
                  </a:txBody>
                  <a:tcPr anchor="ctr"/>
                </a:tc>
                <a:extLst>
                  <a:ext uri="{0D108BD9-81ED-4DB2-BD59-A6C34878D82A}">
                    <a16:rowId xmlns:a16="http://schemas.microsoft.com/office/drawing/2014/main" val="3018694927"/>
                  </a:ext>
                </a:extLst>
              </a:tr>
              <a:tr h="4442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bg1"/>
                          </a:solidFill>
                        </a:rPr>
                        <a:t>Envisioned Solution</a:t>
                      </a:r>
                    </a:p>
                    <a:p>
                      <a:pPr>
                        <a:buNone/>
                      </a:pPr>
                      <a:endParaRPr lang="en-GB" dirty="0">
                        <a:solidFill>
                          <a:schemeClr val="bg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bg1"/>
                          </a:solidFill>
                        </a:rPr>
                        <a:t>Prototype</a:t>
                      </a:r>
                      <a:r>
                        <a:rPr lang="en-GB" dirty="0">
                          <a:solidFill>
                            <a:schemeClr val="tx1">
                              <a:lumMod val="50000"/>
                            </a:schemeClr>
                          </a:solidFill>
                        </a:rPr>
                        <a:t>, </a:t>
                      </a:r>
                      <a:r>
                        <a:rPr lang="en-GB" dirty="0" err="1">
                          <a:solidFill>
                            <a:schemeClr val="bg1"/>
                          </a:solidFill>
                        </a:rPr>
                        <a:t>MoSCoW</a:t>
                      </a:r>
                      <a:endParaRPr lang="en-GB" dirty="0">
                        <a:solidFill>
                          <a:schemeClr val="bg1"/>
                        </a:solidFill>
                      </a:endParaRPr>
                    </a:p>
                    <a:p>
                      <a:pPr>
                        <a:buNone/>
                      </a:pPr>
                      <a:endParaRPr lang="en-GB" dirty="0">
                        <a:solidFill>
                          <a:schemeClr val="bg1"/>
                        </a:solidFill>
                      </a:endParaRPr>
                    </a:p>
                  </a:txBody>
                  <a:tcPr anchor="ctr"/>
                </a:tc>
                <a:extLst>
                  <a:ext uri="{0D108BD9-81ED-4DB2-BD59-A6C34878D82A}">
                    <a16:rowId xmlns:a16="http://schemas.microsoft.com/office/drawing/2014/main" val="3801539509"/>
                  </a:ext>
                </a:extLst>
              </a:tr>
              <a:tr h="444250">
                <a:tc>
                  <a:txBody>
                    <a:bodyPr/>
                    <a:lstStyle/>
                    <a:p>
                      <a:pPr>
                        <a:buNone/>
                      </a:pPr>
                      <a:endParaRPr lang="en-GB" dirty="0">
                        <a:solidFill>
                          <a:schemeClr val="bg1"/>
                        </a:solidFill>
                      </a:endParaRPr>
                    </a:p>
                  </a:txBody>
                  <a:tcPr anchor="ctr"/>
                </a:tc>
                <a:tc>
                  <a:txBody>
                    <a:bodyPr/>
                    <a:lstStyle/>
                    <a:p>
                      <a:pPr>
                        <a:buNone/>
                      </a:pPr>
                      <a:endParaRPr lang="en-GB" dirty="0">
                        <a:solidFill>
                          <a:schemeClr val="bg1"/>
                        </a:solidFill>
                      </a:endParaRPr>
                    </a:p>
                  </a:txBody>
                  <a:tcPr anchor="ctr"/>
                </a:tc>
                <a:extLst>
                  <a:ext uri="{0D108BD9-81ED-4DB2-BD59-A6C34878D82A}">
                    <a16:rowId xmlns:a16="http://schemas.microsoft.com/office/drawing/2014/main" val="2196882565"/>
                  </a:ext>
                </a:extLst>
              </a:tr>
            </a:tbl>
          </a:graphicData>
        </a:graphic>
      </p:graphicFrame>
    </p:spTree>
    <p:extLst>
      <p:ext uri="{BB962C8B-B14F-4D97-AF65-F5344CB8AC3E}">
        <p14:creationId xmlns:p14="http://schemas.microsoft.com/office/powerpoint/2010/main" val="1646420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C8F9E-9EB4-0BE6-31AE-3CD1759E0670}"/>
              </a:ext>
            </a:extLst>
          </p:cNvPr>
          <p:cNvSpPr>
            <a:spLocks noGrp="1"/>
          </p:cNvSpPr>
          <p:nvPr>
            <p:ph type="title"/>
          </p:nvPr>
        </p:nvSpPr>
        <p:spPr/>
        <p:txBody>
          <a:bodyPr/>
          <a:lstStyle/>
          <a:p>
            <a:r>
              <a:rPr lang="en-GB" dirty="0"/>
              <a:t>Project Initiation Document</a:t>
            </a:r>
          </a:p>
        </p:txBody>
      </p:sp>
      <p:sp>
        <p:nvSpPr>
          <p:cNvPr id="3" name="Content Placeholder 2">
            <a:extLst>
              <a:ext uri="{FF2B5EF4-FFF2-40B4-BE49-F238E27FC236}">
                <a16:creationId xmlns:a16="http://schemas.microsoft.com/office/drawing/2014/main" id="{CBB7B3FE-43AA-2C35-2991-C53451438C3F}"/>
              </a:ext>
            </a:extLst>
          </p:cNvPr>
          <p:cNvSpPr>
            <a:spLocks noGrp="1"/>
          </p:cNvSpPr>
          <p:nvPr>
            <p:ph idx="1"/>
          </p:nvPr>
        </p:nvSpPr>
        <p:spPr/>
        <p:txBody>
          <a:bodyPr>
            <a:normAutofit lnSpcReduction="10000"/>
          </a:bodyPr>
          <a:lstStyle/>
          <a:p>
            <a:r>
              <a:rPr lang="en-GB" b="1" dirty="0"/>
              <a:t>Methodology: </a:t>
            </a:r>
            <a:r>
              <a:rPr lang="en-GB" dirty="0"/>
              <a:t>Prince2 Agile – mix of structure and flexibility.</a:t>
            </a:r>
          </a:p>
          <a:p>
            <a:r>
              <a:rPr lang="en-GB" b="1" dirty="0"/>
              <a:t>Overview:</a:t>
            </a:r>
            <a:r>
              <a:rPr lang="en-GB" dirty="0"/>
              <a:t> SYB Journey Planner – mobile application to improve customer experience and reduce delays. </a:t>
            </a:r>
          </a:p>
          <a:p>
            <a:r>
              <a:rPr lang="en-GB" b="1" dirty="0"/>
              <a:t>Business objectives:</a:t>
            </a:r>
            <a:r>
              <a:rPr lang="en-GB" dirty="0"/>
              <a:t> Better journey info, more digital engagement, accessibility, faster boarding.</a:t>
            </a:r>
          </a:p>
          <a:p>
            <a:r>
              <a:rPr lang="en-GB" b="1" dirty="0"/>
              <a:t>Project objectives:</a:t>
            </a:r>
            <a:r>
              <a:rPr lang="en-GB" dirty="0"/>
              <a:t> Deliver mobile-first application, prototype &amp; project artefacts by Dec 2025, aligned with bus company branding.</a:t>
            </a:r>
          </a:p>
          <a:p>
            <a:r>
              <a:rPr lang="en-GB" b="1" dirty="0"/>
              <a:t>Scope:</a:t>
            </a:r>
            <a:r>
              <a:rPr lang="en-GB" dirty="0"/>
              <a:t> MVP features (routing, next‑bus times, ticket recommendations, live updates).</a:t>
            </a:r>
          </a:p>
        </p:txBody>
      </p:sp>
    </p:spTree>
    <p:extLst>
      <p:ext uri="{BB962C8B-B14F-4D97-AF65-F5344CB8AC3E}">
        <p14:creationId xmlns:p14="http://schemas.microsoft.com/office/powerpoint/2010/main" val="172901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9362-AD99-85B6-69EF-810F112D1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2178E-FB92-2039-588C-F404662DD80A}"/>
              </a:ext>
            </a:extLst>
          </p:cNvPr>
          <p:cNvSpPr>
            <a:spLocks noGrp="1"/>
          </p:cNvSpPr>
          <p:nvPr>
            <p:ph type="title"/>
          </p:nvPr>
        </p:nvSpPr>
        <p:spPr/>
        <p:txBody>
          <a:bodyPr/>
          <a:lstStyle/>
          <a:p>
            <a:r>
              <a:rPr lang="en-GB" dirty="0"/>
              <a:t>Project Initiation Document</a:t>
            </a:r>
          </a:p>
        </p:txBody>
      </p:sp>
      <p:sp>
        <p:nvSpPr>
          <p:cNvPr id="3" name="Content Placeholder 2">
            <a:extLst>
              <a:ext uri="{FF2B5EF4-FFF2-40B4-BE49-F238E27FC236}">
                <a16:creationId xmlns:a16="http://schemas.microsoft.com/office/drawing/2014/main" id="{0D0C9339-66E5-5E33-B854-D1300FC6571D}"/>
              </a:ext>
            </a:extLst>
          </p:cNvPr>
          <p:cNvSpPr>
            <a:spLocks noGrp="1"/>
          </p:cNvSpPr>
          <p:nvPr>
            <p:ph idx="1"/>
          </p:nvPr>
        </p:nvSpPr>
        <p:spPr/>
        <p:txBody>
          <a:bodyPr>
            <a:normAutofit lnSpcReduction="10000"/>
          </a:bodyPr>
          <a:lstStyle/>
          <a:p>
            <a:pPr marL="0" indent="0">
              <a:buNone/>
            </a:pPr>
            <a:r>
              <a:rPr lang="en-GB" b="1" dirty="0"/>
              <a:t>Roles &amp; responsibilities:</a:t>
            </a:r>
            <a:endParaRPr lang="en-GB" dirty="0"/>
          </a:p>
          <a:p>
            <a:r>
              <a:rPr lang="en-GB" dirty="0"/>
              <a:t>Jack – Project Manager</a:t>
            </a:r>
          </a:p>
          <a:p>
            <a:r>
              <a:rPr lang="en-GB" dirty="0"/>
              <a:t>Javani – Sponsor (budget/approvals)</a:t>
            </a:r>
          </a:p>
          <a:p>
            <a:r>
              <a:rPr lang="en-GB" dirty="0"/>
              <a:t>Elekir – Business Analyst</a:t>
            </a:r>
          </a:p>
          <a:p>
            <a:r>
              <a:rPr lang="en-GB" dirty="0"/>
              <a:t>Samuel – Quality Assurance</a:t>
            </a:r>
          </a:p>
          <a:p>
            <a:r>
              <a:rPr lang="en-GB" dirty="0"/>
              <a:t>Designer – Wireframes &amp; prototype</a:t>
            </a:r>
          </a:p>
          <a:p>
            <a:r>
              <a:rPr lang="en-GB" dirty="0"/>
              <a:t>Risk Manager – RAID &amp; risk register</a:t>
            </a:r>
          </a:p>
          <a:p>
            <a:r>
              <a:rPr lang="en-GB" dirty="0"/>
              <a:t>Software Team – Code review and evaluations</a:t>
            </a:r>
          </a:p>
        </p:txBody>
      </p:sp>
    </p:spTree>
    <p:extLst>
      <p:ext uri="{BB962C8B-B14F-4D97-AF65-F5344CB8AC3E}">
        <p14:creationId xmlns:p14="http://schemas.microsoft.com/office/powerpoint/2010/main" val="283708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6E75B-8E44-53AC-52D5-73A4DE8B3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9907-A7FC-9338-4214-49EF9FBED2D2}"/>
              </a:ext>
            </a:extLst>
          </p:cNvPr>
          <p:cNvSpPr>
            <a:spLocks noGrp="1"/>
          </p:cNvSpPr>
          <p:nvPr>
            <p:ph type="title"/>
          </p:nvPr>
        </p:nvSpPr>
        <p:spPr>
          <a:xfrm>
            <a:off x="680321" y="753228"/>
            <a:ext cx="4136123" cy="1080938"/>
          </a:xfrm>
        </p:spPr>
        <p:txBody>
          <a:bodyPr>
            <a:normAutofit/>
          </a:bodyPr>
          <a:lstStyle/>
          <a:p>
            <a:r>
              <a:rPr lang="en-GB" sz="2400"/>
              <a:t>Business Case – Force Field Analysis</a:t>
            </a:r>
          </a:p>
        </p:txBody>
      </p:sp>
      <p:sp>
        <p:nvSpPr>
          <p:cNvPr id="9" name="Content Placeholder 8">
            <a:extLst>
              <a:ext uri="{FF2B5EF4-FFF2-40B4-BE49-F238E27FC236}">
                <a16:creationId xmlns:a16="http://schemas.microsoft.com/office/drawing/2014/main" id="{97FE6474-995E-58F1-508C-07CD3F69C809}"/>
              </a:ext>
            </a:extLst>
          </p:cNvPr>
          <p:cNvSpPr>
            <a:spLocks noGrp="1"/>
          </p:cNvSpPr>
          <p:nvPr>
            <p:ph idx="1"/>
          </p:nvPr>
        </p:nvSpPr>
        <p:spPr>
          <a:xfrm>
            <a:off x="680321" y="2336873"/>
            <a:ext cx="3656289" cy="3599316"/>
          </a:xfrm>
        </p:spPr>
        <p:txBody>
          <a:bodyPr>
            <a:normAutofit/>
          </a:bodyPr>
          <a:lstStyle/>
          <a:p>
            <a:pPr marL="0" indent="0">
              <a:buNone/>
            </a:pPr>
            <a:r>
              <a:rPr lang="en-US" sz="1300" b="1"/>
              <a:t>Forces For Change:</a:t>
            </a:r>
          </a:p>
          <a:p>
            <a:r>
              <a:rPr lang="en-US" sz="1300"/>
              <a:t>Improved customer experience – Clear Journey Info</a:t>
            </a:r>
          </a:p>
          <a:p>
            <a:r>
              <a:rPr lang="en-US" sz="1300"/>
              <a:t>Alignment with existing operators (Stagecoach, First Bus)</a:t>
            </a:r>
          </a:p>
          <a:p>
            <a:r>
              <a:rPr lang="en-US" sz="1300"/>
              <a:t>Meeting accessibility requirements</a:t>
            </a:r>
          </a:p>
          <a:p>
            <a:pPr marL="0" indent="0">
              <a:buNone/>
            </a:pPr>
            <a:r>
              <a:rPr lang="en-US" sz="1300" b="1"/>
              <a:t>Forces Against Change:</a:t>
            </a:r>
          </a:p>
          <a:p>
            <a:r>
              <a:rPr lang="en-US" sz="1300"/>
              <a:t>Fixed Budget (£65,000)</a:t>
            </a:r>
          </a:p>
          <a:p>
            <a:r>
              <a:rPr lang="en-US" sz="1300"/>
              <a:t>Short Delivery Timeline (mid-December 2025)</a:t>
            </a:r>
          </a:p>
          <a:p>
            <a:r>
              <a:rPr lang="en-US" sz="1300"/>
              <a:t>Strong competition from established apps</a:t>
            </a:r>
          </a:p>
          <a:p>
            <a:r>
              <a:rPr lang="en-US" sz="1300"/>
              <a:t>Uncertainty about post-launch ownership/maintenance</a:t>
            </a:r>
          </a:p>
          <a:p>
            <a:endParaRPr lang="en-US" sz="1300"/>
          </a:p>
        </p:txBody>
      </p:sp>
      <p:pic>
        <p:nvPicPr>
          <p:cNvPr id="4" name="Picture 3" descr="Force Field Analysis&#10;">
            <a:extLst>
              <a:ext uri="{FF2B5EF4-FFF2-40B4-BE49-F238E27FC236}">
                <a16:creationId xmlns:a16="http://schemas.microsoft.com/office/drawing/2014/main" id="{42FBC8B5-40E3-286B-4BBB-182EB797C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3250" y="640080"/>
            <a:ext cx="5795158" cy="5577840"/>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14391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415C1616-42D4-D766-6F3C-4D8FA6D10DAF}"/>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BF66F84-488A-4844-9842-54A44AA1B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7AA5319C-B33F-4EEA-8216-44D49DADED7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8A223C6B-9B09-429F-8EC7-2247F6F857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7DC86AF6-6BFF-FDA4-9FD8-5F1AD4409CCE}"/>
              </a:ext>
            </a:extLst>
          </p:cNvPr>
          <p:cNvSpPr>
            <a:spLocks noGrp="1"/>
          </p:cNvSpPr>
          <p:nvPr>
            <p:ph type="title"/>
          </p:nvPr>
        </p:nvSpPr>
        <p:spPr>
          <a:xfrm>
            <a:off x="680321" y="753228"/>
            <a:ext cx="9613861" cy="1080938"/>
          </a:xfrm>
        </p:spPr>
        <p:txBody>
          <a:bodyPr>
            <a:normAutofit/>
          </a:bodyPr>
          <a:lstStyle/>
          <a:p>
            <a:r>
              <a:rPr lang="en-GB"/>
              <a:t>Business Case – Options Considered</a:t>
            </a:r>
          </a:p>
        </p:txBody>
      </p:sp>
      <p:sp>
        <p:nvSpPr>
          <p:cNvPr id="36" name="Rectangle 35">
            <a:extLst>
              <a:ext uri="{FF2B5EF4-FFF2-40B4-BE49-F238E27FC236}">
                <a16:creationId xmlns:a16="http://schemas.microsoft.com/office/drawing/2014/main" id="{2545D866-050C-4D40-A605-67E60B8544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38" name="Rectangle 37">
            <a:extLst>
              <a:ext uri="{FF2B5EF4-FFF2-40B4-BE49-F238E27FC236}">
                <a16:creationId xmlns:a16="http://schemas.microsoft.com/office/drawing/2014/main" id="{27720AC9-C70E-49B0-A839-1AF327EB7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2116667"/>
            <a:ext cx="10439400" cy="3793206"/>
          </a:xfrm>
          <a:prstGeom prst="rect">
            <a:avLst/>
          </a:prstGeom>
          <a:solidFill>
            <a:schemeClr val="bg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40" name="Picture 39">
            <a:extLst>
              <a:ext uri="{FF2B5EF4-FFF2-40B4-BE49-F238E27FC236}">
                <a16:creationId xmlns:a16="http://schemas.microsoft.com/office/drawing/2014/main" id="{CC9BA3C9-28E4-43BD-870F-673E1775A2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42" name="Picture 41">
            <a:extLst>
              <a:ext uri="{FF2B5EF4-FFF2-40B4-BE49-F238E27FC236}">
                <a16:creationId xmlns:a16="http://schemas.microsoft.com/office/drawing/2014/main" id="{8FD19149-7681-43E0-8504-1992ADCF4C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graphicFrame>
        <p:nvGraphicFramePr>
          <p:cNvPr id="26" name="Content Placeholder 8">
            <a:extLst>
              <a:ext uri="{FF2B5EF4-FFF2-40B4-BE49-F238E27FC236}">
                <a16:creationId xmlns:a16="http://schemas.microsoft.com/office/drawing/2014/main" id="{519FB469-B46C-6BAE-203C-4B66E8A040A6}"/>
              </a:ext>
            </a:extLst>
          </p:cNvPr>
          <p:cNvGraphicFramePr/>
          <p:nvPr>
            <p:extLst>
              <p:ext uri="{D42A27DB-BD31-4B8C-83A1-F6EECF244321}">
                <p14:modId xmlns:p14="http://schemas.microsoft.com/office/powerpoint/2010/main" val="810013472"/>
              </p:ext>
            </p:extLst>
          </p:nvPr>
        </p:nvGraphicFramePr>
        <p:xfrm>
          <a:off x="681038" y="2427478"/>
          <a:ext cx="9433453" cy="316066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690831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DEA24-B08B-E843-AF23-2E7DD8DE8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57866-98B6-BE83-F548-9A64E2B400E2}"/>
              </a:ext>
            </a:extLst>
          </p:cNvPr>
          <p:cNvSpPr>
            <a:spLocks noGrp="1"/>
          </p:cNvSpPr>
          <p:nvPr>
            <p:ph type="title"/>
          </p:nvPr>
        </p:nvSpPr>
        <p:spPr>
          <a:xfrm>
            <a:off x="680321" y="753228"/>
            <a:ext cx="4136123" cy="1080938"/>
          </a:xfrm>
        </p:spPr>
        <p:txBody>
          <a:bodyPr>
            <a:normAutofit/>
          </a:bodyPr>
          <a:lstStyle/>
          <a:p>
            <a:r>
              <a:rPr lang="en-GB" sz="2400" dirty="0"/>
              <a:t>Business Case – Cost Benefits Analysis</a:t>
            </a:r>
          </a:p>
        </p:txBody>
      </p:sp>
      <p:sp>
        <p:nvSpPr>
          <p:cNvPr id="9" name="Content Placeholder 8">
            <a:extLst>
              <a:ext uri="{FF2B5EF4-FFF2-40B4-BE49-F238E27FC236}">
                <a16:creationId xmlns:a16="http://schemas.microsoft.com/office/drawing/2014/main" id="{D0A665A0-4000-CA30-39AA-C70F06BC0795}"/>
              </a:ext>
            </a:extLst>
          </p:cNvPr>
          <p:cNvSpPr>
            <a:spLocks noGrp="1"/>
          </p:cNvSpPr>
          <p:nvPr>
            <p:ph idx="1"/>
          </p:nvPr>
        </p:nvSpPr>
        <p:spPr>
          <a:xfrm>
            <a:off x="152400" y="2170028"/>
            <a:ext cx="4320539" cy="4413652"/>
          </a:xfrm>
        </p:spPr>
        <p:txBody>
          <a:bodyPr>
            <a:normAutofit fontScale="47500" lnSpcReduction="20000"/>
          </a:bodyPr>
          <a:lstStyle/>
          <a:p>
            <a:pPr marL="0" indent="0">
              <a:buNone/>
            </a:pPr>
            <a:r>
              <a:rPr lang="en-US" sz="2300" b="1" dirty="0"/>
              <a:t>Costs:</a:t>
            </a:r>
          </a:p>
          <a:p>
            <a:pPr>
              <a:buFontTx/>
              <a:buChar char="-"/>
            </a:pPr>
            <a:r>
              <a:rPr lang="en-US" sz="2300" b="1" dirty="0"/>
              <a:t>Capital:</a:t>
            </a:r>
          </a:p>
          <a:p>
            <a:pPr lvl="1"/>
            <a:r>
              <a:rPr lang="en-US" sz="2300" dirty="0"/>
              <a:t>Development: £65,000 (fixed budget)</a:t>
            </a:r>
          </a:p>
          <a:p>
            <a:pPr lvl="1"/>
            <a:r>
              <a:rPr lang="en-US" sz="2300" dirty="0"/>
              <a:t>Cloud Hosting (Yr 1): £1,200</a:t>
            </a:r>
          </a:p>
          <a:p>
            <a:pPr>
              <a:buFontTx/>
              <a:buChar char="-"/>
            </a:pPr>
            <a:r>
              <a:rPr lang="en-US" sz="2300" b="1" dirty="0"/>
              <a:t>Recurring (Years 1-5):</a:t>
            </a:r>
          </a:p>
          <a:p>
            <a:pPr lvl="1"/>
            <a:r>
              <a:rPr lang="en-US" sz="2300" dirty="0"/>
              <a:t>Cloud Hosting Renewal: £1,200/year</a:t>
            </a:r>
          </a:p>
          <a:p>
            <a:pPr lvl="1"/>
            <a:r>
              <a:rPr lang="en-US" sz="2300" dirty="0"/>
              <a:t>Transport API (Map): £670/year </a:t>
            </a:r>
          </a:p>
          <a:p>
            <a:pPr lvl="1"/>
            <a:r>
              <a:rPr lang="en-US" sz="2300" dirty="0"/>
              <a:t>Built-in Support/Helpdesk: £2,000/year</a:t>
            </a:r>
          </a:p>
          <a:p>
            <a:pPr marL="457200" lvl="1" indent="0">
              <a:buNone/>
            </a:pPr>
            <a:r>
              <a:rPr lang="en-US" sz="2300" dirty="0"/>
              <a:t>Total recurring: £4,000/£5,000/year (grows with inflation)</a:t>
            </a:r>
          </a:p>
          <a:p>
            <a:pPr marL="0" indent="0">
              <a:buNone/>
            </a:pPr>
            <a:r>
              <a:rPr lang="en-US" sz="2300" b="1" dirty="0"/>
              <a:t>Benefits:</a:t>
            </a:r>
          </a:p>
          <a:p>
            <a:pPr>
              <a:buFontTx/>
              <a:buChar char="-"/>
            </a:pPr>
            <a:r>
              <a:rPr lang="en-US" sz="2300" b="1" dirty="0"/>
              <a:t>Revenue Streams: </a:t>
            </a:r>
          </a:p>
          <a:p>
            <a:pPr lvl="1"/>
            <a:r>
              <a:rPr lang="en-US" sz="2300" dirty="0"/>
              <a:t>Ticket Commissions: £36,000/year (10% on £3 tickets x 10,000 users)</a:t>
            </a:r>
          </a:p>
          <a:p>
            <a:pPr lvl="1"/>
            <a:endParaRPr lang="en-US" sz="2300" dirty="0"/>
          </a:p>
          <a:p>
            <a:pPr>
              <a:buFontTx/>
              <a:buChar char="-"/>
            </a:pPr>
            <a:r>
              <a:rPr lang="en-US" sz="2300" b="1" dirty="0"/>
              <a:t>Cost Savings:</a:t>
            </a:r>
          </a:p>
          <a:p>
            <a:pPr lvl="1"/>
            <a:r>
              <a:rPr lang="en-US" sz="2300" dirty="0"/>
              <a:t> Faster Boarding: £2,000/year (reduced time stationary leading to lower overtime/fuel costs)</a:t>
            </a:r>
          </a:p>
          <a:p>
            <a:pPr marL="0" indent="0">
              <a:buNone/>
            </a:pPr>
            <a:r>
              <a:rPr lang="en-US" sz="2300" b="1" dirty="0"/>
              <a:t>Financial Outcome:</a:t>
            </a:r>
          </a:p>
          <a:p>
            <a:r>
              <a:rPr lang="en-US" sz="2300" dirty="0"/>
              <a:t>Year 1 Loss: £30,000</a:t>
            </a:r>
          </a:p>
          <a:p>
            <a:r>
              <a:rPr lang="en-US" sz="2300" dirty="0"/>
              <a:t>Year 2-5: Exceeding costs (£34,000-£35,000 annually)</a:t>
            </a:r>
          </a:p>
          <a:p>
            <a:r>
              <a:rPr lang="en-US" sz="2300" dirty="0"/>
              <a:t>5-year cumulative return: £110,000 </a:t>
            </a:r>
            <a:r>
              <a:rPr lang="en-US" sz="2300"/>
              <a:t>(1.7x </a:t>
            </a:r>
            <a:r>
              <a:rPr lang="en-US" sz="2300" dirty="0"/>
              <a:t>ROI)</a:t>
            </a:r>
          </a:p>
          <a:p>
            <a:endParaRPr lang="en-US" sz="600" dirty="0"/>
          </a:p>
          <a:p>
            <a:pPr marL="457200" lvl="1" indent="0">
              <a:buNone/>
            </a:pPr>
            <a:endParaRPr lang="en-US" sz="600" dirty="0"/>
          </a:p>
          <a:p>
            <a:pPr marL="457200" lvl="1" indent="0">
              <a:buNone/>
            </a:pPr>
            <a:endParaRPr lang="en-US" sz="600" dirty="0"/>
          </a:p>
        </p:txBody>
      </p:sp>
      <p:pic>
        <p:nvPicPr>
          <p:cNvPr id="5" name="Picture 4" descr="A screenshot of a computer&#10;&#10;AI-generated content may be incorrect.">
            <a:extLst>
              <a:ext uri="{FF2B5EF4-FFF2-40B4-BE49-F238E27FC236}">
                <a16:creationId xmlns:a16="http://schemas.microsoft.com/office/drawing/2014/main" id="{2692CF08-8CA5-5A4A-45B0-26942D778F74}"/>
              </a:ext>
            </a:extLst>
          </p:cNvPr>
          <p:cNvPicPr>
            <a:picLocks noChangeAspect="1"/>
          </p:cNvPicPr>
          <p:nvPr/>
        </p:nvPicPr>
        <p:blipFill>
          <a:blip r:embed="rId3"/>
          <a:stretch>
            <a:fillRect/>
          </a:stretch>
        </p:blipFill>
        <p:spPr>
          <a:xfrm>
            <a:off x="4757930" y="2569982"/>
            <a:ext cx="7325741" cy="1758178"/>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361638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DCA3673-CDE4-40C5-9FA8-F89874CFB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95756E8F-499C-4533-BBE8-309C3E8D98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24" name="Rectangle 23">
            <a:extLst>
              <a:ext uri="{FF2B5EF4-FFF2-40B4-BE49-F238E27FC236}">
                <a16:creationId xmlns:a16="http://schemas.microsoft.com/office/drawing/2014/main" id="{0FFFD040-32A9-4D2B-86CA-599D030A4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3205CA-B7FF-4C25-A4C8-3BBBCE19D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B417B5D4-CB42-3220-8FB0-E671499158C2}"/>
              </a:ext>
            </a:extLst>
          </p:cNvPr>
          <p:cNvSpPr>
            <a:spLocks noGrp="1"/>
          </p:cNvSpPr>
          <p:nvPr>
            <p:ph type="title"/>
          </p:nvPr>
        </p:nvSpPr>
        <p:spPr>
          <a:xfrm>
            <a:off x="680321" y="753228"/>
            <a:ext cx="4136123" cy="1080938"/>
          </a:xfrm>
        </p:spPr>
        <p:txBody>
          <a:bodyPr>
            <a:normAutofit/>
          </a:bodyPr>
          <a:lstStyle/>
          <a:p>
            <a:r>
              <a:rPr lang="en-GB" sz="2400"/>
              <a:t>Project Plan – Work Breakdown Structure (WBS)</a:t>
            </a:r>
          </a:p>
        </p:txBody>
      </p:sp>
      <p:pic>
        <p:nvPicPr>
          <p:cNvPr id="28" name="Picture 27">
            <a:extLst>
              <a:ext uri="{FF2B5EF4-FFF2-40B4-BE49-F238E27FC236}">
                <a16:creationId xmlns:a16="http://schemas.microsoft.com/office/drawing/2014/main" id="{306E3F32-3C1A-4B6E-AF26-8A15A78856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3" name="Content Placeholder 2">
            <a:extLst>
              <a:ext uri="{FF2B5EF4-FFF2-40B4-BE49-F238E27FC236}">
                <a16:creationId xmlns:a16="http://schemas.microsoft.com/office/drawing/2014/main" id="{C1665DC0-A037-29C3-825B-F95F22B7E870}"/>
              </a:ext>
            </a:extLst>
          </p:cNvPr>
          <p:cNvSpPr>
            <a:spLocks noGrp="1"/>
          </p:cNvSpPr>
          <p:nvPr>
            <p:ph idx="1"/>
          </p:nvPr>
        </p:nvSpPr>
        <p:spPr>
          <a:xfrm>
            <a:off x="680321" y="2336873"/>
            <a:ext cx="3656289" cy="3599316"/>
          </a:xfrm>
        </p:spPr>
        <p:txBody>
          <a:bodyPr>
            <a:normAutofit/>
          </a:bodyPr>
          <a:lstStyle/>
          <a:p>
            <a:r>
              <a:rPr lang="en-GB" sz="1400" b="1"/>
              <a:t>The Structure: Hierarchical Decomposition</a:t>
            </a:r>
          </a:p>
          <a:p>
            <a:pPr marL="0" indent="0">
              <a:buNone/>
            </a:pPr>
            <a:r>
              <a:rPr lang="en-GB" sz="1400"/>
              <a:t>The WBS is a </a:t>
            </a:r>
            <a:r>
              <a:rPr lang="en-GB" sz="1400" b="1"/>
              <a:t>deliverable-oriented</a:t>
            </a:r>
            <a:r>
              <a:rPr lang="en-GB" sz="1400"/>
              <a:t> hierarchical decomposition of the work required to accomplish the project objectives and create the required deliverables.</a:t>
            </a:r>
          </a:p>
          <a:p>
            <a:r>
              <a:rPr lang="en-GB" sz="1400" b="1"/>
              <a:t>The Core Unit: Work Packages</a:t>
            </a:r>
          </a:p>
          <a:p>
            <a:pPr marL="0" indent="0">
              <a:buNone/>
            </a:pPr>
            <a:r>
              <a:rPr lang="en-GB" sz="1400" b="1"/>
              <a:t>Work Packages</a:t>
            </a:r>
            <a:r>
              <a:rPr lang="en-GB" sz="1400"/>
              <a:t> are the fundamental level of control and effort estimation in the project.</a:t>
            </a:r>
            <a:endParaRPr lang="en-GB" sz="1400" b="1"/>
          </a:p>
          <a:p>
            <a:r>
              <a:rPr lang="en-GB" sz="1400"/>
              <a:t>The Workflow</a:t>
            </a:r>
          </a:p>
          <a:p>
            <a:pPr marL="0" indent="0">
              <a:buNone/>
            </a:pPr>
            <a:r>
              <a:rPr lang="en-GB" sz="1400"/>
              <a:t>The WBS logically follows the project lifecycle</a:t>
            </a:r>
          </a:p>
        </p:txBody>
      </p:sp>
      <p:pic>
        <p:nvPicPr>
          <p:cNvPr id="6" name="Picture 5" descr="A computer screen shot of a computer screen&#10;&#10;AI-generated content may be incorrect.">
            <a:extLst>
              <a:ext uri="{FF2B5EF4-FFF2-40B4-BE49-F238E27FC236}">
                <a16:creationId xmlns:a16="http://schemas.microsoft.com/office/drawing/2014/main" id="{85017A76-3D37-05E1-8869-EB9EC4C6C7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9056" y="609599"/>
            <a:ext cx="7528064" cy="5457846"/>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2358832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F9045443-F222-329D-0A8B-516A7989239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395ACAC-577D-4FAD-955D-280C3D104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E228037F-2EF2-4A1A-8D1D-D08F2C98AD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5" name="Rectangle 14">
            <a:extLst>
              <a:ext uri="{FF2B5EF4-FFF2-40B4-BE49-F238E27FC236}">
                <a16:creationId xmlns:a16="http://schemas.microsoft.com/office/drawing/2014/main" id="{0AB11C2E-6CA2-4822-BF14-C1C9A6BC6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8B3A2B2-7BBB-4E52-8C30-BE2A6F34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6F536A3-78D8-F568-F98E-EB01E9ACEA4C}"/>
              </a:ext>
            </a:extLst>
          </p:cNvPr>
          <p:cNvSpPr>
            <a:spLocks noGrp="1"/>
          </p:cNvSpPr>
          <p:nvPr>
            <p:ph type="title"/>
          </p:nvPr>
        </p:nvSpPr>
        <p:spPr>
          <a:xfrm>
            <a:off x="680321" y="753228"/>
            <a:ext cx="4136123" cy="1080938"/>
          </a:xfrm>
        </p:spPr>
        <p:txBody>
          <a:bodyPr vert="horz" lIns="91440" tIns="45720" rIns="91440" bIns="45720" rtlCol="0" anchor="ctr">
            <a:normAutofit/>
          </a:bodyPr>
          <a:lstStyle/>
          <a:p>
            <a:r>
              <a:rPr lang="en-US" sz="2400"/>
              <a:t>Project Plan – Gantt Chart</a:t>
            </a:r>
          </a:p>
        </p:txBody>
      </p:sp>
      <p:pic>
        <p:nvPicPr>
          <p:cNvPr id="19" name="Picture 18">
            <a:extLst>
              <a:ext uri="{FF2B5EF4-FFF2-40B4-BE49-F238E27FC236}">
                <a16:creationId xmlns:a16="http://schemas.microsoft.com/office/drawing/2014/main" id="{FFF756FE-278B-4106-BB2E-DB87CF02DF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6" name="TextBox 5">
            <a:extLst>
              <a:ext uri="{FF2B5EF4-FFF2-40B4-BE49-F238E27FC236}">
                <a16:creationId xmlns:a16="http://schemas.microsoft.com/office/drawing/2014/main" id="{88CD0364-6877-D7F9-8881-EC3DF38A07E8}"/>
              </a:ext>
            </a:extLst>
          </p:cNvPr>
          <p:cNvSpPr txBox="1"/>
          <p:nvPr/>
        </p:nvSpPr>
        <p:spPr>
          <a:xfrm>
            <a:off x="680321" y="2336873"/>
            <a:ext cx="3656289" cy="3599316"/>
          </a:xfrm>
          <a:prstGeom prst="rect">
            <a:avLst/>
          </a:prstGeom>
        </p:spPr>
        <p:txBody>
          <a:bodyPr vert="horz" lIns="91440" tIns="45720" rIns="91440" bIns="45720" rtlCol="0">
            <a:normAutofit lnSpcReduction="10000"/>
          </a:bodyPr>
          <a:lstStyle/>
          <a:p>
            <a:pPr marL="285750" indent="-228600" defTabSz="914400">
              <a:lnSpc>
                <a:spcPct val="90000"/>
              </a:lnSpc>
              <a:spcAft>
                <a:spcPts val="600"/>
              </a:spcAft>
              <a:buFont typeface="Arial" panose="020B0604020202020204" pitchFamily="34" charset="0"/>
              <a:buChar char="•"/>
            </a:pPr>
            <a:r>
              <a:rPr lang="en-GB" sz="1400" b="1" dirty="0"/>
              <a:t>Visual Schedule &amp; Timeline</a:t>
            </a:r>
          </a:p>
          <a:p>
            <a:pPr marL="57150" defTabSz="914400">
              <a:lnSpc>
                <a:spcPct val="90000"/>
              </a:lnSpc>
              <a:spcAft>
                <a:spcPts val="600"/>
              </a:spcAft>
            </a:pPr>
            <a:r>
              <a:rPr lang="en-GB" sz="1400" dirty="0"/>
              <a:t>Provides a graphical representation of the entire project, with the schedule timescale (weeks/months) on the </a:t>
            </a:r>
            <a:r>
              <a:rPr lang="en-GB" sz="1400" b="1" dirty="0"/>
              <a:t>horizontal graph</a:t>
            </a:r>
          </a:p>
          <a:p>
            <a:pPr marL="342900" indent="-285750" defTabSz="914400">
              <a:lnSpc>
                <a:spcPct val="90000"/>
              </a:lnSpc>
              <a:spcAft>
                <a:spcPts val="600"/>
              </a:spcAft>
              <a:buFont typeface="Arial" panose="020B0604020202020204" pitchFamily="34" charset="0"/>
              <a:buChar char="•"/>
            </a:pPr>
            <a:r>
              <a:rPr lang="en-GB" sz="1400" b="1" dirty="0"/>
              <a:t>Task List &amp; Duration</a:t>
            </a:r>
          </a:p>
          <a:p>
            <a:pPr marL="57150" defTabSz="914400">
              <a:lnSpc>
                <a:spcPct val="90000"/>
              </a:lnSpc>
              <a:spcAft>
                <a:spcPts val="600"/>
              </a:spcAft>
            </a:pPr>
            <a:r>
              <a:rPr lang="en-GB" sz="1400" dirty="0"/>
              <a:t>Lists all project tasks (derived from the WBS) vertically, with </a:t>
            </a:r>
            <a:r>
              <a:rPr lang="en-GB" sz="1400" b="1" dirty="0"/>
              <a:t>horizontal bars</a:t>
            </a:r>
            <a:r>
              <a:rPr lang="en-GB" sz="1400" dirty="0"/>
              <a:t> showing the planned </a:t>
            </a:r>
            <a:r>
              <a:rPr lang="en-GB" sz="1400" b="1" dirty="0"/>
              <a:t>start date, duration, and end date</a:t>
            </a:r>
            <a:r>
              <a:rPr lang="en-GB" sz="1400" dirty="0"/>
              <a:t> for each activity</a:t>
            </a:r>
          </a:p>
          <a:p>
            <a:pPr marL="57150" defTabSz="914400">
              <a:lnSpc>
                <a:spcPct val="90000"/>
              </a:lnSpc>
              <a:spcAft>
                <a:spcPts val="600"/>
              </a:spcAft>
            </a:pPr>
            <a:endParaRPr lang="en-GB" sz="1400" b="1" dirty="0"/>
          </a:p>
          <a:p>
            <a:pPr marL="342900" indent="-285750" defTabSz="914400">
              <a:lnSpc>
                <a:spcPct val="90000"/>
              </a:lnSpc>
              <a:spcAft>
                <a:spcPts val="600"/>
              </a:spcAft>
              <a:buFont typeface="Arial" panose="020B0604020202020204" pitchFamily="34" charset="0"/>
              <a:buChar char="•"/>
            </a:pPr>
            <a:r>
              <a:rPr lang="en-GB" sz="1400" b="1" dirty="0"/>
              <a:t>Dependencies and Sequence</a:t>
            </a:r>
          </a:p>
          <a:p>
            <a:pPr marL="57150" defTabSz="914400">
              <a:lnSpc>
                <a:spcPct val="90000"/>
              </a:lnSpc>
              <a:spcAft>
                <a:spcPts val="600"/>
              </a:spcAft>
            </a:pPr>
            <a:r>
              <a:rPr lang="en-GB" sz="1400" dirty="0"/>
              <a:t>Clearly illustrates the </a:t>
            </a:r>
            <a:r>
              <a:rPr lang="en-GB" sz="1400" b="1" dirty="0"/>
              <a:t>logical sequence</a:t>
            </a:r>
            <a:r>
              <a:rPr lang="en-GB" sz="1400" dirty="0"/>
              <a:t> and </a:t>
            </a:r>
            <a:r>
              <a:rPr lang="en-GB" sz="1400" b="1" dirty="0"/>
              <a:t>dependencies</a:t>
            </a:r>
            <a:r>
              <a:rPr lang="en-GB" sz="1400" dirty="0"/>
              <a:t> between tasks, ensuring the team knows the correct order of work.</a:t>
            </a:r>
            <a:endParaRPr lang="en-US" sz="1400" dirty="0"/>
          </a:p>
        </p:txBody>
      </p:sp>
      <p:sp>
        <p:nvSpPr>
          <p:cNvPr id="21" name="Rectangle 20">
            <a:extLst>
              <a:ext uri="{FF2B5EF4-FFF2-40B4-BE49-F238E27FC236}">
                <a16:creationId xmlns:a16="http://schemas.microsoft.com/office/drawing/2014/main" id="{09D6A950-3339-40EB-8972-64F44542D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6090" y="642795"/>
            <a:ext cx="6272654" cy="5575126"/>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5A0CAB7C-EC1A-FB2F-31A2-DDD832ACD4DC}"/>
              </a:ext>
            </a:extLst>
          </p:cNvPr>
          <p:cNvPicPr>
            <a:picLocks noGrp="1" noChangeAspect="1"/>
          </p:cNvPicPr>
          <p:nvPr>
            <p:ph idx="1"/>
          </p:nvPr>
        </p:nvPicPr>
        <p:blipFill>
          <a:blip r:embed="rId5"/>
          <a:stretch>
            <a:fillRect/>
          </a:stretch>
        </p:blipFill>
        <p:spPr>
          <a:xfrm>
            <a:off x="5258496" y="671658"/>
            <a:ext cx="6253183" cy="5454821"/>
          </a:xfrm>
          <a:prstGeom prst="rect">
            <a:avLst/>
          </a:prstGeom>
          <a:ln>
            <a:noFill/>
          </a:ln>
          <a:effectLst/>
        </p:spPr>
      </p:pic>
    </p:spTree>
    <p:extLst>
      <p:ext uri="{BB962C8B-B14F-4D97-AF65-F5344CB8AC3E}">
        <p14:creationId xmlns:p14="http://schemas.microsoft.com/office/powerpoint/2010/main" val="1234474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18A6786E-7150-0BCD-4AA4-5A43C13DA4D7}"/>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27E2C850-94E0-408B-9CE6-BA3A357316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3" name="Rectangle 12">
              <a:extLst>
                <a:ext uri="{FF2B5EF4-FFF2-40B4-BE49-F238E27FC236}">
                  <a16:creationId xmlns:a16="http://schemas.microsoft.com/office/drawing/2014/main" id="{DF696BBD-DCA8-4242-B932-B4E20FFBC4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080CC3F-B231-4289-A61F-057AEEB4B32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sp>
        <p:nvSpPr>
          <p:cNvPr id="16" name="Rectangle 15">
            <a:extLst>
              <a:ext uri="{FF2B5EF4-FFF2-40B4-BE49-F238E27FC236}">
                <a16:creationId xmlns:a16="http://schemas.microsoft.com/office/drawing/2014/main" id="{077DC642-2A03-45A0-8FF0-362AFF61C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501856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3364495-ED99-20F5-200D-CAEBBCCD0F31}"/>
              </a:ext>
            </a:extLst>
          </p:cNvPr>
          <p:cNvSpPr>
            <a:spLocks noGrp="1"/>
          </p:cNvSpPr>
          <p:nvPr>
            <p:ph type="title"/>
          </p:nvPr>
        </p:nvSpPr>
        <p:spPr>
          <a:xfrm>
            <a:off x="680322" y="753228"/>
            <a:ext cx="4196478" cy="1080938"/>
          </a:xfrm>
        </p:spPr>
        <p:txBody>
          <a:bodyPr vert="horz" lIns="91440" tIns="45720" rIns="91440" bIns="45720" rtlCol="0" anchor="ctr">
            <a:normAutofit/>
          </a:bodyPr>
          <a:lstStyle/>
          <a:p>
            <a:r>
              <a:rPr lang="en-US" sz="3200"/>
              <a:t>Project Plan – RACI Matrix</a:t>
            </a:r>
          </a:p>
        </p:txBody>
      </p:sp>
      <p:pic>
        <p:nvPicPr>
          <p:cNvPr id="18" name="Picture 17">
            <a:extLst>
              <a:ext uri="{FF2B5EF4-FFF2-40B4-BE49-F238E27FC236}">
                <a16:creationId xmlns:a16="http://schemas.microsoft.com/office/drawing/2014/main" id="{9EBB120D-0399-4F09-B9F1-D6551E891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5029200" cy="202738"/>
          </a:xfrm>
          <a:prstGeom prst="rect">
            <a:avLst/>
          </a:prstGeom>
        </p:spPr>
      </p:pic>
      <p:sp>
        <p:nvSpPr>
          <p:cNvPr id="7" name="TextBox 6">
            <a:extLst>
              <a:ext uri="{FF2B5EF4-FFF2-40B4-BE49-F238E27FC236}">
                <a16:creationId xmlns:a16="http://schemas.microsoft.com/office/drawing/2014/main" id="{EC53DFF4-8A78-BDF1-DCC6-B4B3224DE929}"/>
              </a:ext>
            </a:extLst>
          </p:cNvPr>
          <p:cNvSpPr txBox="1"/>
          <p:nvPr/>
        </p:nvSpPr>
        <p:spPr>
          <a:xfrm>
            <a:off x="680321" y="2336873"/>
            <a:ext cx="4124289" cy="3599316"/>
          </a:xfrm>
          <a:prstGeom prst="rect">
            <a:avLst/>
          </a:prstGeom>
        </p:spPr>
        <p:txBody>
          <a:bodyPr vert="horz" lIns="91440" tIns="45720" rIns="91440" bIns="45720" rtlCol="0">
            <a:normAutofit/>
          </a:bodyPr>
          <a:lstStyle/>
          <a:p>
            <a:pPr marL="285750" indent="-228600" defTabSz="914400">
              <a:lnSpc>
                <a:spcPct val="90000"/>
              </a:lnSpc>
              <a:spcAft>
                <a:spcPts val="600"/>
              </a:spcAft>
              <a:buFont typeface="Wingdings" panose="05000000000000000000" pitchFamily="2" charset="2"/>
              <a:buChar char="Ø"/>
            </a:pPr>
            <a:r>
              <a:rPr lang="en-US" sz="1200" b="0" i="0" dirty="0">
                <a:effectLst/>
              </a:rPr>
              <a:t>IT Project Roles</a:t>
            </a:r>
          </a:p>
          <a:p>
            <a:pPr marL="285750" indent="-228600" defTabSz="914400">
              <a:lnSpc>
                <a:spcPct val="90000"/>
              </a:lnSpc>
              <a:spcAft>
                <a:spcPts val="600"/>
              </a:spcAft>
              <a:buFont typeface="Arial" panose="020B0604020202020204" pitchFamily="34" charset="0"/>
              <a:buChar char="•"/>
            </a:pPr>
            <a:endParaRPr lang="en-US" sz="1200" dirty="0"/>
          </a:p>
          <a:p>
            <a:pPr marL="285750" indent="-228600" defTabSz="914400">
              <a:lnSpc>
                <a:spcPct val="90000"/>
              </a:lnSpc>
              <a:spcAft>
                <a:spcPts val="600"/>
              </a:spcAft>
              <a:buFont typeface="Arial" panose="020B0604020202020204" pitchFamily="34" charset="0"/>
              <a:buChar char="•"/>
            </a:pPr>
            <a:endParaRPr lang="en-US" sz="1200" b="0" i="0" dirty="0">
              <a:effectLst/>
            </a:endParaRPr>
          </a:p>
          <a:p>
            <a:pPr marL="285750" indent="-228600" defTabSz="914400">
              <a:lnSpc>
                <a:spcPct val="90000"/>
              </a:lnSpc>
              <a:spcAft>
                <a:spcPts val="600"/>
              </a:spcAft>
              <a:buFont typeface="Wingdings" panose="05000000000000000000" pitchFamily="2" charset="2"/>
              <a:buChar char="Ø"/>
            </a:pPr>
            <a:r>
              <a:rPr lang="en-US" sz="1200" dirty="0" err="1"/>
              <a:t>Organising</a:t>
            </a:r>
            <a:r>
              <a:rPr lang="en-US" sz="1200" dirty="0"/>
              <a:t> the Roles</a:t>
            </a:r>
          </a:p>
          <a:p>
            <a:pPr marL="285750" indent="-228600" defTabSz="914400">
              <a:lnSpc>
                <a:spcPct val="90000"/>
              </a:lnSpc>
              <a:spcAft>
                <a:spcPts val="600"/>
              </a:spcAft>
              <a:buFont typeface="Arial" panose="020B0604020202020204" pitchFamily="34" charset="0"/>
              <a:buChar char="•"/>
            </a:pPr>
            <a:r>
              <a:rPr lang="en-US" sz="1200" dirty="0"/>
              <a:t>Steering Group</a:t>
            </a:r>
          </a:p>
          <a:p>
            <a:pPr marL="285750" indent="-228600" defTabSz="914400">
              <a:lnSpc>
                <a:spcPct val="90000"/>
              </a:lnSpc>
              <a:spcAft>
                <a:spcPts val="600"/>
              </a:spcAft>
              <a:buFont typeface="Arial" panose="020B0604020202020204" pitchFamily="34" charset="0"/>
              <a:buChar char="•"/>
            </a:pPr>
            <a:r>
              <a:rPr lang="en-US" sz="1200" dirty="0"/>
              <a:t>User Group</a:t>
            </a:r>
          </a:p>
          <a:p>
            <a:pPr marL="285750" indent="-228600" defTabSz="914400">
              <a:lnSpc>
                <a:spcPct val="90000"/>
              </a:lnSpc>
              <a:spcAft>
                <a:spcPts val="600"/>
              </a:spcAft>
              <a:buFont typeface="Arial" panose="020B0604020202020204" pitchFamily="34" charset="0"/>
              <a:buChar char="•"/>
            </a:pPr>
            <a:r>
              <a:rPr lang="en-US" sz="1200" dirty="0"/>
              <a:t>Risk Management Group</a:t>
            </a:r>
          </a:p>
          <a:p>
            <a:pPr marL="285750" indent="-228600" defTabSz="914400">
              <a:lnSpc>
                <a:spcPct val="90000"/>
              </a:lnSpc>
              <a:spcAft>
                <a:spcPts val="600"/>
              </a:spcAft>
              <a:buFont typeface="Arial" panose="020B0604020202020204" pitchFamily="34" charset="0"/>
              <a:buChar char="•"/>
            </a:pPr>
            <a:endParaRPr lang="en-US" sz="1200" dirty="0"/>
          </a:p>
          <a:p>
            <a:pPr marL="285750" indent="-228600" defTabSz="914400">
              <a:lnSpc>
                <a:spcPct val="90000"/>
              </a:lnSpc>
              <a:spcAft>
                <a:spcPts val="600"/>
              </a:spcAft>
              <a:buFont typeface="Arial" panose="020B0604020202020204" pitchFamily="34" charset="0"/>
              <a:buChar char="•"/>
            </a:pPr>
            <a:endParaRPr lang="en-US" sz="1200" dirty="0"/>
          </a:p>
          <a:p>
            <a:pPr marL="285750" indent="-228600" defTabSz="914400">
              <a:lnSpc>
                <a:spcPct val="90000"/>
              </a:lnSpc>
              <a:spcAft>
                <a:spcPts val="600"/>
              </a:spcAft>
              <a:buFont typeface="Wingdings" panose="05000000000000000000" pitchFamily="2" charset="2"/>
              <a:buChar char="Ø"/>
            </a:pPr>
            <a:r>
              <a:rPr lang="en-US" sz="1200" dirty="0"/>
              <a:t>Work Package Assignment</a:t>
            </a:r>
          </a:p>
          <a:p>
            <a:pPr marL="285750" indent="-228600" defTabSz="914400">
              <a:lnSpc>
                <a:spcPct val="90000"/>
              </a:lnSpc>
              <a:spcAft>
                <a:spcPts val="600"/>
              </a:spcAft>
              <a:buFont typeface="Arial" panose="020B0604020202020204" pitchFamily="34" charset="0"/>
              <a:buChar char="•"/>
            </a:pPr>
            <a:r>
              <a:rPr lang="en-US" sz="1200" dirty="0"/>
              <a:t>Responsible </a:t>
            </a:r>
          </a:p>
          <a:p>
            <a:pPr marL="285750" indent="-228600" defTabSz="914400">
              <a:lnSpc>
                <a:spcPct val="90000"/>
              </a:lnSpc>
              <a:spcAft>
                <a:spcPts val="600"/>
              </a:spcAft>
              <a:buFont typeface="Arial" panose="020B0604020202020204" pitchFamily="34" charset="0"/>
              <a:buChar char="•"/>
            </a:pPr>
            <a:r>
              <a:rPr lang="en-US" sz="1200" dirty="0"/>
              <a:t>Accountable </a:t>
            </a:r>
          </a:p>
          <a:p>
            <a:pPr marL="285750" indent="-228600" defTabSz="914400">
              <a:lnSpc>
                <a:spcPct val="90000"/>
              </a:lnSpc>
              <a:spcAft>
                <a:spcPts val="600"/>
              </a:spcAft>
              <a:buFont typeface="Arial" panose="020B0604020202020204" pitchFamily="34" charset="0"/>
              <a:buChar char="•"/>
            </a:pPr>
            <a:r>
              <a:rPr lang="en-US" sz="1200" dirty="0"/>
              <a:t>Consulted</a:t>
            </a:r>
          </a:p>
          <a:p>
            <a:pPr marL="285750" indent="-228600" defTabSz="914400">
              <a:lnSpc>
                <a:spcPct val="90000"/>
              </a:lnSpc>
              <a:spcAft>
                <a:spcPts val="600"/>
              </a:spcAft>
              <a:buFont typeface="Arial" panose="020B0604020202020204" pitchFamily="34" charset="0"/>
              <a:buChar char="•"/>
            </a:pPr>
            <a:r>
              <a:rPr lang="en-US" sz="1200" dirty="0"/>
              <a:t>Informed </a:t>
            </a:r>
            <a:br>
              <a:rPr lang="en-US" sz="1200" dirty="0"/>
            </a:br>
            <a:endParaRPr lang="en-US" sz="1200" dirty="0"/>
          </a:p>
        </p:txBody>
      </p:sp>
      <p:sp>
        <p:nvSpPr>
          <p:cNvPr id="20" name="Rectangle 19">
            <a:extLst>
              <a:ext uri="{FF2B5EF4-FFF2-40B4-BE49-F238E27FC236}">
                <a16:creationId xmlns:a16="http://schemas.microsoft.com/office/drawing/2014/main" id="{0F326001-0279-4BAB-9DFE-CC9E035CD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197" y="488844"/>
            <a:ext cx="3378077" cy="3526040"/>
          </a:xfrm>
          <a:prstGeom prst="rect">
            <a:avLst/>
          </a:prstGeom>
          <a:solidFill>
            <a:srgbClr val="FFFFFF"/>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14A9945-BC1D-4D9D-BAB3-BB4517FBC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67679" y="488844"/>
            <a:ext cx="2739690" cy="2480872"/>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4858F1-2521-4A7E-AC27-46FFD647E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198" y="4169238"/>
            <a:ext cx="3378077" cy="2209379"/>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0BCE823-95DB-40B2-9342-0641555BD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67680" y="3130583"/>
            <a:ext cx="2739690" cy="3248034"/>
          </a:xfrm>
          <a:prstGeom prst="rect">
            <a:avLst/>
          </a:prstGeom>
          <a:solidFill>
            <a:srgbClr val="FFFFFF"/>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4" descr="A screenshot of a computer&#10;&#10;AI-generated content may be incorrect.">
            <a:extLst>
              <a:ext uri="{FF2B5EF4-FFF2-40B4-BE49-F238E27FC236}">
                <a16:creationId xmlns:a16="http://schemas.microsoft.com/office/drawing/2014/main" id="{2CBA79CF-1A03-8332-693B-C086F1A83055}"/>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509084" y="479383"/>
            <a:ext cx="5198286" cy="5776321"/>
          </a:xfrm>
          <a:prstGeom prst="rect">
            <a:avLst/>
          </a:prstGeom>
        </p:spPr>
      </p:pic>
      <p:pic>
        <p:nvPicPr>
          <p:cNvPr id="8" name="Picture 7">
            <a:extLst>
              <a:ext uri="{FF2B5EF4-FFF2-40B4-BE49-F238E27FC236}">
                <a16:creationId xmlns:a16="http://schemas.microsoft.com/office/drawing/2014/main" id="{C7AC0521-C877-1C02-20A6-C183A1846328}"/>
              </a:ext>
            </a:extLst>
          </p:cNvPr>
          <p:cNvPicPr>
            <a:picLocks noChangeAspect="1"/>
          </p:cNvPicPr>
          <p:nvPr/>
        </p:nvPicPr>
        <p:blipFill>
          <a:blip r:embed="rId6"/>
          <a:stretch>
            <a:fillRect/>
          </a:stretch>
        </p:blipFill>
        <p:spPr>
          <a:xfrm>
            <a:off x="3346571" y="5273927"/>
            <a:ext cx="3060457" cy="914479"/>
          </a:xfrm>
          <a:prstGeom prst="rect">
            <a:avLst/>
          </a:prstGeom>
        </p:spPr>
      </p:pic>
    </p:spTree>
    <p:extLst>
      <p:ext uri="{BB962C8B-B14F-4D97-AF65-F5344CB8AC3E}">
        <p14:creationId xmlns:p14="http://schemas.microsoft.com/office/powerpoint/2010/main" val="3588693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2B1A9BAD-8724-E698-C502-72ECF4A0105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DCA3673-CDE4-40C5-9FA8-F89874CFB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95756E8F-499C-4533-BBE8-309C3E8D98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5" name="Rectangle 14">
            <a:extLst>
              <a:ext uri="{FF2B5EF4-FFF2-40B4-BE49-F238E27FC236}">
                <a16:creationId xmlns:a16="http://schemas.microsoft.com/office/drawing/2014/main" id="{0FFFD040-32A9-4D2B-86CA-599D030A4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63205CA-B7FF-4C25-A4C8-3BBBCE19D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A5B56FFF-E45F-365E-2275-6691524F1BE6}"/>
              </a:ext>
            </a:extLst>
          </p:cNvPr>
          <p:cNvSpPr>
            <a:spLocks noGrp="1"/>
          </p:cNvSpPr>
          <p:nvPr>
            <p:ph type="title"/>
          </p:nvPr>
        </p:nvSpPr>
        <p:spPr>
          <a:xfrm>
            <a:off x="680321" y="753228"/>
            <a:ext cx="4136123" cy="1080938"/>
          </a:xfrm>
        </p:spPr>
        <p:txBody>
          <a:bodyPr vert="horz" lIns="91440" tIns="45720" rIns="91440" bIns="45720" rtlCol="0" anchor="ctr">
            <a:normAutofit/>
          </a:bodyPr>
          <a:lstStyle/>
          <a:p>
            <a:r>
              <a:rPr lang="en-US" sz="2400"/>
              <a:t>Project Plan – COCOMO Estimate</a:t>
            </a:r>
          </a:p>
        </p:txBody>
      </p:sp>
      <p:pic>
        <p:nvPicPr>
          <p:cNvPr id="19" name="Picture 18">
            <a:extLst>
              <a:ext uri="{FF2B5EF4-FFF2-40B4-BE49-F238E27FC236}">
                <a16:creationId xmlns:a16="http://schemas.microsoft.com/office/drawing/2014/main" id="{306E3F32-3C1A-4B6E-AF26-8A15A78856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6" name="TextBox 5">
            <a:extLst>
              <a:ext uri="{FF2B5EF4-FFF2-40B4-BE49-F238E27FC236}">
                <a16:creationId xmlns:a16="http://schemas.microsoft.com/office/drawing/2014/main" id="{67A82A25-BD73-4F98-C2C5-456528B2374A}"/>
              </a:ext>
            </a:extLst>
          </p:cNvPr>
          <p:cNvSpPr txBox="1"/>
          <p:nvPr/>
        </p:nvSpPr>
        <p:spPr>
          <a:xfrm>
            <a:off x="680321" y="2336873"/>
            <a:ext cx="3656289" cy="3599316"/>
          </a:xfrm>
          <a:prstGeom prst="rect">
            <a:avLst/>
          </a:prstGeom>
        </p:spPr>
        <p:txBody>
          <a:bodyPr vert="horz" lIns="91440" tIns="45720" rIns="91440" bIns="45720" rtlCol="0">
            <a:normAutofit fontScale="92500" lnSpcReduction="20000"/>
          </a:bodyPr>
          <a:lstStyle/>
          <a:p>
            <a:pPr indent="-228600" defTabSz="914400">
              <a:lnSpc>
                <a:spcPct val="90000"/>
              </a:lnSpc>
              <a:spcAft>
                <a:spcPts val="600"/>
              </a:spcAft>
              <a:buFont typeface="Arial" panose="020B0604020202020204" pitchFamily="34" charset="0"/>
              <a:buChar char="•"/>
            </a:pPr>
            <a:r>
              <a:rPr lang="en-US" sz="1200" dirty="0"/>
              <a:t>Quantitative Estimation Tool:</a:t>
            </a:r>
          </a:p>
          <a:p>
            <a:pPr defTabSz="914400">
              <a:lnSpc>
                <a:spcPct val="90000"/>
              </a:lnSpc>
              <a:spcAft>
                <a:spcPts val="600"/>
              </a:spcAft>
            </a:pPr>
            <a:r>
              <a:rPr lang="en-US" sz="1200" dirty="0"/>
              <a:t> COCOMO II (Constructive Cost Model) is an algorithmic model used to provide a data-driven estimate of project scale and effort.</a:t>
            </a:r>
          </a:p>
          <a:p>
            <a:pPr marL="171450" indent="-171450" defTabSz="914400">
              <a:lnSpc>
                <a:spcPct val="90000"/>
              </a:lnSpc>
              <a:spcAft>
                <a:spcPts val="600"/>
              </a:spcAft>
              <a:buFont typeface="Arial" panose="020B0604020202020204" pitchFamily="34" charset="0"/>
              <a:buChar char="•"/>
            </a:pPr>
            <a:r>
              <a:rPr lang="en-US" sz="1200" dirty="0"/>
              <a:t>Core Results: </a:t>
            </a:r>
          </a:p>
          <a:p>
            <a:pPr defTabSz="914400">
              <a:lnSpc>
                <a:spcPct val="90000"/>
              </a:lnSpc>
              <a:spcAft>
                <a:spcPts val="600"/>
              </a:spcAft>
            </a:pPr>
            <a:r>
              <a:rPr lang="en-US" sz="1200" dirty="0"/>
              <a:t>The model estimates the software development phase will require: Effort: 2.3 Person-Months of work. Schedule: A duration of 3.1 Months until completion.</a:t>
            </a:r>
          </a:p>
          <a:p>
            <a:pPr marL="171450" indent="-171450" defTabSz="914400">
              <a:lnSpc>
                <a:spcPct val="90000"/>
              </a:lnSpc>
              <a:spcAft>
                <a:spcPts val="600"/>
              </a:spcAft>
              <a:buFont typeface="Arial" panose="020B0604020202020204" pitchFamily="34" charset="0"/>
              <a:buChar char="•"/>
            </a:pPr>
            <a:r>
              <a:rPr lang="en-US" sz="1200" dirty="0"/>
              <a:t>Basis of Estimate:</a:t>
            </a:r>
          </a:p>
          <a:p>
            <a:pPr defTabSz="914400">
              <a:lnSpc>
                <a:spcPct val="90000"/>
              </a:lnSpc>
              <a:spcAft>
                <a:spcPts val="600"/>
              </a:spcAft>
            </a:pPr>
            <a:r>
              <a:rPr lang="en-US" sz="1200" dirty="0"/>
              <a:t> This calculation is based on an estimated project size of 8448 SLOC (Source Lines of Code) and an Effort Adjustment Factor (EAF) of 0.10.</a:t>
            </a:r>
          </a:p>
          <a:p>
            <a:pPr marL="171450" indent="-171450" defTabSz="914400">
              <a:lnSpc>
                <a:spcPct val="90000"/>
              </a:lnSpc>
              <a:spcAft>
                <a:spcPts val="600"/>
              </a:spcAft>
              <a:buFont typeface="Arial" panose="020B0604020202020204" pitchFamily="34" charset="0"/>
              <a:buChar char="•"/>
            </a:pPr>
            <a:r>
              <a:rPr lang="en-US" sz="1200" dirty="0"/>
              <a:t>Effort Distribution:</a:t>
            </a:r>
          </a:p>
          <a:p>
            <a:pPr defTabSz="914400">
              <a:lnSpc>
                <a:spcPct val="90000"/>
              </a:lnSpc>
              <a:spcAft>
                <a:spcPts val="600"/>
              </a:spcAft>
            </a:pPr>
            <a:r>
              <a:rPr lang="en-US" sz="1200" dirty="0"/>
              <a:t> The work is distributed across the phases, focusing heavily on Construction (1.7 Person-Months) and Elaboration (0.5 Person-Months), which informs our resource loading. </a:t>
            </a:r>
          </a:p>
          <a:p>
            <a:pPr marL="171450" indent="-171450" defTabSz="914400">
              <a:lnSpc>
                <a:spcPct val="90000"/>
              </a:lnSpc>
              <a:spcAft>
                <a:spcPts val="600"/>
              </a:spcAft>
              <a:buFont typeface="Arial" panose="020B0604020202020204" pitchFamily="34" charset="0"/>
              <a:buChar char="•"/>
            </a:pPr>
            <a:r>
              <a:rPr lang="en-US" sz="1200" dirty="0"/>
              <a:t>Integration with Planning:</a:t>
            </a:r>
          </a:p>
          <a:p>
            <a:pPr defTabSz="914400">
              <a:lnSpc>
                <a:spcPct val="90000"/>
              </a:lnSpc>
              <a:spcAft>
                <a:spcPts val="600"/>
              </a:spcAft>
            </a:pPr>
            <a:r>
              <a:rPr lang="en-US" sz="1200" dirty="0"/>
              <a:t> These results are crucial inputs for: Defining Task Durations in the GANTT Chart. Determining the required Staffing Profile (team size) for our Resource Plan.</a:t>
            </a:r>
          </a:p>
        </p:txBody>
      </p:sp>
      <p:pic>
        <p:nvPicPr>
          <p:cNvPr id="4" name="Content Placeholder 4" descr="A screenshot of a document&#10;&#10;AI-generated content may be incorrect.">
            <a:extLst>
              <a:ext uri="{FF2B5EF4-FFF2-40B4-BE49-F238E27FC236}">
                <a16:creationId xmlns:a16="http://schemas.microsoft.com/office/drawing/2014/main" id="{89FF4F19-43F3-D97E-9D66-71B9956E2C1B}"/>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276090" y="1344398"/>
            <a:ext cx="6269479" cy="4169203"/>
          </a:xfrm>
          <a:prstGeom prst="rect">
            <a:avLst/>
          </a:prstGeom>
          <a:ln>
            <a:noFill/>
          </a:ln>
          <a:effectLst>
            <a:outerShdw blurRad="76200" dist="63500" dir="5040000" algn="tl" rotWithShape="0">
              <a:srgbClr val="000000">
                <a:alpha val="41000"/>
              </a:srgbClr>
            </a:outerShdw>
          </a:effectLst>
        </p:spPr>
      </p:pic>
      <p:pic>
        <p:nvPicPr>
          <p:cNvPr id="5" name="Picture 4" descr="A graph of a number of columns&#10;&#10;AI-generated content may be incorrect.">
            <a:extLst>
              <a:ext uri="{FF2B5EF4-FFF2-40B4-BE49-F238E27FC236}">
                <a16:creationId xmlns:a16="http://schemas.microsoft.com/office/drawing/2014/main" id="{968628BF-CBBC-C30F-D8A9-45662D89CE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10829" y="2170028"/>
            <a:ext cx="3118806" cy="1868572"/>
          </a:xfrm>
          <a:prstGeom prst="rect">
            <a:avLst/>
          </a:prstGeom>
        </p:spPr>
      </p:pic>
    </p:spTree>
    <p:extLst>
      <p:ext uri="{BB962C8B-B14F-4D97-AF65-F5344CB8AC3E}">
        <p14:creationId xmlns:p14="http://schemas.microsoft.com/office/powerpoint/2010/main" val="3661503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5A575679-C67B-3E84-59E4-85A6FA1AB38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95ACAC-577D-4FAD-955D-280C3D104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228037F-2EF2-4A1A-8D1D-D08F2C98AD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6" name="Rectangle 15">
            <a:extLst>
              <a:ext uri="{FF2B5EF4-FFF2-40B4-BE49-F238E27FC236}">
                <a16:creationId xmlns:a16="http://schemas.microsoft.com/office/drawing/2014/main" id="{0AB11C2E-6CA2-4822-BF14-C1C9A6BC6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8B3A2B2-7BBB-4E52-8C30-BE2A6F34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2110655-9916-555B-3EA6-0736539BF5E1}"/>
              </a:ext>
            </a:extLst>
          </p:cNvPr>
          <p:cNvSpPr>
            <a:spLocks noGrp="1"/>
          </p:cNvSpPr>
          <p:nvPr>
            <p:ph type="title"/>
          </p:nvPr>
        </p:nvSpPr>
        <p:spPr>
          <a:xfrm>
            <a:off x="680321" y="753228"/>
            <a:ext cx="4136123" cy="1080938"/>
          </a:xfrm>
        </p:spPr>
        <p:txBody>
          <a:bodyPr>
            <a:normAutofit/>
          </a:bodyPr>
          <a:lstStyle/>
          <a:p>
            <a:r>
              <a:rPr lang="en-GB" sz="2400"/>
              <a:t>Risk Management Plan – Risk Register</a:t>
            </a:r>
          </a:p>
        </p:txBody>
      </p:sp>
      <p:pic>
        <p:nvPicPr>
          <p:cNvPr id="20" name="Picture 19">
            <a:extLst>
              <a:ext uri="{FF2B5EF4-FFF2-40B4-BE49-F238E27FC236}">
                <a16:creationId xmlns:a16="http://schemas.microsoft.com/office/drawing/2014/main" id="{FFF756FE-278B-4106-BB2E-DB87CF02DF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9" name="Content Placeholder 8">
            <a:extLst>
              <a:ext uri="{FF2B5EF4-FFF2-40B4-BE49-F238E27FC236}">
                <a16:creationId xmlns:a16="http://schemas.microsoft.com/office/drawing/2014/main" id="{6ED1539B-0743-FE09-D533-D5E58292D39E}"/>
              </a:ext>
            </a:extLst>
          </p:cNvPr>
          <p:cNvSpPr>
            <a:spLocks noGrp="1"/>
          </p:cNvSpPr>
          <p:nvPr>
            <p:ph idx="1"/>
          </p:nvPr>
        </p:nvSpPr>
        <p:spPr>
          <a:xfrm>
            <a:off x="680321" y="2336873"/>
            <a:ext cx="3656289" cy="2351100"/>
          </a:xfrm>
          <a:solidFill>
            <a:srgbClr val="000000">
              <a:alpha val="10196"/>
            </a:srgbClr>
          </a:solidFill>
        </p:spPr>
        <p:txBody>
          <a:bodyPr>
            <a:normAutofit/>
          </a:bodyPr>
          <a:lstStyle/>
          <a:p>
            <a:r>
              <a:rPr lang="en-US" sz="1400" dirty="0"/>
              <a:t>Identify Risks</a:t>
            </a:r>
          </a:p>
          <a:p>
            <a:r>
              <a:rPr lang="en-US" sz="1400" dirty="0"/>
              <a:t>Assign ID and description for each risk</a:t>
            </a:r>
          </a:p>
          <a:p>
            <a:r>
              <a:rPr lang="en-US" sz="1400" dirty="0"/>
              <a:t>Determine how likely (probability) the risk and the impact it would have on project.</a:t>
            </a:r>
          </a:p>
          <a:p>
            <a:r>
              <a:rPr lang="en-US" sz="1400" dirty="0"/>
              <a:t>Determine how to deal with/respond to the risk.</a:t>
            </a:r>
          </a:p>
          <a:p>
            <a:r>
              <a:rPr lang="en-US" sz="1400" dirty="0"/>
              <a:t>Largest risks for this project were Scope Creep and Communication Issues.</a:t>
            </a:r>
          </a:p>
        </p:txBody>
      </p:sp>
      <p:sp>
        <p:nvSpPr>
          <p:cNvPr id="22" name="Rectangle 21">
            <a:extLst>
              <a:ext uri="{FF2B5EF4-FFF2-40B4-BE49-F238E27FC236}">
                <a16:creationId xmlns:a16="http://schemas.microsoft.com/office/drawing/2014/main" id="{09D6A950-3339-40EB-8972-64F44542D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6090" y="642795"/>
            <a:ext cx="6272654" cy="5575126"/>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F43B66E-3161-07AD-D816-2313C29B93E9}"/>
              </a:ext>
            </a:extLst>
          </p:cNvPr>
          <p:cNvPicPr>
            <a:picLocks noChangeAspect="1"/>
          </p:cNvPicPr>
          <p:nvPr/>
        </p:nvPicPr>
        <p:blipFill>
          <a:blip r:embed="rId5"/>
          <a:stretch>
            <a:fillRect/>
          </a:stretch>
        </p:blipFill>
        <p:spPr>
          <a:xfrm>
            <a:off x="5589909" y="2616181"/>
            <a:ext cx="5574005" cy="1618844"/>
          </a:xfrm>
          <a:prstGeom prst="rect">
            <a:avLst/>
          </a:prstGeom>
        </p:spPr>
      </p:pic>
    </p:spTree>
    <p:extLst>
      <p:ext uri="{BB962C8B-B14F-4D97-AF65-F5344CB8AC3E}">
        <p14:creationId xmlns:p14="http://schemas.microsoft.com/office/powerpoint/2010/main" val="2946345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1698906-F123-49CB-B633-247AC4870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2AFB628-1D2A-4F5A-8E9E-2C8E917B59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21" name="Rectangle 20">
            <a:extLst>
              <a:ext uri="{FF2B5EF4-FFF2-40B4-BE49-F238E27FC236}">
                <a16:creationId xmlns:a16="http://schemas.microsoft.com/office/drawing/2014/main" id="{5D86D9DA-31E3-48ED-9F77-2D8B649BD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4C6B320-AA89-4C19-89F7-71D46B26BA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641286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A6CDAB3-AE4A-7450-4582-C1FE88910BDA}"/>
              </a:ext>
            </a:extLst>
          </p:cNvPr>
          <p:cNvSpPr>
            <a:spLocks noGrp="1"/>
          </p:cNvSpPr>
          <p:nvPr>
            <p:ph type="title"/>
          </p:nvPr>
        </p:nvSpPr>
        <p:spPr>
          <a:xfrm>
            <a:off x="680321" y="753228"/>
            <a:ext cx="5584677" cy="1080938"/>
          </a:xfrm>
        </p:spPr>
        <p:txBody>
          <a:bodyPr>
            <a:normAutofit/>
          </a:bodyPr>
          <a:lstStyle/>
          <a:p>
            <a:r>
              <a:rPr lang="en-GB" dirty="0"/>
              <a:t>Risk Management Plan – Risk Map</a:t>
            </a:r>
          </a:p>
        </p:txBody>
      </p:sp>
      <p:pic>
        <p:nvPicPr>
          <p:cNvPr id="25" name="Picture 24">
            <a:extLst>
              <a:ext uri="{FF2B5EF4-FFF2-40B4-BE49-F238E27FC236}">
                <a16:creationId xmlns:a16="http://schemas.microsoft.com/office/drawing/2014/main" id="{4AC1383A-2DFB-422E-8FB2-1CABD96DDF9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6409944" cy="258395"/>
          </a:xfrm>
          <a:prstGeom prst="rect">
            <a:avLst/>
          </a:prstGeom>
        </p:spPr>
      </p:pic>
      <p:sp>
        <p:nvSpPr>
          <p:cNvPr id="14" name="Content Placeholder 13">
            <a:extLst>
              <a:ext uri="{FF2B5EF4-FFF2-40B4-BE49-F238E27FC236}">
                <a16:creationId xmlns:a16="http://schemas.microsoft.com/office/drawing/2014/main" id="{9CD3459E-A9A6-8A06-22B1-CF463D9DA95A}"/>
              </a:ext>
            </a:extLst>
          </p:cNvPr>
          <p:cNvSpPr>
            <a:spLocks noGrp="1"/>
          </p:cNvSpPr>
          <p:nvPr>
            <p:ph idx="1"/>
          </p:nvPr>
        </p:nvSpPr>
        <p:spPr>
          <a:xfrm>
            <a:off x="680321" y="2336873"/>
            <a:ext cx="5104843" cy="2292492"/>
          </a:xfrm>
          <a:solidFill>
            <a:srgbClr val="000000">
              <a:alpha val="10196"/>
            </a:srgbClr>
          </a:solidFill>
        </p:spPr>
        <p:txBody>
          <a:bodyPr>
            <a:normAutofit/>
          </a:bodyPr>
          <a:lstStyle/>
          <a:p>
            <a:r>
              <a:rPr lang="en-US" sz="2000" dirty="0"/>
              <a:t>Visualizes the probability, impact and category for identified risks in Risk Register.</a:t>
            </a:r>
          </a:p>
          <a:p>
            <a:r>
              <a:rPr lang="en-US" sz="2000" dirty="0"/>
              <a:t>Assign a rating based on how severe the risk is.</a:t>
            </a:r>
          </a:p>
          <a:p>
            <a:r>
              <a:rPr lang="en-US" sz="2000" dirty="0"/>
              <a:t>Intention is to quickly classify risks and know which ones need the most focus.</a:t>
            </a:r>
          </a:p>
        </p:txBody>
      </p:sp>
      <p:sp>
        <p:nvSpPr>
          <p:cNvPr id="27" name="Rectangle 26">
            <a:extLst>
              <a:ext uri="{FF2B5EF4-FFF2-40B4-BE49-F238E27FC236}">
                <a16:creationId xmlns:a16="http://schemas.microsoft.com/office/drawing/2014/main" id="{645EE119-0AC6-45BA-AE5E-A86AFE1C7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163" y="642795"/>
            <a:ext cx="4812406" cy="5575125"/>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1F0559A-509D-460D-5837-89064407E0F1}"/>
              </a:ext>
            </a:extLst>
          </p:cNvPr>
          <p:cNvPicPr>
            <a:picLocks noChangeAspect="1"/>
          </p:cNvPicPr>
          <p:nvPr/>
        </p:nvPicPr>
        <p:blipFill>
          <a:blip r:embed="rId5"/>
          <a:stretch>
            <a:fillRect/>
          </a:stretch>
        </p:blipFill>
        <p:spPr>
          <a:xfrm>
            <a:off x="7119884" y="3266299"/>
            <a:ext cx="4314630" cy="1938082"/>
          </a:xfrm>
          <a:prstGeom prst="rect">
            <a:avLst/>
          </a:prstGeom>
        </p:spPr>
      </p:pic>
      <p:pic>
        <p:nvPicPr>
          <p:cNvPr id="8" name="Picture 7">
            <a:extLst>
              <a:ext uri="{FF2B5EF4-FFF2-40B4-BE49-F238E27FC236}">
                <a16:creationId xmlns:a16="http://schemas.microsoft.com/office/drawing/2014/main" id="{15E87E7C-CC27-4D6D-62F5-E1C85708B895}"/>
              </a:ext>
            </a:extLst>
          </p:cNvPr>
          <p:cNvPicPr>
            <a:picLocks noChangeAspect="1"/>
          </p:cNvPicPr>
          <p:nvPr/>
        </p:nvPicPr>
        <p:blipFill>
          <a:blip r:embed="rId6"/>
          <a:stretch>
            <a:fillRect/>
          </a:stretch>
        </p:blipFill>
        <p:spPr>
          <a:xfrm>
            <a:off x="6720782" y="848178"/>
            <a:ext cx="4713732" cy="2538984"/>
          </a:xfrm>
          <a:prstGeom prst="rect">
            <a:avLst/>
          </a:prstGeom>
        </p:spPr>
      </p:pic>
    </p:spTree>
    <p:extLst>
      <p:ext uri="{BB962C8B-B14F-4D97-AF65-F5344CB8AC3E}">
        <p14:creationId xmlns:p14="http://schemas.microsoft.com/office/powerpoint/2010/main" val="3093783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72AD2A0D-50F3-2E74-132B-F849BFFD9CE4}"/>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395ACAC-577D-4FAD-955D-280C3D104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E228037F-2EF2-4A1A-8D1D-D08F2C98AD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32" name="Rectangle 31">
            <a:extLst>
              <a:ext uri="{FF2B5EF4-FFF2-40B4-BE49-F238E27FC236}">
                <a16:creationId xmlns:a16="http://schemas.microsoft.com/office/drawing/2014/main" id="{0AB11C2E-6CA2-4822-BF14-C1C9A6BC6C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8B3A2B2-7BBB-4E52-8C30-BE2A6F34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5CF49AB-CC79-3ED8-6D1B-3DEFFF55D1B5}"/>
              </a:ext>
            </a:extLst>
          </p:cNvPr>
          <p:cNvSpPr>
            <a:spLocks noGrp="1"/>
          </p:cNvSpPr>
          <p:nvPr>
            <p:ph type="title"/>
          </p:nvPr>
        </p:nvSpPr>
        <p:spPr>
          <a:xfrm>
            <a:off x="680321" y="753228"/>
            <a:ext cx="4136123" cy="1080938"/>
          </a:xfrm>
        </p:spPr>
        <p:txBody>
          <a:bodyPr>
            <a:normAutofit/>
          </a:bodyPr>
          <a:lstStyle/>
          <a:p>
            <a:r>
              <a:rPr lang="en-GB" sz="2400"/>
              <a:t>Risk Management Plan – RAID Log</a:t>
            </a:r>
          </a:p>
        </p:txBody>
      </p:sp>
      <p:pic>
        <p:nvPicPr>
          <p:cNvPr id="36" name="Picture 35">
            <a:extLst>
              <a:ext uri="{FF2B5EF4-FFF2-40B4-BE49-F238E27FC236}">
                <a16:creationId xmlns:a16="http://schemas.microsoft.com/office/drawing/2014/main" id="{FFF756FE-278B-4106-BB2E-DB87CF02DF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25" name="Content Placeholder 24">
            <a:extLst>
              <a:ext uri="{FF2B5EF4-FFF2-40B4-BE49-F238E27FC236}">
                <a16:creationId xmlns:a16="http://schemas.microsoft.com/office/drawing/2014/main" id="{E46E3CA5-99D4-057D-0CCF-4EE5776CCD94}"/>
              </a:ext>
            </a:extLst>
          </p:cNvPr>
          <p:cNvSpPr>
            <a:spLocks noGrp="1"/>
          </p:cNvSpPr>
          <p:nvPr>
            <p:ph idx="1"/>
          </p:nvPr>
        </p:nvSpPr>
        <p:spPr>
          <a:xfrm>
            <a:off x="680321" y="2336873"/>
            <a:ext cx="3656289" cy="2782179"/>
          </a:xfrm>
          <a:solidFill>
            <a:srgbClr val="000000">
              <a:alpha val="10196"/>
            </a:srgbClr>
          </a:solidFill>
        </p:spPr>
        <p:txBody>
          <a:bodyPr>
            <a:normAutofit/>
          </a:bodyPr>
          <a:lstStyle/>
          <a:p>
            <a:r>
              <a:rPr lang="en-US" sz="1400" dirty="0"/>
              <a:t>Expands upon risks in detail.</a:t>
            </a:r>
          </a:p>
          <a:p>
            <a:r>
              <a:rPr lang="en-US" sz="1400" dirty="0"/>
              <a:t>Assign a RAID Category; Risk, Actions/Assumptions, Issues or Decisions/Dependency.</a:t>
            </a:r>
          </a:p>
          <a:p>
            <a:r>
              <a:rPr lang="en-US" sz="1400" dirty="0"/>
              <a:t>Assign an owner (someone within the team who is responsible/allocated to the risk)</a:t>
            </a:r>
          </a:p>
          <a:p>
            <a:r>
              <a:rPr lang="en-US" sz="1400" dirty="0"/>
              <a:t>Assign priority value and therefore Risk Priority Number to each risk.</a:t>
            </a:r>
          </a:p>
          <a:p>
            <a:r>
              <a:rPr lang="en-US" sz="1400" dirty="0"/>
              <a:t>Assign a status value whenever the ‘status’ of the risk is updated.</a:t>
            </a:r>
          </a:p>
          <a:p>
            <a:endParaRPr lang="en-US" sz="1400" dirty="0"/>
          </a:p>
        </p:txBody>
      </p:sp>
      <p:sp>
        <p:nvSpPr>
          <p:cNvPr id="38" name="Rectangle 37">
            <a:extLst>
              <a:ext uri="{FF2B5EF4-FFF2-40B4-BE49-F238E27FC236}">
                <a16:creationId xmlns:a16="http://schemas.microsoft.com/office/drawing/2014/main" id="{09D6A950-3339-40EB-8972-64F44542D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6090" y="642795"/>
            <a:ext cx="6272654" cy="5575126"/>
          </a:xfrm>
          <a:prstGeom prst="rect">
            <a:avLst/>
          </a:prstGeom>
          <a:solidFill>
            <a:schemeClr val="tx1"/>
          </a:solidFill>
          <a:ln>
            <a:noFill/>
          </a:ln>
          <a:effectLst>
            <a:outerShdw blurRad="76200" dist="63500" dir="5040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376301A-95B3-1DF8-CED7-0029B440CBC2}"/>
              </a:ext>
            </a:extLst>
          </p:cNvPr>
          <p:cNvPicPr>
            <a:picLocks noChangeAspect="1"/>
          </p:cNvPicPr>
          <p:nvPr/>
        </p:nvPicPr>
        <p:blipFill>
          <a:blip r:embed="rId5"/>
          <a:stretch>
            <a:fillRect/>
          </a:stretch>
        </p:blipFill>
        <p:spPr>
          <a:xfrm>
            <a:off x="5503815" y="1814287"/>
            <a:ext cx="5823425" cy="3222631"/>
          </a:xfrm>
          <a:prstGeom prst="rect">
            <a:avLst/>
          </a:prstGeom>
        </p:spPr>
      </p:pic>
    </p:spTree>
    <p:extLst>
      <p:ext uri="{BB962C8B-B14F-4D97-AF65-F5344CB8AC3E}">
        <p14:creationId xmlns:p14="http://schemas.microsoft.com/office/powerpoint/2010/main" val="1035420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0F67B6CE-2210-923A-2F3E-07F722F03D3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252EB36-EB2C-4AFE-B09B-0DF8AC871E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0" name="Rectangle 9">
              <a:extLst>
                <a:ext uri="{FF2B5EF4-FFF2-40B4-BE49-F238E27FC236}">
                  <a16:creationId xmlns:a16="http://schemas.microsoft.com/office/drawing/2014/main" id="{7CE68524-856D-453B-9349-8E8CBC8BFC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99688E6-8880-4976-A59B-AB148C7C998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5" name="Picture 4" descr="Complete puzzle with one piece lit up">
            <a:extLst>
              <a:ext uri="{FF2B5EF4-FFF2-40B4-BE49-F238E27FC236}">
                <a16:creationId xmlns:a16="http://schemas.microsoft.com/office/drawing/2014/main" id="{86A988D8-8A4F-9B5B-2F02-69AC0233F20E}"/>
              </a:ext>
            </a:extLst>
          </p:cNvPr>
          <p:cNvPicPr>
            <a:picLocks noChangeAspect="1"/>
          </p:cNvPicPr>
          <p:nvPr/>
        </p:nvPicPr>
        <p:blipFill>
          <a:blip r:embed="rId3"/>
          <a:srcRect l="6549" r="10831" b="-2"/>
          <a:stretch>
            <a:fillRect/>
          </a:stretch>
        </p:blipFill>
        <p:spPr>
          <a:xfrm>
            <a:off x="4636008" y="10"/>
            <a:ext cx="7552815" cy="6856310"/>
          </a:xfrm>
          <a:prstGeom prst="rect">
            <a:avLst/>
          </a:prstGeom>
          <a:ln>
            <a:noFill/>
          </a:ln>
          <a:effectLst/>
        </p:spPr>
      </p:pic>
      <p:sp>
        <p:nvSpPr>
          <p:cNvPr id="13" name="Rectangle 12">
            <a:extLst>
              <a:ext uri="{FF2B5EF4-FFF2-40B4-BE49-F238E27FC236}">
                <a16:creationId xmlns:a16="http://schemas.microsoft.com/office/drawing/2014/main" id="{B8D0330D-F534-4131-9807-B71B9EF12B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501856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2C48B772-CDA6-359B-3BF2-C1CC80B24A5F}"/>
              </a:ext>
            </a:extLst>
          </p:cNvPr>
          <p:cNvSpPr>
            <a:spLocks noGrp="1"/>
          </p:cNvSpPr>
          <p:nvPr>
            <p:ph type="title"/>
          </p:nvPr>
        </p:nvSpPr>
        <p:spPr>
          <a:xfrm>
            <a:off x="680322" y="753228"/>
            <a:ext cx="3679028" cy="1080938"/>
          </a:xfrm>
        </p:spPr>
        <p:txBody>
          <a:bodyPr>
            <a:normAutofit/>
          </a:bodyPr>
          <a:lstStyle/>
          <a:p>
            <a:r>
              <a:rPr lang="en-GB" sz="3200" dirty="0"/>
              <a:t>Envisioned Solution</a:t>
            </a:r>
          </a:p>
        </p:txBody>
      </p:sp>
      <p:pic>
        <p:nvPicPr>
          <p:cNvPr id="15" name="Picture 14">
            <a:extLst>
              <a:ext uri="{FF2B5EF4-FFF2-40B4-BE49-F238E27FC236}">
                <a16:creationId xmlns:a16="http://schemas.microsoft.com/office/drawing/2014/main" id="{18B7ED37-7ABB-42DD-AB26-3F9028261B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5029200" cy="202738"/>
          </a:xfrm>
          <a:prstGeom prst="rect">
            <a:avLst/>
          </a:prstGeom>
        </p:spPr>
      </p:pic>
      <p:sp>
        <p:nvSpPr>
          <p:cNvPr id="3" name="Content Placeholder 2">
            <a:extLst>
              <a:ext uri="{FF2B5EF4-FFF2-40B4-BE49-F238E27FC236}">
                <a16:creationId xmlns:a16="http://schemas.microsoft.com/office/drawing/2014/main" id="{59527FC4-AA6B-8537-97B2-5ABADC5B553B}"/>
              </a:ext>
            </a:extLst>
          </p:cNvPr>
          <p:cNvSpPr>
            <a:spLocks noGrp="1"/>
          </p:cNvSpPr>
          <p:nvPr>
            <p:ph idx="1"/>
          </p:nvPr>
        </p:nvSpPr>
        <p:spPr>
          <a:xfrm>
            <a:off x="680322" y="2336873"/>
            <a:ext cx="3581635" cy="3599316"/>
          </a:xfrm>
        </p:spPr>
        <p:txBody>
          <a:bodyPr>
            <a:normAutofit/>
          </a:bodyPr>
          <a:lstStyle/>
          <a:p>
            <a:endParaRPr lang="en-GB" sz="1600"/>
          </a:p>
        </p:txBody>
      </p:sp>
    </p:spTree>
    <p:extLst>
      <p:ext uri="{BB962C8B-B14F-4D97-AF65-F5344CB8AC3E}">
        <p14:creationId xmlns:p14="http://schemas.microsoft.com/office/powerpoint/2010/main" val="2195247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DCA3673-CDE4-40C5-9FA8-F89874CFB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5756E8F-499C-4533-BBE8-309C3E8D98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sp>
        <p:nvSpPr>
          <p:cNvPr id="16" name="Rectangle 15">
            <a:extLst>
              <a:ext uri="{FF2B5EF4-FFF2-40B4-BE49-F238E27FC236}">
                <a16:creationId xmlns:a16="http://schemas.microsoft.com/office/drawing/2014/main" id="{0FFFD040-32A9-4D2B-86CA-599D030A4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63205CA-B7FF-4C25-A4C8-3BBBCE19D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4959094"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118B1F36-D50C-9658-B70E-742F7A4C1DAC}"/>
              </a:ext>
            </a:extLst>
          </p:cNvPr>
          <p:cNvSpPr>
            <a:spLocks noGrp="1"/>
          </p:cNvSpPr>
          <p:nvPr>
            <p:ph type="title"/>
          </p:nvPr>
        </p:nvSpPr>
        <p:spPr>
          <a:xfrm>
            <a:off x="680321" y="753228"/>
            <a:ext cx="4136123" cy="1080938"/>
          </a:xfrm>
        </p:spPr>
        <p:txBody>
          <a:bodyPr vert="horz" lIns="91440" tIns="45720" rIns="91440" bIns="45720" rtlCol="0" anchor="ctr">
            <a:normAutofit/>
          </a:bodyPr>
          <a:lstStyle/>
          <a:p>
            <a:r>
              <a:rPr lang="en-US" sz="2400" dirty="0" err="1"/>
              <a:t>MoSCoW</a:t>
            </a:r>
            <a:endParaRPr lang="en-US" sz="2400" dirty="0"/>
          </a:p>
        </p:txBody>
      </p:sp>
      <p:pic>
        <p:nvPicPr>
          <p:cNvPr id="20" name="Picture 19">
            <a:extLst>
              <a:ext uri="{FF2B5EF4-FFF2-40B4-BE49-F238E27FC236}">
                <a16:creationId xmlns:a16="http://schemas.microsoft.com/office/drawing/2014/main" id="{306E3F32-3C1A-4B6E-AF26-8A15A78856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1"/>
            <a:ext cx="4956048" cy="199787"/>
          </a:xfrm>
          <a:prstGeom prst="rect">
            <a:avLst/>
          </a:prstGeom>
        </p:spPr>
      </p:pic>
      <p:sp>
        <p:nvSpPr>
          <p:cNvPr id="7" name="TextBox 6">
            <a:extLst>
              <a:ext uri="{FF2B5EF4-FFF2-40B4-BE49-F238E27FC236}">
                <a16:creationId xmlns:a16="http://schemas.microsoft.com/office/drawing/2014/main" id="{D0E30D16-8CF3-B0C6-61D5-60FF04832BA6}"/>
              </a:ext>
            </a:extLst>
          </p:cNvPr>
          <p:cNvSpPr txBox="1"/>
          <p:nvPr/>
        </p:nvSpPr>
        <p:spPr>
          <a:xfrm>
            <a:off x="680321" y="2336873"/>
            <a:ext cx="3656289" cy="3599316"/>
          </a:xfrm>
          <a:prstGeom prst="rect">
            <a:avLst/>
          </a:prstGeom>
        </p:spPr>
        <p:txBody>
          <a:bodyPr vert="horz" lIns="91440" tIns="45720" rIns="91440" bIns="45720" rtlCol="0">
            <a:normAutofit/>
          </a:bodyPr>
          <a:lstStyle/>
          <a:p>
            <a:pPr marL="285750" indent="-228600" defTabSz="914400">
              <a:lnSpc>
                <a:spcPct val="90000"/>
              </a:lnSpc>
              <a:spcAft>
                <a:spcPts val="600"/>
              </a:spcAft>
              <a:buFont typeface="Arial" panose="020B0604020202020204" pitchFamily="34" charset="0"/>
              <a:buChar char="•"/>
            </a:pPr>
            <a:r>
              <a:rPr lang="en-US" sz="1400" dirty="0"/>
              <a:t>The Categories and Commitment:</a:t>
            </a:r>
          </a:p>
          <a:p>
            <a:pPr marL="285750" indent="-228600" defTabSz="914400">
              <a:lnSpc>
                <a:spcPct val="90000"/>
              </a:lnSpc>
              <a:spcAft>
                <a:spcPts val="600"/>
              </a:spcAft>
              <a:buFont typeface="Arial" panose="020B0604020202020204" pitchFamily="34" charset="0"/>
              <a:buChar char="•"/>
            </a:pPr>
            <a:r>
              <a:rPr lang="en-US" sz="1400" b="1" dirty="0"/>
              <a:t>Application to 'SYB Journey Planner' Requirements:</a:t>
            </a:r>
            <a:endParaRPr lang="en-US" sz="1400" dirty="0"/>
          </a:p>
          <a:p>
            <a:pPr indent="-228600" defTabSz="914400">
              <a:lnSpc>
                <a:spcPct val="90000"/>
              </a:lnSpc>
              <a:spcAft>
                <a:spcPts val="600"/>
              </a:spcAft>
              <a:buFont typeface="Arial" panose="020B0604020202020204" pitchFamily="34" charset="0"/>
              <a:buChar char="•"/>
            </a:pPr>
            <a:r>
              <a:rPr lang="en-US" sz="1400" dirty="0"/>
              <a:t>Most of our core functionality is classified as </a:t>
            </a:r>
            <a:r>
              <a:rPr lang="en-US" sz="1400" b="1" dirty="0"/>
              <a:t>Must Have</a:t>
            </a:r>
            <a:r>
              <a:rPr lang="en-US" sz="1400" dirty="0"/>
              <a:t> to ensure the initial product is viable</a:t>
            </a:r>
          </a:p>
          <a:p>
            <a:pPr marL="285750" indent="-228600" defTabSz="914400">
              <a:lnSpc>
                <a:spcPct val="90000"/>
              </a:lnSpc>
              <a:spcAft>
                <a:spcPts val="600"/>
              </a:spcAft>
              <a:buFont typeface="Arial" panose="020B0604020202020204" pitchFamily="34" charset="0"/>
              <a:buChar char="•"/>
            </a:pPr>
            <a:r>
              <a:rPr lang="en-US" sz="1400" dirty="0"/>
              <a:t>Integration with WBS</a:t>
            </a:r>
          </a:p>
          <a:p>
            <a:pPr indent="-228600" defTabSz="914400">
              <a:lnSpc>
                <a:spcPct val="90000"/>
              </a:lnSpc>
              <a:spcAft>
                <a:spcPts val="600"/>
              </a:spcAft>
              <a:buFont typeface="Arial" panose="020B0604020202020204" pitchFamily="34" charset="0"/>
              <a:buChar char="•"/>
            </a:pPr>
            <a:r>
              <a:rPr lang="en-US" sz="1400" dirty="0"/>
              <a:t>ensuring developers focus their effort strictly on implementing the </a:t>
            </a:r>
            <a:r>
              <a:rPr lang="en-US" sz="1400" b="1" dirty="0"/>
              <a:t>Must Have</a:t>
            </a:r>
            <a:r>
              <a:rPr lang="en-US" sz="1400" dirty="0"/>
              <a:t> requirements before moving on to lower priority items</a:t>
            </a:r>
          </a:p>
        </p:txBody>
      </p:sp>
      <p:pic>
        <p:nvPicPr>
          <p:cNvPr id="5" name="Content Placeholder 4" descr="A screenshot of a computer program&#10;&#10;AI-generated content may be incorrect.">
            <a:extLst>
              <a:ext uri="{FF2B5EF4-FFF2-40B4-BE49-F238E27FC236}">
                <a16:creationId xmlns:a16="http://schemas.microsoft.com/office/drawing/2014/main" id="{09C8898F-2D3D-27E7-0FBE-D34C365923EB}"/>
              </a:ext>
            </a:extLst>
          </p:cNvPr>
          <p:cNvPicPr>
            <a:picLocks noGrp="1" noChangeAspect="1"/>
          </p:cNvPicPr>
          <p:nvPr>
            <p:ph idx="1"/>
          </p:nvPr>
        </p:nvPicPr>
        <p:blipFill>
          <a:blip r:embed="rId5"/>
          <a:stretch>
            <a:fillRect/>
          </a:stretch>
        </p:blipFill>
        <p:spPr>
          <a:xfrm>
            <a:off x="5614919" y="640080"/>
            <a:ext cx="5591820" cy="5577840"/>
          </a:xfrm>
          <a:prstGeom prst="rect">
            <a:avLst/>
          </a:prstGeom>
          <a:ln>
            <a:noFill/>
          </a:ln>
          <a:effectLst>
            <a:outerShdw blurRad="76200" dist="63500" dir="5040000" algn="tl" rotWithShape="0">
              <a:srgbClr val="000000">
                <a:alpha val="41000"/>
              </a:srgbClr>
            </a:outerShdw>
          </a:effectLst>
        </p:spPr>
      </p:pic>
    </p:spTree>
    <p:extLst>
      <p:ext uri="{BB962C8B-B14F-4D97-AF65-F5344CB8AC3E}">
        <p14:creationId xmlns:p14="http://schemas.microsoft.com/office/powerpoint/2010/main" val="4208705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a:extLst>
            <a:ext uri="{FF2B5EF4-FFF2-40B4-BE49-F238E27FC236}">
              <a16:creationId xmlns:a16="http://schemas.microsoft.com/office/drawing/2014/main" id="{D1FEC1C3-796C-1A43-27B0-51CAF390B9CC}"/>
            </a:ext>
          </a:extLst>
        </p:cNvPr>
        <p:cNvGrpSpPr/>
        <p:nvPr/>
      </p:nvGrpSpPr>
      <p:grpSpPr>
        <a:xfrm>
          <a:off x="0" y="0"/>
          <a:ext cx="0" cy="0"/>
          <a:chOff x="0" y="0"/>
          <a:chExt cx="0" cy="0"/>
        </a:xfrm>
      </p:grpSpPr>
      <p:pic>
        <p:nvPicPr>
          <p:cNvPr id="46" name="Picture 45">
            <a:extLst>
              <a:ext uri="{FF2B5EF4-FFF2-40B4-BE49-F238E27FC236}">
                <a16:creationId xmlns:a16="http://schemas.microsoft.com/office/drawing/2014/main" id="{AF1E9919-2E6F-4F78-943F-B3DAF059A0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8" name="Picture 47">
            <a:extLst>
              <a:ext uri="{FF2B5EF4-FFF2-40B4-BE49-F238E27FC236}">
                <a16:creationId xmlns:a16="http://schemas.microsoft.com/office/drawing/2014/main" id="{DB854A32-A2FC-4AC1-B345-57798A0AEA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50" name="Picture 49">
            <a:extLst>
              <a:ext uri="{FF2B5EF4-FFF2-40B4-BE49-F238E27FC236}">
                <a16:creationId xmlns:a16="http://schemas.microsoft.com/office/drawing/2014/main" id="{1B08F811-177E-4A27-B4FD-BBDB99BEE22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52" name="Rectangle 51">
            <a:extLst>
              <a:ext uri="{FF2B5EF4-FFF2-40B4-BE49-F238E27FC236}">
                <a16:creationId xmlns:a16="http://schemas.microsoft.com/office/drawing/2014/main" id="{7AF498A6-A632-436A-9DA0-1933AA8B8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54" name="Rectangle 53">
            <a:extLst>
              <a:ext uri="{FF2B5EF4-FFF2-40B4-BE49-F238E27FC236}">
                <a16:creationId xmlns:a16="http://schemas.microsoft.com/office/drawing/2014/main" id="{90B8DA4F-81CC-433C-829A-3E43D395B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56" name="Group 55">
            <a:extLst>
              <a:ext uri="{FF2B5EF4-FFF2-40B4-BE49-F238E27FC236}">
                <a16:creationId xmlns:a16="http://schemas.microsoft.com/office/drawing/2014/main" id="{965BC73A-4796-45A2-B796-26EBA29612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57" name="Rectangle 56">
              <a:extLst>
                <a:ext uri="{FF2B5EF4-FFF2-40B4-BE49-F238E27FC236}">
                  <a16:creationId xmlns:a16="http://schemas.microsoft.com/office/drawing/2014/main" id="{AF5727C9-D794-4E57-87C9-A38852DD41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57">
              <a:extLst>
                <a:ext uri="{FF2B5EF4-FFF2-40B4-BE49-F238E27FC236}">
                  <a16:creationId xmlns:a16="http://schemas.microsoft.com/office/drawing/2014/main" id="{BEE62156-B691-44BD-BB34-851E0EA4718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sp>
        <p:nvSpPr>
          <p:cNvPr id="60" name="Rectangle 59">
            <a:extLst>
              <a:ext uri="{FF2B5EF4-FFF2-40B4-BE49-F238E27FC236}">
                <a16:creationId xmlns:a16="http://schemas.microsoft.com/office/drawing/2014/main" id="{B2472D2F-3BE0-4051-AC90-8E51A01FAC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4557357"/>
            <a:ext cx="8129873" cy="1660332"/>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18DA90E-12BA-1987-8BE8-5B8912ADFAB0}"/>
              </a:ext>
            </a:extLst>
          </p:cNvPr>
          <p:cNvSpPr>
            <a:spLocks noGrp="1"/>
          </p:cNvSpPr>
          <p:nvPr>
            <p:ph type="title"/>
          </p:nvPr>
        </p:nvSpPr>
        <p:spPr>
          <a:xfrm>
            <a:off x="690908" y="4710483"/>
            <a:ext cx="7284680" cy="940240"/>
          </a:xfrm>
        </p:spPr>
        <p:txBody>
          <a:bodyPr vert="horz" lIns="91440" tIns="45720" rIns="91440" bIns="45720" rtlCol="0" anchor="b">
            <a:normAutofit/>
          </a:bodyPr>
          <a:lstStyle/>
          <a:p>
            <a:pPr algn="r"/>
            <a:r>
              <a:rPr lang="en-US" sz="4800"/>
              <a:t>Low Fidelity Prototype </a:t>
            </a:r>
          </a:p>
        </p:txBody>
      </p:sp>
      <p:pic>
        <p:nvPicPr>
          <p:cNvPr id="14" name="Picture 13" descr="A map with writing on paper&#10;&#10;AI-generated content may be incorrect.">
            <a:extLst>
              <a:ext uri="{FF2B5EF4-FFF2-40B4-BE49-F238E27FC236}">
                <a16:creationId xmlns:a16="http://schemas.microsoft.com/office/drawing/2014/main" id="{6624A5A2-B695-5EBB-0B4A-116E230021B7}"/>
              </a:ext>
            </a:extLst>
          </p:cNvPr>
          <p:cNvPicPr>
            <a:picLocks noChangeAspect="1"/>
          </p:cNvPicPr>
          <p:nvPr/>
        </p:nvPicPr>
        <p:blipFill>
          <a:blip r:embed="rId5">
            <a:extLst>
              <a:ext uri="{28A0092B-C50C-407E-A947-70E740481C1C}">
                <a14:useLocalDpi xmlns:a14="http://schemas.microsoft.com/office/drawing/2010/main" val="0"/>
              </a:ext>
            </a:extLst>
          </a:blip>
          <a:srcRect l="18408" r="6744" b="2"/>
          <a:stretch>
            <a:fillRect/>
          </a:stretch>
        </p:blipFill>
        <p:spPr>
          <a:xfrm>
            <a:off x="97928" y="224694"/>
            <a:ext cx="2566341" cy="3609141"/>
          </a:xfrm>
          <a:prstGeom prst="rect">
            <a:avLst/>
          </a:prstGeom>
          <a:ln>
            <a:noFill/>
          </a:ln>
          <a:effectLst>
            <a:outerShdw blurRad="76200" dist="63500" dir="5040000" algn="tl" rotWithShape="0">
              <a:srgbClr val="000000">
                <a:alpha val="41000"/>
              </a:srgbClr>
            </a:outerShdw>
          </a:effectLst>
        </p:spPr>
      </p:pic>
      <p:pic>
        <p:nvPicPr>
          <p:cNvPr id="16" name="Picture 15" descr="A drawing of a cell phone">
            <a:extLst>
              <a:ext uri="{FF2B5EF4-FFF2-40B4-BE49-F238E27FC236}">
                <a16:creationId xmlns:a16="http://schemas.microsoft.com/office/drawing/2014/main" id="{33F41258-E902-D5D0-1159-9BC940FD1D8A}"/>
              </a:ext>
            </a:extLst>
          </p:cNvPr>
          <p:cNvPicPr>
            <a:picLocks noChangeAspect="1"/>
          </p:cNvPicPr>
          <p:nvPr/>
        </p:nvPicPr>
        <p:blipFill>
          <a:blip r:embed="rId6">
            <a:extLst>
              <a:ext uri="{28A0092B-C50C-407E-A947-70E740481C1C}">
                <a14:useLocalDpi xmlns:a14="http://schemas.microsoft.com/office/drawing/2010/main" val="0"/>
              </a:ext>
            </a:extLst>
          </a:blip>
          <a:srcRect l="21369" r="25365" b="-4"/>
          <a:stretch>
            <a:fillRect/>
          </a:stretch>
        </p:blipFill>
        <p:spPr>
          <a:xfrm>
            <a:off x="2873370" y="224694"/>
            <a:ext cx="2563166" cy="3609142"/>
          </a:xfrm>
          <a:prstGeom prst="rect">
            <a:avLst/>
          </a:prstGeom>
          <a:ln>
            <a:noFill/>
          </a:ln>
          <a:effectLst>
            <a:outerShdw blurRad="76200" dist="63500" dir="5040000" algn="tl" rotWithShape="0">
              <a:srgbClr val="000000">
                <a:alpha val="41000"/>
              </a:srgbClr>
            </a:outerShdw>
          </a:effectLst>
        </p:spPr>
      </p:pic>
      <p:pic>
        <p:nvPicPr>
          <p:cNvPr id="10" name="Picture 9" descr="A paper with text and a list of tickets&#10;&#10;AI-generated content may be incorrect.">
            <a:extLst>
              <a:ext uri="{FF2B5EF4-FFF2-40B4-BE49-F238E27FC236}">
                <a16:creationId xmlns:a16="http://schemas.microsoft.com/office/drawing/2014/main" id="{EECE7684-2C47-F9DE-B0B8-946244FAB091}"/>
              </a:ext>
            </a:extLst>
          </p:cNvPr>
          <p:cNvPicPr>
            <a:picLocks noChangeAspect="1"/>
          </p:cNvPicPr>
          <p:nvPr/>
        </p:nvPicPr>
        <p:blipFill>
          <a:blip r:embed="rId7">
            <a:extLst>
              <a:ext uri="{28A0092B-C50C-407E-A947-70E740481C1C}">
                <a14:useLocalDpi xmlns:a14="http://schemas.microsoft.com/office/drawing/2010/main" val="0"/>
              </a:ext>
            </a:extLst>
          </a:blip>
          <a:srcRect l="8837" r="2" b="2"/>
          <a:stretch>
            <a:fillRect/>
          </a:stretch>
        </p:blipFill>
        <p:spPr>
          <a:xfrm>
            <a:off x="5645637" y="224695"/>
            <a:ext cx="2566342" cy="3609141"/>
          </a:xfrm>
          <a:prstGeom prst="rect">
            <a:avLst/>
          </a:prstGeom>
          <a:ln>
            <a:noFill/>
          </a:ln>
          <a:effectLst>
            <a:outerShdw blurRad="76200" dist="63500" dir="5040000" algn="tl" rotWithShape="0">
              <a:srgbClr val="000000">
                <a:alpha val="41000"/>
              </a:srgbClr>
            </a:outerShdw>
          </a:effectLst>
        </p:spPr>
      </p:pic>
      <p:pic>
        <p:nvPicPr>
          <p:cNvPr id="12" name="Picture 11" descr="A drawing of a phone&#10;&#10;AI-generated content may be incorrect.">
            <a:extLst>
              <a:ext uri="{FF2B5EF4-FFF2-40B4-BE49-F238E27FC236}">
                <a16:creationId xmlns:a16="http://schemas.microsoft.com/office/drawing/2014/main" id="{905014FF-B387-1C1C-B307-5FF7E16645E8}"/>
              </a:ext>
            </a:extLst>
          </p:cNvPr>
          <p:cNvPicPr>
            <a:picLocks noChangeAspect="1"/>
          </p:cNvPicPr>
          <p:nvPr/>
        </p:nvPicPr>
        <p:blipFill>
          <a:blip r:embed="rId8">
            <a:extLst>
              <a:ext uri="{28A0092B-C50C-407E-A947-70E740481C1C}">
                <a14:useLocalDpi xmlns:a14="http://schemas.microsoft.com/office/drawing/2010/main" val="0"/>
              </a:ext>
            </a:extLst>
          </a:blip>
          <a:srcRect l="8249" r="2" b="2"/>
          <a:stretch>
            <a:fillRect/>
          </a:stretch>
        </p:blipFill>
        <p:spPr>
          <a:xfrm>
            <a:off x="8999449" y="224696"/>
            <a:ext cx="2566341" cy="3609141"/>
          </a:xfrm>
          <a:prstGeom prst="rect">
            <a:avLst/>
          </a:prstGeom>
          <a:ln>
            <a:noFill/>
          </a:ln>
          <a:effectLst>
            <a:outerShdw blurRad="76200" dist="63500" dir="5040000" algn="tl" rotWithShape="0">
              <a:srgbClr val="000000">
                <a:alpha val="41000"/>
              </a:srgbClr>
            </a:outerShdw>
          </a:effectLst>
        </p:spPr>
      </p:pic>
      <p:sp>
        <p:nvSpPr>
          <p:cNvPr id="62" name="Rectangle 61">
            <a:extLst>
              <a:ext uri="{FF2B5EF4-FFF2-40B4-BE49-F238E27FC236}">
                <a16:creationId xmlns:a16="http://schemas.microsoft.com/office/drawing/2014/main" id="{87BE568E-F17F-4B39-B120-64045D620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3503" y="4557357"/>
            <a:ext cx="3925907"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4" name="Rectangle 63">
            <a:extLst>
              <a:ext uri="{FF2B5EF4-FFF2-40B4-BE49-F238E27FC236}">
                <a16:creationId xmlns:a16="http://schemas.microsoft.com/office/drawing/2014/main" id="{43C5BE71-5366-4573-B633-B22A0EB5B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6" y="6210130"/>
            <a:ext cx="8119287" cy="275942"/>
          </a:xfrm>
          <a:prstGeom prst="rect">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7B781A16-5531-45CC-9E5E-84FD03DDC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84159" y="6210130"/>
            <a:ext cx="3918428" cy="275942"/>
          </a:xfrm>
          <a:prstGeom prst="rect">
            <a:avLst/>
          </a:prstGeom>
          <a:blipFill>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A drawing of a logo&#10;&#10;AI-generated content may be incorrect.">
            <a:extLst>
              <a:ext uri="{FF2B5EF4-FFF2-40B4-BE49-F238E27FC236}">
                <a16:creationId xmlns:a16="http://schemas.microsoft.com/office/drawing/2014/main" id="{C25E1441-7649-4C3B-CD98-BFD4AAA88B3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11979" y="3885863"/>
            <a:ext cx="3885268" cy="2913951"/>
          </a:xfrm>
          <a:prstGeom prst="rect">
            <a:avLst/>
          </a:prstGeom>
        </p:spPr>
      </p:pic>
    </p:spTree>
    <p:extLst>
      <p:ext uri="{BB962C8B-B14F-4D97-AF65-F5344CB8AC3E}">
        <p14:creationId xmlns:p14="http://schemas.microsoft.com/office/powerpoint/2010/main" val="338419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9831D-8BD6-157F-5794-CE8E01379F9C}"/>
              </a:ext>
            </a:extLst>
          </p:cNvPr>
          <p:cNvSpPr>
            <a:spLocks noGrp="1"/>
          </p:cNvSpPr>
          <p:nvPr>
            <p:ph type="title"/>
          </p:nvPr>
        </p:nvSpPr>
        <p:spPr/>
        <p:txBody>
          <a:bodyPr/>
          <a:lstStyle/>
          <a:p>
            <a:r>
              <a:rPr lang="en-GB" dirty="0"/>
              <a:t>High Fidelity Prototype </a:t>
            </a:r>
          </a:p>
        </p:txBody>
      </p:sp>
      <p:pic>
        <p:nvPicPr>
          <p:cNvPr id="19" name="Content Placeholder 18" descr="A screenshot of a phone&#10;&#10;AI-generated content may be incorrect.">
            <a:extLst>
              <a:ext uri="{FF2B5EF4-FFF2-40B4-BE49-F238E27FC236}">
                <a16:creationId xmlns:a16="http://schemas.microsoft.com/office/drawing/2014/main" id="{714576A0-DBD0-161D-99D9-A3122A6755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9401" y="1833316"/>
            <a:ext cx="2312502" cy="4805914"/>
          </a:xfrm>
        </p:spPr>
      </p:pic>
      <p:pic>
        <p:nvPicPr>
          <p:cNvPr id="21" name="Picture 20" descr="A screenshot of a phone&#10;&#10;AI-generated content may be incorrect.">
            <a:extLst>
              <a:ext uri="{FF2B5EF4-FFF2-40B4-BE49-F238E27FC236}">
                <a16:creationId xmlns:a16="http://schemas.microsoft.com/office/drawing/2014/main" id="{DE3B3603-C816-1A29-1267-A2D03740E2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651" y="1833316"/>
            <a:ext cx="2235309" cy="4805914"/>
          </a:xfrm>
          <a:prstGeom prst="rect">
            <a:avLst/>
          </a:prstGeom>
        </p:spPr>
      </p:pic>
      <p:pic>
        <p:nvPicPr>
          <p:cNvPr id="27" name="Picture 26" descr="A screenshot of a phone&#10;&#10;AI-generated content may be incorrect.">
            <a:extLst>
              <a:ext uri="{FF2B5EF4-FFF2-40B4-BE49-F238E27FC236}">
                <a16:creationId xmlns:a16="http://schemas.microsoft.com/office/drawing/2014/main" id="{B8066677-3C23-4468-DECA-552226088E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0233" y="1776066"/>
            <a:ext cx="2312501" cy="4921265"/>
          </a:xfrm>
          <a:prstGeom prst="rect">
            <a:avLst/>
          </a:prstGeom>
        </p:spPr>
      </p:pic>
      <p:pic>
        <p:nvPicPr>
          <p:cNvPr id="33" name="Picture 32" descr="A logo of a bus&#10;&#10;AI-generated content may be incorrect.">
            <a:extLst>
              <a:ext uri="{FF2B5EF4-FFF2-40B4-BE49-F238E27FC236}">
                <a16:creationId xmlns:a16="http://schemas.microsoft.com/office/drawing/2014/main" id="{3C9F7C36-42C2-64D4-1B39-BFAFE0CA04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0069" y="2235601"/>
            <a:ext cx="4036280" cy="3826943"/>
          </a:xfrm>
          <a:prstGeom prst="rect">
            <a:avLst/>
          </a:prstGeom>
        </p:spPr>
      </p:pic>
    </p:spTree>
    <p:extLst>
      <p:ext uri="{BB962C8B-B14F-4D97-AF65-F5344CB8AC3E}">
        <p14:creationId xmlns:p14="http://schemas.microsoft.com/office/powerpoint/2010/main" val="458199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2E93-CFF5-61F7-E432-651076ED91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4C7D4-B02B-C1CD-A336-E9B322AE81A1}"/>
              </a:ext>
            </a:extLst>
          </p:cNvPr>
          <p:cNvSpPr>
            <a:spLocks noGrp="1"/>
          </p:cNvSpPr>
          <p:nvPr>
            <p:ph type="title"/>
          </p:nvPr>
        </p:nvSpPr>
        <p:spPr/>
        <p:txBody>
          <a:bodyPr/>
          <a:lstStyle/>
          <a:p>
            <a:r>
              <a:rPr lang="en-GB" dirty="0"/>
              <a:t>High Fidelity Prototype </a:t>
            </a:r>
          </a:p>
        </p:txBody>
      </p:sp>
      <p:sp>
        <p:nvSpPr>
          <p:cNvPr id="4" name="Content Placeholder 3">
            <a:extLst>
              <a:ext uri="{FF2B5EF4-FFF2-40B4-BE49-F238E27FC236}">
                <a16:creationId xmlns:a16="http://schemas.microsoft.com/office/drawing/2014/main" id="{5E659616-A1E2-35E8-1EF2-35D92EDAFDFC}"/>
              </a:ext>
            </a:extLst>
          </p:cNvPr>
          <p:cNvSpPr>
            <a:spLocks noGrp="1"/>
          </p:cNvSpPr>
          <p:nvPr>
            <p:ph idx="1"/>
          </p:nvPr>
        </p:nvSpPr>
        <p:spPr/>
        <p:txBody>
          <a:bodyPr/>
          <a:lstStyle/>
          <a:p>
            <a:r>
              <a:rPr lang="en-GB" dirty="0"/>
              <a:t>-High Fidelity Video-</a:t>
            </a:r>
          </a:p>
        </p:txBody>
      </p:sp>
    </p:spTree>
    <p:extLst>
      <p:ext uri="{BB962C8B-B14F-4D97-AF65-F5344CB8AC3E}">
        <p14:creationId xmlns:p14="http://schemas.microsoft.com/office/powerpoint/2010/main" val="349068162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TM04033917[[fn=Berlin]]</Template>
  <TotalTime>1416</TotalTime>
  <Words>3546</Words>
  <Application>Microsoft Office PowerPoint</Application>
  <PresentationFormat>Widescreen</PresentationFormat>
  <Paragraphs>238</Paragraphs>
  <Slides>19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Trebuchet MS</vt:lpstr>
      <vt:lpstr>Wingdings</vt:lpstr>
      <vt:lpstr>Berlin</vt:lpstr>
      <vt:lpstr>SY Bus Journey Planner</vt:lpstr>
      <vt:lpstr>Deliverables Overview</vt:lpstr>
      <vt:lpstr>Project Initiation Document</vt:lpstr>
      <vt:lpstr>Project Initiation Document</vt:lpstr>
      <vt:lpstr>Business Case – Force Field Analysis</vt:lpstr>
      <vt:lpstr>Business Case – Options Considered</vt:lpstr>
      <vt:lpstr>Business Case – Cost Benefits Analysis</vt:lpstr>
      <vt:lpstr>Project Plan – Work Breakdown Structure (WBS)</vt:lpstr>
      <vt:lpstr>Project Plan – Gantt Chart</vt:lpstr>
      <vt:lpstr>Project Plan – RACI Matrix</vt:lpstr>
      <vt:lpstr>Project Plan – COCOMO Estimate</vt:lpstr>
      <vt:lpstr>Risk Management Plan – Risk Register</vt:lpstr>
      <vt:lpstr>Risk Management Plan – Risk Map</vt:lpstr>
      <vt:lpstr>Risk Management Plan – RAID Log</vt:lpstr>
      <vt:lpstr>Envisioned Solution</vt:lpstr>
      <vt:lpstr>MoSCoW</vt:lpstr>
      <vt:lpstr>Low Fidelity Prototype </vt:lpstr>
      <vt:lpstr>High Fidelity Prototype </vt:lpstr>
      <vt:lpstr>High Fidelity Prototype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Morris, Javani (Student)</dc:creator>
  <cp:lastModifiedBy>Morris, Javani (Student)</cp:lastModifiedBy>
  <cp:revision>59</cp:revision>
  <dcterms:created xsi:type="dcterms:W3CDTF">2025-12-06T17:43:22Z</dcterms:created>
  <dcterms:modified xsi:type="dcterms:W3CDTF">2025-12-10T19:55:33Z</dcterms:modified>
</cp:coreProperties>
</file>