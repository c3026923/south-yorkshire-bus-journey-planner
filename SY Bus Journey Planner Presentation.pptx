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20"/>
  </p:notesMasterIdLst>
  <p:sldIdLst>
    <p:sldId id="256" r:id="rId2"/>
    <p:sldId id="257" r:id="rId3"/>
    <p:sldId id="258" r:id="rId4"/>
    <p:sldId id="271" r:id="rId5"/>
    <p:sldId id="268" r:id="rId6"/>
    <p:sldId id="269" r:id="rId7"/>
    <p:sldId id="270" r:id="rId8"/>
    <p:sldId id="260" r:id="rId9"/>
    <p:sldId id="272" r:id="rId10"/>
    <p:sldId id="273" r:id="rId11"/>
    <p:sldId id="274" r:id="rId12"/>
    <p:sldId id="266" r:id="rId13"/>
    <p:sldId id="261" r:id="rId14"/>
    <p:sldId id="267" r:id="rId15"/>
    <p:sldId id="275" r:id="rId16"/>
    <p:sldId id="264" r:id="rId17"/>
    <p:sldId id="263" r:id="rId18"/>
    <p:sldId id="276"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5BF5E5-08F0-4788-93B4-DC36E80752B6}" v="4" dt="2025-12-10T08:43:06.762"/>
  </p1510:revLst>
</p1510:revInfo>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77647" autoAdjust="0"/>
  </p:normalViewPr>
  <p:slideViewPr>
    <p:cSldViewPr snapToGrid="0">
      <p:cViewPr varScale="1">
        <p:scale>
          <a:sx n="89" d="100"/>
          <a:sy n="89" d="100"/>
        </p:scale>
        <p:origin x="418" y="72"/>
      </p:cViewPr>
      <p:guideLst/>
    </p:cSldViewPr>
  </p:slideViewPr>
  <p:outlineViewPr>
    <p:cViewPr>
      <p:scale>
        <a:sx n="33" d="100"/>
        <a:sy n="33" d="100"/>
      </p:scale>
      <p:origin x="0" y="-7891"/>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uwen, Elekir (Student)" userId="4e2a76e3-7167-4ff9-9535-77d49f0af40a" providerId="ADAL" clId="{835B047F-93EB-40CF-83F3-EA1547C8FEF3}"/>
    <pc:docChg chg="modSld">
      <pc:chgData name="Moyuwen, Elekir (Student)" userId="4e2a76e3-7167-4ff9-9535-77d49f0af40a" providerId="ADAL" clId="{835B047F-93EB-40CF-83F3-EA1547C8FEF3}" dt="2025-12-10T08:43:10.184" v="18" actId="20577"/>
      <pc:docMkLst>
        <pc:docMk/>
      </pc:docMkLst>
      <pc:sldChg chg="modSp mod">
        <pc:chgData name="Moyuwen, Elekir (Student)" userId="4e2a76e3-7167-4ff9-9535-77d49f0af40a" providerId="ADAL" clId="{835B047F-93EB-40CF-83F3-EA1547C8FEF3}" dt="2025-12-10T08:43:10.184" v="18" actId="20577"/>
        <pc:sldMkLst>
          <pc:docMk/>
          <pc:sldMk cId="1646420599" sldId="257"/>
        </pc:sldMkLst>
        <pc:graphicFrameChg chg="mod modGraphic">
          <ac:chgData name="Moyuwen, Elekir (Student)" userId="4e2a76e3-7167-4ff9-9535-77d49f0af40a" providerId="ADAL" clId="{835B047F-93EB-40CF-83F3-EA1547C8FEF3}" dt="2025-12-10T08:43:10.184" v="18" actId="20577"/>
          <ac:graphicFrameMkLst>
            <pc:docMk/>
            <pc:sldMk cId="1646420599" sldId="257"/>
            <ac:graphicFrameMk id="9" creationId="{B09E5492-2402-6534-9FB4-130696D3D27D}"/>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a:t>
          </a:r>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Doesn’t address core needs (mobile app, live routing, tickets, partner alignment)</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Mobile-first application, 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81054"/>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81054"/>
        <a:ext cx="3069320" cy="920796"/>
      </dsp:txXfrm>
    </dsp:sp>
    <dsp:sp modelId="{9B6C979A-FF95-470B-8B22-2C0B2C5C8A41}">
      <dsp:nvSpPr>
        <dsp:cNvPr id="0" name=""/>
        <dsp:cNvSpPr/>
      </dsp:nvSpPr>
      <dsp:spPr>
        <a:xfrm>
          <a:off x="4851" y="1001850"/>
          <a:ext cx="3069320" cy="2077756"/>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Do nothing</a:t>
          </a:r>
        </a:p>
        <a:p>
          <a:pPr marL="114300" lvl="1" indent="-114300" algn="l" defTabSz="533400">
            <a:lnSpc>
              <a:spcPct val="90000"/>
            </a:lnSpc>
            <a:spcBef>
              <a:spcPct val="0"/>
            </a:spcBef>
            <a:spcAft>
              <a:spcPct val="15000"/>
            </a:spcAft>
            <a:buChar char="•"/>
          </a:pPr>
          <a:r>
            <a:rPr lang="en-US" sz="1200" kern="1200" dirty="0"/>
            <a:t>No upfront cost</a:t>
          </a:r>
        </a:p>
        <a:p>
          <a:pPr marL="114300" lvl="1" indent="-114300" algn="l" defTabSz="533400">
            <a:lnSpc>
              <a:spcPct val="90000"/>
            </a:lnSpc>
            <a:spcBef>
              <a:spcPct val="0"/>
            </a:spcBef>
            <a:spcAft>
              <a:spcPct val="15000"/>
            </a:spcAft>
            <a:buChar char="•"/>
          </a:pPr>
          <a:r>
            <a:rPr lang="en-US" sz="1200" kern="1200"/>
            <a:t>No improvement to customer experience/accessibility</a:t>
          </a:r>
        </a:p>
        <a:p>
          <a:pPr marL="114300" lvl="1" indent="-114300" algn="l" defTabSz="533400">
            <a:lnSpc>
              <a:spcPct val="90000"/>
            </a:lnSpc>
            <a:spcBef>
              <a:spcPct val="0"/>
            </a:spcBef>
            <a:spcAft>
              <a:spcPct val="15000"/>
            </a:spcAft>
            <a:buChar char="•"/>
          </a:pPr>
          <a:r>
            <a:rPr lang="en-US" sz="1200" kern="1200"/>
            <a:t>Fails to address barriers identified</a:t>
          </a:r>
        </a:p>
      </dsp:txBody>
      <dsp:txXfrm>
        <a:off x="4851" y="1001850"/>
        <a:ext cx="3069320" cy="2077756"/>
      </dsp:txXfrm>
    </dsp:sp>
    <dsp:sp modelId="{FBBED180-350E-4DCA-B388-B1535C0E37D6}">
      <dsp:nvSpPr>
        <dsp:cNvPr id="0" name=""/>
        <dsp:cNvSpPr/>
      </dsp:nvSpPr>
      <dsp:spPr>
        <a:xfrm>
          <a:off x="3182066" y="81054"/>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81054"/>
        <a:ext cx="3069320" cy="920796"/>
      </dsp:txXfrm>
    </dsp:sp>
    <dsp:sp modelId="{11332FA0-D6E1-4449-B57F-35ACB9682792}">
      <dsp:nvSpPr>
        <dsp:cNvPr id="0" name=""/>
        <dsp:cNvSpPr/>
      </dsp:nvSpPr>
      <dsp:spPr>
        <a:xfrm>
          <a:off x="3182066" y="1001850"/>
          <a:ext cx="3069320" cy="2077756"/>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Minimal change </a:t>
          </a:r>
        </a:p>
        <a:p>
          <a:pPr marL="114300" lvl="1" indent="-114300" algn="l" defTabSz="533400">
            <a:lnSpc>
              <a:spcPct val="90000"/>
            </a:lnSpc>
            <a:spcBef>
              <a:spcPct val="0"/>
            </a:spcBef>
            <a:spcAft>
              <a:spcPct val="15000"/>
            </a:spcAft>
            <a:buChar char="•"/>
          </a:pPr>
          <a:r>
            <a:rPr lang="en-US" sz="1200" kern="1200" dirty="0"/>
            <a:t>Low cost, Low effort (Small UI updates)</a:t>
          </a:r>
        </a:p>
        <a:p>
          <a:pPr marL="114300" lvl="1" indent="-114300" algn="l" defTabSz="533400">
            <a:lnSpc>
              <a:spcPct val="90000"/>
            </a:lnSpc>
            <a:spcBef>
              <a:spcPct val="0"/>
            </a:spcBef>
            <a:spcAft>
              <a:spcPct val="15000"/>
            </a:spcAft>
            <a:buChar char="•"/>
          </a:pPr>
          <a:r>
            <a:rPr lang="en-US" sz="1200" kern="1200" dirty="0"/>
            <a:t>Doesn’t address core needs (mobile app, live routing, tickets, partner alignment)</a:t>
          </a:r>
        </a:p>
      </dsp:txBody>
      <dsp:txXfrm>
        <a:off x="3182066" y="1001850"/>
        <a:ext cx="3069320" cy="2077756"/>
      </dsp:txXfrm>
    </dsp:sp>
    <dsp:sp modelId="{B884D7B0-B620-4844-AE71-205FED6FB08C}">
      <dsp:nvSpPr>
        <dsp:cNvPr id="0" name=""/>
        <dsp:cNvSpPr/>
      </dsp:nvSpPr>
      <dsp:spPr>
        <a:xfrm>
          <a:off x="6359281" y="81054"/>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81054"/>
        <a:ext cx="3069320" cy="920796"/>
      </dsp:txXfrm>
    </dsp:sp>
    <dsp:sp modelId="{7E5A14E6-F182-4581-9848-419B94AC66EE}">
      <dsp:nvSpPr>
        <dsp:cNvPr id="0" name=""/>
        <dsp:cNvSpPr/>
      </dsp:nvSpPr>
      <dsp:spPr>
        <a:xfrm>
          <a:off x="6359281" y="1001850"/>
          <a:ext cx="3069320" cy="2077756"/>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Envisioned solution </a:t>
          </a:r>
        </a:p>
        <a:p>
          <a:pPr marL="114300" lvl="1" indent="-114300" algn="l" defTabSz="533400">
            <a:lnSpc>
              <a:spcPct val="90000"/>
            </a:lnSpc>
            <a:spcBef>
              <a:spcPct val="0"/>
            </a:spcBef>
            <a:spcAft>
              <a:spcPct val="15000"/>
            </a:spcAft>
            <a:buChar char="•"/>
          </a:pPr>
          <a:r>
            <a:rPr lang="en-US" sz="1200" kern="1200" dirty="0"/>
            <a:t>Mobile-first application, high-Fidelity Prototype + Complete management artefacts</a:t>
          </a:r>
        </a:p>
        <a:p>
          <a:pPr marL="114300" lvl="1" indent="-114300" algn="l" defTabSz="533400">
            <a:lnSpc>
              <a:spcPct val="90000"/>
            </a:lnSpc>
            <a:spcBef>
              <a:spcPct val="0"/>
            </a:spcBef>
            <a:spcAft>
              <a:spcPct val="15000"/>
            </a:spcAft>
            <a:buChar char="•"/>
          </a:pPr>
          <a:r>
            <a:rPr lang="en-US" sz="1200" kern="1200"/>
            <a:t>Demonstrates feasibility with concrete evidence</a:t>
          </a:r>
        </a:p>
        <a:p>
          <a:pPr marL="114300" lvl="1" indent="-114300" algn="l" defTabSz="533400">
            <a:lnSpc>
              <a:spcPct val="90000"/>
            </a:lnSpc>
            <a:spcBef>
              <a:spcPct val="0"/>
            </a:spcBef>
            <a:spcAft>
              <a:spcPct val="15000"/>
            </a:spcAft>
            <a:buChar char="•"/>
          </a:pPr>
          <a:r>
            <a:rPr lang="en-US" sz="1200" kern="1200"/>
            <a:t>MVP approach: real value at lower risk</a:t>
          </a:r>
        </a:p>
      </dsp:txBody>
      <dsp:txXfrm>
        <a:off x="6359281" y="1001850"/>
        <a:ext cx="3069320" cy="2077756"/>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10/12/2025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Project overview: </a:t>
            </a:r>
            <a:r>
              <a:rPr lang="en-GB" dirty="0"/>
              <a:t>Our project is the SYB Journey Planner. The idea is to help passengers plan journeys more easily, cut down on boarding delays, and improve digital engagement for South Yorkshire Buses and their partners.</a:t>
            </a:r>
          </a:p>
          <a:p>
            <a:r>
              <a:rPr lang="en-GB" dirty="0"/>
              <a:t>We chose Prince2 Agile because it gives us the best of both worlds. PRINCE2 gives us structure; clear roles, a live business case, and stage controls. Agile gives us flexibility; short prototype cycles, </a:t>
            </a:r>
            <a:r>
              <a:rPr lang="en-GB" dirty="0" err="1"/>
              <a:t>MoSCoW</a:t>
            </a:r>
            <a:r>
              <a:rPr lang="en-GB" dirty="0"/>
              <a:t> prioritisation, and regular client feedback. With both of them combined, it means we stay organised but can adapt quickly.</a:t>
            </a:r>
          </a:p>
          <a:p>
            <a:r>
              <a:rPr lang="en-GB" dirty="0"/>
              <a:t>The </a:t>
            </a:r>
            <a:r>
              <a:rPr lang="en-GB" b="1" dirty="0"/>
              <a:t>business objectives</a:t>
            </a:r>
            <a:r>
              <a:rPr lang="en-GB" dirty="0"/>
              <a:t> are simple: to provide clear journey information, encourage people to buy tickets before boarding, and make sure the app is accessible to everyone.</a:t>
            </a:r>
          </a:p>
          <a:p>
            <a:r>
              <a:rPr lang="en-GB" dirty="0"/>
              <a:t>The </a:t>
            </a:r>
            <a:r>
              <a:rPr lang="en-GB" b="1" dirty="0"/>
              <a:t>project objectives</a:t>
            </a:r>
            <a:r>
              <a:rPr lang="en-GB" dirty="0"/>
              <a:t> are what we’re delivering in this module; a high‑fidelity prototype and all the project management artefacts; things like the business case, WBS, Gantt chart, risk and quality plans. </a:t>
            </a:r>
          </a:p>
          <a:p>
            <a:r>
              <a:rPr lang="en-GB" dirty="0"/>
              <a:t>In terms of </a:t>
            </a:r>
            <a:r>
              <a:rPr lang="en-GB" b="1" dirty="0"/>
              <a:t>scope</a:t>
            </a:r>
            <a:r>
              <a:rPr lang="en-GB" dirty="0"/>
              <a:t>, we’re keeping it focused on MVP features: routing from A to B, next‑bus times, ticket recommendations, and live updates. Payment integration and native apps are out of scope for now.</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3</a:t>
            </a:fld>
            <a:endParaRPr lang="en-GB"/>
          </a:p>
        </p:txBody>
      </p:sp>
    </p:spTree>
    <p:extLst>
      <p:ext uri="{BB962C8B-B14F-4D97-AF65-F5344CB8AC3E}">
        <p14:creationId xmlns:p14="http://schemas.microsoft.com/office/powerpoint/2010/main" val="15347832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Roles and responsibilities:</a:t>
            </a:r>
            <a:r>
              <a:rPr lang="en-GB" dirty="0"/>
              <a:t> Jack is our Project Manager, keeping the plan on track. Javani is the Sponsor, handling budget costs and approvals. Elekir is the Business Analyst, gathering requirements. I’m leading Quality Assurance, making sure accessibility and testing are covered. Our Designer handles wireframes and prototypes, the Risk Manager maintains the RAID log, and the Software Team looks at technical feasibility like APIs and hosting.</a:t>
            </a:r>
          </a:p>
          <a:p>
            <a:r>
              <a:rPr lang="en-GB" b="1" dirty="0"/>
              <a:t>Summary: </a:t>
            </a:r>
            <a:r>
              <a:rPr lang="en-GB" dirty="0"/>
              <a:t>Prince2 Agile gives us the framework, our objectives keep us focused, and our roles make sure every part of the project is covered.</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2725458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featuring a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a work</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breakdown structure (WBS) showing the work required</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to produce them.</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Intro</a:t>
            </a:r>
          </a:p>
          <a:p>
            <a:r>
              <a:rPr lang="en-GB" dirty="0"/>
              <a:t>* The </a:t>
            </a:r>
            <a:r>
              <a:rPr lang="en-GB" b="1" dirty="0"/>
              <a:t>Work Breakdown Structure (WBS)</a:t>
            </a:r>
            <a:r>
              <a:rPr lang="en-GB" dirty="0"/>
              <a:t> is the foundation of our project plan, defining the total scope of work required to achieve the project objectives.</a:t>
            </a:r>
          </a:p>
          <a:p>
            <a:br>
              <a:rPr lang="en-GB" dirty="0"/>
            </a:br>
            <a:endParaRPr lang="en-GB" dirty="0"/>
          </a:p>
          <a:p>
            <a:r>
              <a:rPr lang="en-GB" dirty="0"/>
              <a:t>* Our initial focus is on </a:t>
            </a:r>
            <a:r>
              <a:rPr lang="en-GB" b="1" dirty="0"/>
              <a:t>Project Planning</a:t>
            </a:r>
            <a:r>
              <a:rPr lang="en-GB" dirty="0"/>
              <a:t>, which establishes the roadmap for execution.</a:t>
            </a:r>
          </a:p>
          <a:p>
            <a:br>
              <a:rPr lang="en-GB" dirty="0"/>
            </a:br>
            <a:endParaRPr lang="en-GB" dirty="0"/>
          </a:p>
          <a:p>
            <a:pPr marL="171450" indent="-171450">
              <a:buFont typeface="Arial" panose="020B0604020202020204" pitchFamily="34" charset="0"/>
              <a:buChar char="•"/>
            </a:pPr>
            <a:r>
              <a:rPr lang="en-GB" dirty="0"/>
              <a:t>This phase ensures we have clear </a:t>
            </a:r>
            <a:r>
              <a:rPr lang="en-GB" b="1" dirty="0"/>
              <a:t>objectives</a:t>
            </a:r>
            <a:r>
              <a:rPr lang="en-GB" dirty="0"/>
              <a:t>, measurable </a:t>
            </a:r>
            <a:r>
              <a:rPr lang="en-GB" b="1" dirty="0"/>
              <a:t>deliverables</a:t>
            </a:r>
            <a:r>
              <a:rPr lang="en-GB" dirty="0"/>
              <a:t>, and well-defined </a:t>
            </a:r>
            <a:r>
              <a:rPr lang="en-GB" b="1" dirty="0"/>
              <a:t>processes</a:t>
            </a:r>
            <a:r>
              <a:rPr lang="en-GB" dirty="0"/>
              <a:t> before development begins</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 package </a:t>
            </a:r>
          </a:p>
          <a:p>
            <a:r>
              <a:rPr lang="en-GB" b="1" dirty="0"/>
              <a:t>Measurable Output:</a:t>
            </a:r>
            <a:r>
              <a:rPr lang="en-GB" dirty="0"/>
              <a:t> They are the smallest, specific, and manageable pieces of work that result in a defined </a:t>
            </a:r>
            <a:r>
              <a:rPr lang="en-GB" b="1" dirty="0"/>
              <a:t>deliverable</a:t>
            </a:r>
            <a:r>
              <a:rPr lang="en-GB" dirty="0"/>
              <a:t> or product (e.g., 'GANTT Chart', 'Wireframe', 'Source Code').</a:t>
            </a:r>
          </a:p>
          <a:p>
            <a:r>
              <a:rPr lang="en-GB" b="1" dirty="0"/>
              <a:t>Estimation &amp; Assignment:</a:t>
            </a:r>
            <a:r>
              <a:rPr lang="en-GB" dirty="0"/>
              <a:t> At this level, it is possible to accurately estimate the </a:t>
            </a:r>
            <a:r>
              <a:rPr lang="en-GB" b="1" dirty="0"/>
              <a:t>cost, duration, and resources</a:t>
            </a:r>
            <a:r>
              <a:rPr lang="en-GB" dirty="0"/>
              <a:t> needed, and assign the work to a specific individual or team.</a:t>
            </a:r>
          </a:p>
          <a:p>
            <a:r>
              <a:rPr lang="en-GB" b="1" dirty="0"/>
              <a:t>Control Point:</a:t>
            </a:r>
            <a:r>
              <a:rPr lang="en-GB" dirty="0"/>
              <a:t> All </a:t>
            </a:r>
            <a:r>
              <a:rPr lang="en-GB" b="1" dirty="0"/>
              <a:t>progress tracking</a:t>
            </a:r>
            <a:r>
              <a:rPr lang="en-GB" dirty="0"/>
              <a:t> and </a:t>
            </a:r>
            <a:r>
              <a:rPr lang="en-GB" b="1" dirty="0"/>
              <a:t>earned value calculations</a:t>
            </a:r>
            <a:r>
              <a:rPr lang="en-GB" dirty="0"/>
              <a:t> happen at the Work Package level.</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Workflow</a:t>
            </a:r>
          </a:p>
          <a:p>
            <a:r>
              <a:rPr lang="en-GB" dirty="0"/>
              <a:t>The WBS logically follows the project lifecycle, starting with </a:t>
            </a:r>
            <a:r>
              <a:rPr lang="en-GB" b="1" dirty="0"/>
              <a:t>1.1 Project management</a:t>
            </a:r>
            <a:r>
              <a:rPr lang="en-GB" dirty="0"/>
              <a:t> (Planning/Definition) and moving through </a:t>
            </a:r>
            <a:r>
              <a:rPr lang="en-GB" b="1" dirty="0"/>
              <a:t>1.2 Development</a:t>
            </a:r>
            <a:r>
              <a:rPr lang="en-GB" dirty="0"/>
              <a:t> and </a:t>
            </a:r>
            <a:r>
              <a:rPr lang="en-GB" b="1" dirty="0"/>
              <a:t>1.3 Infrastructure</a:t>
            </a:r>
            <a:r>
              <a:rPr lang="en-GB" dirty="0"/>
              <a:t>, before concluding with </a:t>
            </a:r>
            <a:r>
              <a:rPr lang="en-GB" b="1" dirty="0"/>
              <a:t>1.4 Deliverables</a:t>
            </a:r>
            <a:r>
              <a:rPr lang="en-GB" dirty="0"/>
              <a:t> (Testing/Deployment) and </a:t>
            </a:r>
            <a:r>
              <a:rPr lang="en-GB" b="1" dirty="0"/>
              <a:t>1.5 Handover &amp; Closure</a:t>
            </a:r>
            <a:r>
              <a:rPr lang="en-GB" dirty="0"/>
              <a:t>.</a:t>
            </a:r>
          </a:p>
          <a:p>
            <a:r>
              <a:rPr lang="en-GB" b="1" dirty="0"/>
              <a:t>Inputs and Outputs:</a:t>
            </a:r>
            <a:r>
              <a:rPr lang="en-GB" dirty="0"/>
              <a:t> Completion of early work packages (e.g., 'Business Case' in 1.1) provides the necessary </a:t>
            </a:r>
            <a:r>
              <a:rPr lang="en-GB" b="1" dirty="0"/>
              <a:t>inputs</a:t>
            </a:r>
            <a:r>
              <a:rPr lang="en-GB" dirty="0"/>
              <a:t> for subsequent work packages (e.g., 'High-fidelity Prototype' in 1.2).</a:t>
            </a:r>
          </a:p>
          <a:p>
            <a:r>
              <a:rPr lang="en-GB" b="1" dirty="0"/>
              <a:t>Progressive Elaboration:</a:t>
            </a:r>
            <a:r>
              <a:rPr lang="en-GB" dirty="0"/>
              <a:t> The WBS moves from high-level deliverables (top) to detailed tasks (bottom), allowing for </a:t>
            </a:r>
            <a:r>
              <a:rPr lang="en-GB" b="1" dirty="0"/>
              <a:t>progressive elaboration</a:t>
            </a:r>
            <a:r>
              <a:rPr lang="en-GB" dirty="0"/>
              <a:t> as the project moves forward and more is learned.</a:t>
            </a:r>
          </a:p>
          <a:p>
            <a:pPr marL="171450" indent="-171450">
              <a:buFont typeface="Arial" panose="020B0604020202020204" pitchFamily="34" charset="0"/>
              <a:buChar char="•"/>
            </a:pPr>
            <a:endParaRPr lang="en-GB" dirty="0"/>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405212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"The Gantt Chart is our primary tool for </a:t>
            </a:r>
            <a:r>
              <a:rPr lang="en-GB" b="1" dirty="0"/>
              <a:t>scheduling and tracking</a:t>
            </a:r>
            <a:r>
              <a:rPr lang="en-GB" dirty="0"/>
              <a:t> the execution phase. It converts our WBS tasks into a dynamic, manageable timeline."</a:t>
            </a:r>
          </a:p>
          <a:p>
            <a:r>
              <a:rPr lang="en-GB" b="1" dirty="0"/>
              <a:t>Schedule &amp; Duration:</a:t>
            </a:r>
            <a:r>
              <a:rPr lang="en-GB" dirty="0"/>
              <a:t> "The chart's visual layout allows stakeholders to see the </a:t>
            </a:r>
            <a:r>
              <a:rPr lang="en-GB" b="1" dirty="0"/>
              <a:t>entire project duration at a glance</a:t>
            </a:r>
            <a:r>
              <a:rPr lang="en-GB" dirty="0"/>
              <a:t>. The length of each bar is a direct representation of the effort and time allocated, as determined by our </a:t>
            </a:r>
            <a:r>
              <a:rPr lang="en-GB" b="1" dirty="0"/>
              <a:t>COCOMO</a:t>
            </a:r>
            <a:r>
              <a:rPr lang="en-GB" dirty="0"/>
              <a:t> estimates."</a:t>
            </a:r>
          </a:p>
          <a:p>
            <a:r>
              <a:rPr lang="en-GB" b="1" dirty="0"/>
              <a:t>Dependencies:</a:t>
            </a:r>
            <a:r>
              <a:rPr lang="en-GB" dirty="0"/>
              <a:t> "Dependencies are crucial. For example, the </a:t>
            </a:r>
            <a:r>
              <a:rPr lang="en-GB" b="1" dirty="0"/>
              <a:t>UI Development</a:t>
            </a:r>
            <a:r>
              <a:rPr lang="en-GB" dirty="0"/>
              <a:t> cannot begin until the </a:t>
            </a:r>
            <a:r>
              <a:rPr lang="en-GB" b="1" dirty="0"/>
              <a:t>Wireframe Sign-off</a:t>
            </a:r>
            <a:r>
              <a:rPr lang="en-GB" dirty="0"/>
              <a:t> is complete. This visual link ensures we don't start work prematurely, which is a common cause of project delays."</a:t>
            </a:r>
          </a:p>
          <a:p>
            <a:r>
              <a:rPr lang="en-GB" b="1" dirty="0"/>
              <a:t>Milestones &amp; Critical Path:</a:t>
            </a:r>
            <a:r>
              <a:rPr lang="en-GB" dirty="0"/>
              <a:t> "We mark major accomplishments, such as </a:t>
            </a:r>
            <a:r>
              <a:rPr lang="en-GB" b="1" dirty="0"/>
              <a:t>'Prototype Sign-off'</a:t>
            </a:r>
            <a:r>
              <a:rPr lang="en-GB" dirty="0"/>
              <a:t>, as </a:t>
            </a:r>
            <a:r>
              <a:rPr lang="en-GB" b="1" dirty="0"/>
              <a:t>Milestones</a:t>
            </a:r>
            <a:r>
              <a:rPr lang="en-GB" dirty="0"/>
              <a:t> (often shown as diamonds) to keep everyone focused on key deadlines. Most importantly, the Gantt chart clearly identifies the </a:t>
            </a:r>
            <a:r>
              <a:rPr lang="en-GB" b="1" dirty="0"/>
              <a:t>Critical Path</a:t>
            </a:r>
            <a:r>
              <a:rPr lang="en-GB" dirty="0"/>
              <a:t>. Any delay on a critical path task will immediately delay the entire project completion date."</a:t>
            </a:r>
          </a:p>
          <a:p>
            <a:r>
              <a:rPr lang="en-GB" b="1" dirty="0"/>
              <a:t>Monitoring:</a:t>
            </a:r>
            <a:r>
              <a:rPr lang="en-GB" dirty="0"/>
              <a:t> "This chart acts as a </a:t>
            </a:r>
            <a:r>
              <a:rPr lang="en-GB" b="1" dirty="0"/>
              <a:t>control tool</a:t>
            </a:r>
            <a:r>
              <a:rPr lang="en-GB" dirty="0"/>
              <a:t>, allowing us to compare </a:t>
            </a:r>
            <a:r>
              <a:rPr lang="en-GB" b="1" dirty="0"/>
              <a:t>Planned vs. Actual</a:t>
            </a:r>
            <a:r>
              <a:rPr lang="en-GB" dirty="0"/>
              <a:t> progress in real-time, enabling prompt corrective action when we fall behind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39093475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1113934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b="1" dirty="0">
                <a:effectLst/>
              </a:rPr>
              <a:t>Introduction:</a:t>
            </a:r>
            <a:r>
              <a:rPr lang="en-GB" dirty="0">
                <a:effectLst/>
              </a:rPr>
              <a:t> "This slide shows the </a:t>
            </a:r>
            <a:r>
              <a:rPr lang="en-GB" b="1" dirty="0">
                <a:effectLst/>
              </a:rPr>
              <a:t>quantitative backbone</a:t>
            </a:r>
            <a:r>
              <a:rPr lang="en-GB" dirty="0">
                <a:effectLst/>
              </a:rPr>
              <a:t> of our project plan. We used the </a:t>
            </a:r>
            <a:r>
              <a:rPr lang="en-GB" b="1" dirty="0">
                <a:effectLst/>
              </a:rPr>
              <a:t>COCOMO II</a:t>
            </a:r>
            <a:r>
              <a:rPr lang="en-GB" dirty="0">
                <a:effectLst/>
              </a:rPr>
              <a:t> model to move beyond guesswork and establish objective estimates for our effort and schedule."</a:t>
            </a:r>
          </a:p>
          <a:p>
            <a:pPr rtl="0"/>
            <a:r>
              <a:rPr lang="en-GB" b="1" dirty="0">
                <a:effectLst/>
              </a:rPr>
              <a:t>Core Results:</a:t>
            </a:r>
            <a:r>
              <a:rPr lang="en-GB" dirty="0">
                <a:effectLst/>
              </a:rPr>
              <a:t> "The primary outputs are </a:t>
            </a:r>
            <a:r>
              <a:rPr lang="en-GB" b="1" dirty="0">
                <a:effectLst/>
              </a:rPr>
              <a:t>2.3 Person-Months</a:t>
            </a:r>
            <a:r>
              <a:rPr lang="en-GB" dirty="0">
                <a:effectLst/>
              </a:rPr>
              <a:t> of total effort and a </a:t>
            </a:r>
            <a:r>
              <a:rPr lang="en-GB" b="1" dirty="0">
                <a:effectLst/>
              </a:rPr>
              <a:t>3.1-month schedule</a:t>
            </a:r>
            <a:r>
              <a:rPr lang="en-GB" dirty="0">
                <a:effectLst/>
              </a:rPr>
              <a:t>. This indicates that given the project's small size (8448 SLOC), we are looking at a tightly scheduled, focused development effort."</a:t>
            </a:r>
          </a:p>
          <a:p>
            <a:pPr rtl="0"/>
            <a:r>
              <a:rPr lang="en-GB" b="1" dirty="0">
                <a:effectLst/>
              </a:rPr>
              <a:t>Phase Distribution:</a:t>
            </a:r>
            <a:r>
              <a:rPr lang="en-GB" dirty="0">
                <a:effectLst/>
              </a:rPr>
              <a:t> "Looking at the breakdown, the majority of the work (74%) is concentrated in the </a:t>
            </a:r>
            <a:r>
              <a:rPr lang="en-GB" b="1" dirty="0">
                <a:effectLst/>
              </a:rPr>
              <a:t>Construction phase</a:t>
            </a:r>
            <a:r>
              <a:rPr lang="en-GB" dirty="0">
                <a:effectLst/>
              </a:rPr>
              <a:t> (1.7 PMs), which is where the coding and core feature implementation of the 'SYB Journey Planner' will occur. This tells us exactly when we need our core development team to be fully engaged."</a:t>
            </a:r>
          </a:p>
          <a:p>
            <a:pPr rtl="0"/>
            <a:r>
              <a:rPr lang="en-GB" b="1" dirty="0">
                <a:effectLst/>
              </a:rPr>
              <a:t>Planning Impact:</a:t>
            </a:r>
            <a:r>
              <a:rPr lang="en-GB" dirty="0">
                <a:effectLst/>
              </a:rPr>
              <a:t> "The </a:t>
            </a:r>
            <a:r>
              <a:rPr lang="en-GB" b="1" dirty="0">
                <a:effectLst/>
              </a:rPr>
              <a:t>3.1-month schedule</a:t>
            </a:r>
            <a:r>
              <a:rPr lang="en-GB" dirty="0">
                <a:effectLst/>
              </a:rPr>
              <a:t> is the key input for our overall project timeline and the high-level bar on the GANTT Chart. The required effort of </a:t>
            </a:r>
            <a:r>
              <a:rPr lang="en-GB" b="1" dirty="0">
                <a:effectLst/>
              </a:rPr>
              <a:t>2.3 Person-Months</a:t>
            </a:r>
            <a:r>
              <a:rPr lang="en-GB" dirty="0">
                <a:effectLst/>
              </a:rPr>
              <a:t> helps us determine the optimal team size needed to meet that 3.1-month deadline without causing resource burnout."</a:t>
            </a:r>
          </a:p>
          <a:p>
            <a:pPr rtl="0"/>
            <a:r>
              <a:rPr lang="en-GB" b="1" dirty="0">
                <a:effectLst/>
              </a:rPr>
              <a:t>Conclusion:</a:t>
            </a:r>
            <a:r>
              <a:rPr lang="en-GB" dirty="0">
                <a:effectLst/>
              </a:rPr>
              <a:t> "By leveraging COCOMO II, we ensure our schedule and cost estimates are grounded in industry-tested metrics related to the size and complexity of the software."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11</a:t>
            </a:fld>
            <a:endParaRPr lang="en-GB"/>
          </a:p>
        </p:txBody>
      </p:sp>
    </p:spTree>
    <p:extLst>
      <p:ext uri="{BB962C8B-B14F-4D97-AF65-F5344CB8AC3E}">
        <p14:creationId xmlns:p14="http://schemas.microsoft.com/office/powerpoint/2010/main" val="874668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12</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13</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14</a:t>
            </a:fld>
            <a:endParaRPr lang="en-GB"/>
          </a:p>
        </p:txBody>
      </p:sp>
    </p:spTree>
    <p:extLst>
      <p:ext uri="{BB962C8B-B14F-4D97-AF65-F5344CB8AC3E}">
        <p14:creationId xmlns:p14="http://schemas.microsoft.com/office/powerpoint/2010/main" val="2541762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"Effective project execution starts with knowing what to build first. We used the </a:t>
            </a:r>
            <a:r>
              <a:rPr lang="en-GB" b="1" dirty="0" err="1"/>
              <a:t>MoSCoW</a:t>
            </a:r>
            <a:r>
              <a:rPr lang="en-GB" b="1" dirty="0"/>
              <a:t> technique</a:t>
            </a:r>
            <a:r>
              <a:rPr lang="en-GB" dirty="0"/>
              <a:t> to give clear priorities to the functional requirements for the 'SYB Journey Planner' system."</a:t>
            </a:r>
          </a:p>
          <a:p>
            <a:r>
              <a:rPr lang="en-GB" b="1" dirty="0"/>
              <a:t>Categories:</a:t>
            </a:r>
            <a:r>
              <a:rPr lang="en-GB" dirty="0"/>
              <a:t> "The technique is essential for managing scope creep and delivering a viable product on time. We commit to delivering all the </a:t>
            </a:r>
            <a:r>
              <a:rPr lang="en-GB" b="1" dirty="0"/>
              <a:t>'Must haves'</a:t>
            </a:r>
            <a:r>
              <a:rPr lang="en-GB" dirty="0"/>
              <a:t>. If a Must Have is compromised, the project objectives cannot be met."</a:t>
            </a:r>
          </a:p>
          <a:p>
            <a:r>
              <a:rPr lang="en-GB" b="1" dirty="0"/>
              <a:t>Must Haves Examples:</a:t>
            </a:r>
            <a:r>
              <a:rPr lang="en-GB" dirty="0"/>
              <a:t> "As shown in the table, examples of </a:t>
            </a:r>
            <a:r>
              <a:rPr lang="en-GB" b="1" dirty="0"/>
              <a:t>Must Haves</a:t>
            </a:r>
            <a:r>
              <a:rPr lang="en-GB" dirty="0"/>
              <a:t> are fundamental features like </a:t>
            </a:r>
            <a:r>
              <a:rPr lang="en-GB" b="1" dirty="0"/>
              <a:t>calculating available bus routes</a:t>
            </a:r>
            <a:r>
              <a:rPr lang="en-GB" dirty="0"/>
              <a:t> (FR04) and using the user's location to list nearby bus stops (FR05/FR06). These are non-negotiable for a functioning journey planner."</a:t>
            </a:r>
          </a:p>
          <a:p>
            <a:r>
              <a:rPr lang="en-GB" b="1" dirty="0"/>
              <a:t>Should Haves Examples:</a:t>
            </a:r>
            <a:r>
              <a:rPr lang="en-GB" dirty="0"/>
              <a:t> "</a:t>
            </a:r>
            <a:r>
              <a:rPr lang="en-GB" b="1" dirty="0"/>
              <a:t>Should Haves</a:t>
            </a:r>
            <a:r>
              <a:rPr lang="en-GB" dirty="0"/>
              <a:t>, like allowing the user to search by departure time (FR02) or zoom/pan (FR09), are important for a good experience but can be delivered in a subsequent release if necessary."</a:t>
            </a:r>
          </a:p>
          <a:p>
            <a:r>
              <a:rPr lang="en-GB" b="1" dirty="0"/>
              <a:t>Impact:</a:t>
            </a:r>
            <a:r>
              <a:rPr lang="en-GB" dirty="0"/>
              <a:t> "By prioritizing this way, we ensure our limited time and effort (as estimated by COCOMO) is spent only on the features that provide the highest value and ensure the project's critical objectives are met on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16</a:t>
            </a:fld>
            <a:endParaRPr lang="en-GB"/>
          </a:p>
        </p:txBody>
      </p:sp>
    </p:spTree>
    <p:extLst>
      <p:ext uri="{BB962C8B-B14F-4D97-AF65-F5344CB8AC3E}">
        <p14:creationId xmlns:p14="http://schemas.microsoft.com/office/powerpoint/2010/main" val="2394143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10/12/2025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10/12/2025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Date Placeholder 1"/>
          <p:cNvSpPr>
            <a:spLocks noGrp="1"/>
          </p:cNvSpPr>
          <p:nvPr>
            <p:ph type="dt" sz="half" idx="10"/>
          </p:nvPr>
        </p:nvSpPr>
        <p:spPr/>
        <p:txBody>
          <a:bodyPr/>
          <a:lstStyle/>
          <a:p>
            <a:fld id="{A8487364-6656-4621-B013-758523783C72}" type="datetimeFigureOut">
              <a:rPr lang="en-GB" smtClean="0"/>
              <a:t>10/12/2025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10/12/2025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10/12/2025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10/12/2025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21.jpe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624150118"/>
              </p:ext>
            </p:extLst>
          </p:nvPr>
        </p:nvGraphicFramePr>
        <p:xfrm>
          <a:off x="577520" y="2474781"/>
          <a:ext cx="10041597" cy="363876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Envisioned Solution</a:t>
                      </a:r>
                    </a:p>
                    <a:p>
                      <a:pPr>
                        <a:buNone/>
                      </a:pPr>
                      <a:endParaRPr lang="en-GB" dirty="0">
                        <a:solidFill>
                          <a:schemeClr val="bg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Prototype</a:t>
                      </a:r>
                      <a:r>
                        <a:rPr lang="en-GB" dirty="0">
                          <a:solidFill>
                            <a:schemeClr val="tx1">
                              <a:lumMod val="50000"/>
                            </a:schemeClr>
                          </a:solidFill>
                        </a:rPr>
                        <a:t>, </a:t>
                      </a:r>
                      <a:r>
                        <a:rPr lang="en-GB" dirty="0" err="1">
                          <a:solidFill>
                            <a:schemeClr val="bg1"/>
                          </a:solidFill>
                        </a:rPr>
                        <a:t>MoSCoW</a:t>
                      </a:r>
                      <a:endParaRPr lang="en-GB" dirty="0">
                        <a:solidFill>
                          <a:schemeClr val="bg1"/>
                        </a:solidFill>
                      </a:endParaRPr>
                    </a:p>
                    <a:p>
                      <a:pPr>
                        <a:buNone/>
                      </a:pPr>
                      <a:endParaRPr lang="en-GB" dirty="0">
                        <a:solidFill>
                          <a:schemeClr val="bg1"/>
                        </a:solidFill>
                      </a:endParaRPr>
                    </a:p>
                  </a:txBody>
                  <a:tcPr anchor="ctr"/>
                </a:tc>
                <a:extLst>
                  <a:ext uri="{0D108BD9-81ED-4DB2-BD59-A6C34878D82A}">
                    <a16:rowId xmlns:a16="http://schemas.microsoft.com/office/drawing/2014/main" val="3801539509"/>
                  </a:ext>
                </a:extLst>
              </a:tr>
              <a:tr h="444250">
                <a:tc>
                  <a:txBody>
                    <a:bodyPr/>
                    <a:lstStyle/>
                    <a:p>
                      <a:pPr>
                        <a:buNone/>
                      </a:pPr>
                      <a:endParaRPr lang="en-GB" dirty="0">
                        <a:solidFill>
                          <a:schemeClr val="bg1"/>
                        </a:solidFill>
                      </a:endParaRPr>
                    </a:p>
                  </a:txBody>
                  <a:tcPr anchor="ctr"/>
                </a:tc>
                <a:tc>
                  <a:txBody>
                    <a:bodyPr/>
                    <a:lstStyle/>
                    <a:p>
                      <a:pPr>
                        <a:buNone/>
                      </a:pPr>
                      <a:endParaRPr lang="en-GB" dirty="0">
                        <a:solidFill>
                          <a:schemeClr val="bg1"/>
                        </a:solidFill>
                      </a:endParaRP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normAutofit lnSpcReduction="10000"/>
          </a:bodyPr>
          <a:lstStyle/>
          <a:p>
            <a:r>
              <a:rPr lang="en-GB" b="1" dirty="0"/>
              <a:t>Methodology: </a:t>
            </a:r>
            <a:r>
              <a:rPr lang="en-GB" dirty="0"/>
              <a:t>Prince2 Agile – mix of structure and flexibility.</a:t>
            </a:r>
          </a:p>
          <a:p>
            <a:r>
              <a:rPr lang="en-GB" b="1" dirty="0"/>
              <a:t>Overview:</a:t>
            </a:r>
            <a:r>
              <a:rPr lang="en-GB" dirty="0"/>
              <a:t> SYB Journey Planner – mobile application to improve customer experience and reduce delays. </a:t>
            </a:r>
          </a:p>
          <a:p>
            <a:r>
              <a:rPr lang="en-GB" b="1" dirty="0"/>
              <a:t>Business objectives:</a:t>
            </a:r>
            <a:r>
              <a:rPr lang="en-GB" dirty="0"/>
              <a:t> Better journey info, more digital engagement, accessibility, faster boarding.</a:t>
            </a:r>
          </a:p>
          <a:p>
            <a:r>
              <a:rPr lang="en-GB" b="1" dirty="0"/>
              <a:t>Project objectives:</a:t>
            </a:r>
            <a:r>
              <a:rPr lang="en-GB" dirty="0"/>
              <a:t> Deliver mobile-first application, prototype &amp; project artefacts by Dec 2025, aligned with bus company branding.</a:t>
            </a:r>
          </a:p>
          <a:p>
            <a:r>
              <a:rPr lang="en-GB" b="1" dirty="0"/>
              <a:t>Scope:</a:t>
            </a:r>
            <a:r>
              <a:rPr lang="en-GB" dirty="0"/>
              <a:t> MVP features (routing, next‑bus times, ticket recommendations, live updates).</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9362-AD99-85B6-69EF-810F112D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178E-FB92-2039-588C-F404662DD80A}"/>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0D0C9339-66E5-5E33-B854-D1300FC6571D}"/>
              </a:ext>
            </a:extLst>
          </p:cNvPr>
          <p:cNvSpPr>
            <a:spLocks noGrp="1"/>
          </p:cNvSpPr>
          <p:nvPr>
            <p:ph idx="1"/>
          </p:nvPr>
        </p:nvSpPr>
        <p:spPr/>
        <p:txBody>
          <a:bodyPr>
            <a:normAutofit lnSpcReduction="10000"/>
          </a:bodyPr>
          <a:lstStyle/>
          <a:p>
            <a:pPr marL="0" indent="0">
              <a:buNone/>
            </a:pPr>
            <a:r>
              <a:rPr lang="en-GB" b="1" dirty="0"/>
              <a:t>Roles &amp; responsibilities:</a:t>
            </a:r>
            <a:endParaRPr lang="en-GB" dirty="0"/>
          </a:p>
          <a:p>
            <a:r>
              <a:rPr lang="en-GB" dirty="0"/>
              <a:t>Jack – Project Manager</a:t>
            </a:r>
          </a:p>
          <a:p>
            <a:r>
              <a:rPr lang="en-GB" dirty="0"/>
              <a:t>Javani – Sponsor (budget/approvals)</a:t>
            </a:r>
          </a:p>
          <a:p>
            <a:r>
              <a:rPr lang="en-GB" dirty="0"/>
              <a:t>Elekir – Business Analyst</a:t>
            </a:r>
          </a:p>
          <a:p>
            <a:r>
              <a:rPr lang="en-GB" dirty="0"/>
              <a:t>Samuel – Quality Assurance</a:t>
            </a:r>
          </a:p>
          <a:p>
            <a:r>
              <a:rPr lang="en-GB" dirty="0"/>
              <a:t>Designer – Wireframes &amp; prototype</a:t>
            </a:r>
          </a:p>
          <a:p>
            <a:r>
              <a:rPr lang="en-GB" dirty="0"/>
              <a:t>Risk Manager – RAID &amp; risk register</a:t>
            </a:r>
          </a:p>
          <a:p>
            <a:r>
              <a:rPr lang="en-GB" dirty="0"/>
              <a:t>Software Team – Code review and evaluations</a:t>
            </a:r>
          </a:p>
        </p:txBody>
      </p:sp>
    </p:spTree>
    <p:extLst>
      <p:ext uri="{BB962C8B-B14F-4D97-AF65-F5344CB8AC3E}">
        <p14:creationId xmlns:p14="http://schemas.microsoft.com/office/powerpoint/2010/main" val="2837083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useBgFill="1">
        <p:nvSpPr>
          <p:cNvPr id="1055" name="Rectangle 1054">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6" name="Picture 1055">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057" name="Rectangle 1056">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5584677" cy="1080938"/>
          </a:xfrm>
        </p:spPr>
        <p:txBody>
          <a:bodyPr>
            <a:normAutofit/>
          </a:bodyPr>
          <a:lstStyle/>
          <a:p>
            <a:r>
              <a:rPr lang="en-GB"/>
              <a:t>Business Case – Force Field Analysis</a:t>
            </a:r>
          </a:p>
        </p:txBody>
      </p:sp>
      <p:pic>
        <p:nvPicPr>
          <p:cNvPr id="1059" name="Picture 1058">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5104843" cy="3599316"/>
          </a:xfrm>
        </p:spPr>
        <p:txBody>
          <a:bodyPr>
            <a:normAutofit/>
          </a:bodyPr>
          <a:lstStyle/>
          <a:p>
            <a:pPr marL="0" indent="0">
              <a:buNone/>
            </a:pPr>
            <a:r>
              <a:rPr lang="en-US" sz="1600" dirty="0"/>
              <a:t>Forces for Change : </a:t>
            </a:r>
            <a:r>
              <a:rPr lang="en-US" sz="1600" b="1" dirty="0"/>
              <a:t>20 | </a:t>
            </a:r>
            <a:r>
              <a:rPr lang="en-US" sz="1600" dirty="0"/>
              <a:t>Forces Against change : </a:t>
            </a:r>
            <a:r>
              <a:rPr lang="en-US" sz="1600" b="1" dirty="0"/>
              <a:t>12</a:t>
            </a:r>
          </a:p>
          <a:p>
            <a:pPr marL="0" indent="0">
              <a:buNone/>
            </a:pPr>
            <a:r>
              <a:rPr lang="en-US" sz="1400" b="1" dirty="0"/>
              <a:t>Forces For Change:</a:t>
            </a:r>
          </a:p>
          <a:p>
            <a:r>
              <a:rPr lang="en-US" sz="1400" dirty="0"/>
              <a:t>Improved customer experience – Clear Journey Info</a:t>
            </a:r>
          </a:p>
          <a:p>
            <a:r>
              <a:rPr lang="en-US" sz="1400" dirty="0"/>
              <a:t>Alignment with existing operators (Stagecoach, First Bus)</a:t>
            </a:r>
          </a:p>
          <a:p>
            <a:r>
              <a:rPr lang="en-US" sz="1400" dirty="0"/>
              <a:t>Meeting accessibility requirements</a:t>
            </a:r>
          </a:p>
          <a:p>
            <a:pPr marL="0" indent="0">
              <a:buNone/>
            </a:pPr>
            <a:r>
              <a:rPr lang="en-US" sz="1400" b="1" dirty="0"/>
              <a:t>Forces Against Change:</a:t>
            </a:r>
          </a:p>
          <a:p>
            <a:r>
              <a:rPr lang="en-US" sz="1400" dirty="0"/>
              <a:t>Fixed Budget (£65,000)</a:t>
            </a:r>
          </a:p>
          <a:p>
            <a:r>
              <a:rPr lang="en-US" sz="1400" dirty="0"/>
              <a:t>Short Delivery Timeline (mid-December 2025)</a:t>
            </a:r>
          </a:p>
          <a:p>
            <a:r>
              <a:rPr lang="en-US" sz="1400" dirty="0"/>
              <a:t>Strong competition from established apps</a:t>
            </a:r>
          </a:p>
          <a:p>
            <a:r>
              <a:rPr lang="en-US" sz="1400" dirty="0"/>
              <a:t>Uncertainty about post-launch ownership/maintenance</a:t>
            </a:r>
          </a:p>
          <a:p>
            <a:endParaRPr lang="en-US" sz="1400" dirty="0"/>
          </a:p>
        </p:txBody>
      </p:sp>
      <p:sp>
        <p:nvSpPr>
          <p:cNvPr id="1054" name="Rectangle 1053">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BFF2B3BF-97E3-C8A2-EF63-1452D7A574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6729987" y="1024574"/>
            <a:ext cx="4685601" cy="4690426"/>
          </a:xfrm>
          <a:prstGeom prst="rect">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46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3375051621"/>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1" name="Rectangle 30">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pic>
        <p:nvPicPr>
          <p:cNvPr id="35" name="Picture 34">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76201" y="2113873"/>
            <a:ext cx="4486274" cy="4639352"/>
          </a:xfrm>
        </p:spPr>
        <p:txBody>
          <a:bodyPr>
            <a:normAutofit fontScale="85000" lnSpcReduction="20000"/>
          </a:bodyPr>
          <a:lstStyle/>
          <a:p>
            <a:pPr marL="0" indent="0">
              <a:buNone/>
            </a:pPr>
            <a:r>
              <a:rPr lang="en-US" sz="1500" b="1" dirty="0"/>
              <a:t>Costs:</a:t>
            </a:r>
          </a:p>
          <a:p>
            <a:pPr>
              <a:buFontTx/>
              <a:buChar char="-"/>
            </a:pPr>
            <a:r>
              <a:rPr lang="en-US" sz="1500" b="1" dirty="0"/>
              <a:t>Capital:</a:t>
            </a:r>
          </a:p>
          <a:p>
            <a:pPr lvl="1"/>
            <a:r>
              <a:rPr lang="en-US" sz="1200" dirty="0"/>
              <a:t>Development: £65,000 (fixed budget)</a:t>
            </a:r>
          </a:p>
          <a:p>
            <a:pPr lvl="1"/>
            <a:r>
              <a:rPr lang="en-US" sz="1200" dirty="0"/>
              <a:t>Cloud Hosting (Yr 1): £1,200</a:t>
            </a:r>
          </a:p>
          <a:p>
            <a:pPr>
              <a:buFontTx/>
              <a:buChar char="-"/>
            </a:pPr>
            <a:r>
              <a:rPr lang="en-US" sz="1500" b="1" dirty="0"/>
              <a:t>Recurring (Years 1-5):</a:t>
            </a:r>
          </a:p>
          <a:p>
            <a:pPr lvl="1"/>
            <a:r>
              <a:rPr lang="en-US" sz="1200" dirty="0"/>
              <a:t>Cloud Hosting Renewal: £1,200/year</a:t>
            </a:r>
          </a:p>
          <a:p>
            <a:pPr lvl="1"/>
            <a:r>
              <a:rPr lang="en-US" sz="1200" dirty="0"/>
              <a:t>Transport API (Map): £670/year </a:t>
            </a:r>
          </a:p>
          <a:p>
            <a:pPr lvl="1"/>
            <a:r>
              <a:rPr lang="en-US" sz="1200" dirty="0"/>
              <a:t>Built-in Support/Helpdesk: £2,000/year</a:t>
            </a:r>
          </a:p>
          <a:p>
            <a:pPr marL="457200" lvl="1" indent="0">
              <a:buNone/>
            </a:pPr>
            <a:r>
              <a:rPr lang="en-US" sz="1200" dirty="0"/>
              <a:t>Total recurring: £4,000/£5,000/year (grows with inflation)</a:t>
            </a:r>
            <a:endParaRPr lang="en-US" sz="1700" dirty="0"/>
          </a:p>
          <a:p>
            <a:pPr marL="0" indent="0">
              <a:buNone/>
            </a:pPr>
            <a:r>
              <a:rPr lang="en-US" sz="1500" b="1" dirty="0"/>
              <a:t>Benefits:</a:t>
            </a:r>
          </a:p>
          <a:p>
            <a:pPr>
              <a:buFontTx/>
              <a:buChar char="-"/>
            </a:pPr>
            <a:r>
              <a:rPr lang="en-US" sz="1500" b="1" dirty="0"/>
              <a:t>Revenue Streams: </a:t>
            </a:r>
          </a:p>
          <a:p>
            <a:pPr lvl="1"/>
            <a:r>
              <a:rPr lang="en-US" sz="1200" dirty="0"/>
              <a:t>Ticket Commissions: £36,000/year (10% on £3 tickets x 10,000 users)</a:t>
            </a:r>
          </a:p>
          <a:p>
            <a:pPr lvl="1"/>
            <a:endParaRPr lang="en-US" sz="1100" dirty="0"/>
          </a:p>
          <a:p>
            <a:pPr>
              <a:buFontTx/>
              <a:buChar char="-"/>
            </a:pPr>
            <a:r>
              <a:rPr lang="en-US" sz="1500" b="1" dirty="0"/>
              <a:t>Cost Savings:</a:t>
            </a:r>
          </a:p>
          <a:p>
            <a:pPr lvl="1"/>
            <a:r>
              <a:rPr lang="en-US" sz="1100" dirty="0"/>
              <a:t> </a:t>
            </a:r>
            <a:r>
              <a:rPr lang="en-US" sz="1200" dirty="0"/>
              <a:t>Faster Boarding: £2,000/year (reduced time stationary leading to lower overtime/fuel costs)</a:t>
            </a:r>
          </a:p>
          <a:p>
            <a:pPr marL="0" indent="0">
              <a:buNone/>
            </a:pPr>
            <a:r>
              <a:rPr lang="en-US" sz="1500" b="1" dirty="0"/>
              <a:t>Financial Outcome:</a:t>
            </a:r>
          </a:p>
          <a:p>
            <a:r>
              <a:rPr lang="en-US" sz="1500" dirty="0"/>
              <a:t>Year 1 Loss: £30,000</a:t>
            </a:r>
          </a:p>
          <a:p>
            <a:r>
              <a:rPr lang="en-US" sz="1500" dirty="0"/>
              <a:t>Year 2-5: Exceeding costs (£34,000-£35,000 annually)</a:t>
            </a:r>
          </a:p>
          <a:p>
            <a:r>
              <a:rPr lang="en-US" sz="1500" dirty="0"/>
              <a:t>5-year cumulative return: £109,000 (1.7x ROI)</a:t>
            </a:r>
          </a:p>
          <a:p>
            <a:endParaRPr lang="en-US" sz="1400" dirty="0"/>
          </a:p>
          <a:p>
            <a:pPr marL="457200" lvl="1" indent="0">
              <a:buNone/>
            </a:pPr>
            <a:endParaRPr lang="en-US" sz="1000" dirty="0"/>
          </a:p>
          <a:p>
            <a:pPr marL="457200" lvl="1" indent="0">
              <a:buNone/>
            </a:pPr>
            <a:endParaRPr lang="en-US" sz="1000" dirty="0"/>
          </a:p>
        </p:txBody>
      </p:sp>
      <p:pic>
        <p:nvPicPr>
          <p:cNvPr id="4" name="Picture 3" descr="Cost Benefits Analysis">
            <a:extLst>
              <a:ext uri="{FF2B5EF4-FFF2-40B4-BE49-F238E27FC236}">
                <a16:creationId xmlns:a16="http://schemas.microsoft.com/office/drawing/2014/main" id="{25978EAD-B90C-7FB9-A23F-DB67D1BFBDF5}"/>
              </a:ext>
            </a:extLst>
          </p:cNvPr>
          <p:cNvPicPr>
            <a:picLocks noChangeAspect="1"/>
          </p:cNvPicPr>
          <p:nvPr/>
        </p:nvPicPr>
        <p:blipFill>
          <a:blip r:embed="rId5"/>
          <a:stretch>
            <a:fillRect/>
          </a:stretch>
        </p:blipFill>
        <p:spPr>
          <a:xfrm>
            <a:off x="4816444" y="2261018"/>
            <a:ext cx="7187575" cy="2335961"/>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275718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4" name="Rectangle 23">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a:xfrm>
            <a:off x="680321" y="753228"/>
            <a:ext cx="4136123" cy="1080938"/>
          </a:xfrm>
        </p:spPr>
        <p:txBody>
          <a:bodyPr>
            <a:normAutofit/>
          </a:bodyPr>
          <a:lstStyle/>
          <a:p>
            <a:r>
              <a:rPr lang="en-GB" sz="2400"/>
              <a:t>Project Plan – Work Breakdown Structure (WBS)</a:t>
            </a:r>
          </a:p>
        </p:txBody>
      </p:sp>
      <p:pic>
        <p:nvPicPr>
          <p:cNvPr id="28" name="Picture 27">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a:xfrm>
            <a:off x="680321" y="2336873"/>
            <a:ext cx="3656289" cy="3599316"/>
          </a:xfrm>
        </p:spPr>
        <p:txBody>
          <a:bodyPr>
            <a:normAutofit/>
          </a:bodyPr>
          <a:lstStyle/>
          <a:p>
            <a:r>
              <a:rPr lang="en-GB" sz="1400" b="1"/>
              <a:t>The Structure: Hierarchical Decomposition</a:t>
            </a:r>
          </a:p>
          <a:p>
            <a:pPr marL="0" indent="0">
              <a:buNone/>
            </a:pPr>
            <a:r>
              <a:rPr lang="en-GB" sz="1400"/>
              <a:t>The WBS is a </a:t>
            </a:r>
            <a:r>
              <a:rPr lang="en-GB" sz="1400" b="1"/>
              <a:t>deliverable-oriented</a:t>
            </a:r>
            <a:r>
              <a:rPr lang="en-GB" sz="1400"/>
              <a:t> hierarchical decomposition of the work required to accomplish the project objectives and create the required deliverables.</a:t>
            </a:r>
          </a:p>
          <a:p>
            <a:r>
              <a:rPr lang="en-GB" sz="1400" b="1"/>
              <a:t>The Core Unit: Work Packages</a:t>
            </a:r>
          </a:p>
          <a:p>
            <a:pPr marL="0" indent="0">
              <a:buNone/>
            </a:pPr>
            <a:r>
              <a:rPr lang="en-GB" sz="1400" b="1"/>
              <a:t>Work Packages</a:t>
            </a:r>
            <a:r>
              <a:rPr lang="en-GB" sz="1400"/>
              <a:t> are the fundamental level of control and effort estimation in the project.</a:t>
            </a:r>
            <a:endParaRPr lang="en-GB" sz="1400" b="1"/>
          </a:p>
          <a:p>
            <a:r>
              <a:rPr lang="en-GB" sz="1400"/>
              <a:t>The Workflow</a:t>
            </a:r>
          </a:p>
          <a:p>
            <a:pPr marL="0" indent="0">
              <a:buNone/>
            </a:pPr>
            <a:r>
              <a:rPr lang="en-GB" sz="1400"/>
              <a:t>The WBS logically follows the project lifecycle</a:t>
            </a:r>
          </a:p>
        </p:txBody>
      </p:sp>
      <p:pic>
        <p:nvPicPr>
          <p:cNvPr id="6" name="Picture 5" descr="A computer screen shot of a computer screen&#10;&#10;AI-generated content may be incorrect.">
            <a:extLst>
              <a:ext uri="{FF2B5EF4-FFF2-40B4-BE49-F238E27FC236}">
                <a16:creationId xmlns:a16="http://schemas.microsoft.com/office/drawing/2014/main" id="{85017A76-3D37-05E1-8869-EB9EC4C6C73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56" y="609599"/>
            <a:ext cx="7528064" cy="5457846"/>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358832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F9045443-F222-329D-0A8B-516A79892390}"/>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6F536A3-78D8-F568-F98E-EB01E9ACEA4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Gantt Chart</a:t>
            </a:r>
          </a:p>
        </p:txBody>
      </p:sp>
      <p:pic>
        <p:nvPicPr>
          <p:cNvPr id="19" name="Picture 18">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88CD0364-6877-D7F9-8881-EC3DF38A07E8}"/>
              </a:ext>
            </a:extLst>
          </p:cNvPr>
          <p:cNvSpPr txBox="1"/>
          <p:nvPr/>
        </p:nvSpPr>
        <p:spPr>
          <a:xfrm>
            <a:off x="680321" y="2336873"/>
            <a:ext cx="3656289" cy="3599316"/>
          </a:xfrm>
          <a:prstGeom prst="rect">
            <a:avLst/>
          </a:prstGeom>
        </p:spPr>
        <p:txBody>
          <a:bodyPr vert="horz" lIns="91440" tIns="45720" rIns="91440" bIns="45720" rtlCol="0">
            <a:normAutofit lnSpcReduction="10000"/>
          </a:bodyPr>
          <a:lstStyle/>
          <a:p>
            <a:pPr marL="285750" indent="-228600" defTabSz="914400">
              <a:lnSpc>
                <a:spcPct val="90000"/>
              </a:lnSpc>
              <a:spcAft>
                <a:spcPts val="600"/>
              </a:spcAft>
              <a:buFont typeface="Arial" panose="020B0604020202020204" pitchFamily="34" charset="0"/>
              <a:buChar char="•"/>
            </a:pPr>
            <a:r>
              <a:rPr lang="en-GB" sz="1400" b="1" dirty="0"/>
              <a:t>Visual Schedule &amp; Timeline</a:t>
            </a:r>
          </a:p>
          <a:p>
            <a:pPr marL="57150" defTabSz="914400">
              <a:lnSpc>
                <a:spcPct val="90000"/>
              </a:lnSpc>
              <a:spcAft>
                <a:spcPts val="600"/>
              </a:spcAft>
            </a:pPr>
            <a:r>
              <a:rPr lang="en-GB" sz="1400" dirty="0"/>
              <a:t>Provides a graphical representation of the entire project, with the schedule timescale (weeks/months) on the </a:t>
            </a:r>
            <a:r>
              <a:rPr lang="en-GB" sz="1400" b="1" dirty="0"/>
              <a:t>horizontal graph</a:t>
            </a:r>
          </a:p>
          <a:p>
            <a:pPr marL="342900" indent="-285750" defTabSz="914400">
              <a:lnSpc>
                <a:spcPct val="90000"/>
              </a:lnSpc>
              <a:spcAft>
                <a:spcPts val="600"/>
              </a:spcAft>
              <a:buFont typeface="Arial" panose="020B0604020202020204" pitchFamily="34" charset="0"/>
              <a:buChar char="•"/>
            </a:pPr>
            <a:r>
              <a:rPr lang="en-GB" sz="1400" b="1" dirty="0"/>
              <a:t>Task List &amp; Duration</a:t>
            </a:r>
          </a:p>
          <a:p>
            <a:pPr marL="57150" defTabSz="914400">
              <a:lnSpc>
                <a:spcPct val="90000"/>
              </a:lnSpc>
              <a:spcAft>
                <a:spcPts val="600"/>
              </a:spcAft>
            </a:pPr>
            <a:r>
              <a:rPr lang="en-GB" sz="1400" dirty="0"/>
              <a:t>Lists all project tasks (derived from the WBS) vertically, with </a:t>
            </a:r>
            <a:r>
              <a:rPr lang="en-GB" sz="1400" b="1" dirty="0"/>
              <a:t>horizontal bars</a:t>
            </a:r>
            <a:r>
              <a:rPr lang="en-GB" sz="1400" dirty="0"/>
              <a:t> showing the planned </a:t>
            </a:r>
            <a:r>
              <a:rPr lang="en-GB" sz="1400" b="1" dirty="0"/>
              <a:t>start date, duration, and end date</a:t>
            </a:r>
            <a:r>
              <a:rPr lang="en-GB" sz="1400" dirty="0"/>
              <a:t> for each activity</a:t>
            </a:r>
          </a:p>
          <a:p>
            <a:pPr marL="57150" defTabSz="914400">
              <a:lnSpc>
                <a:spcPct val="90000"/>
              </a:lnSpc>
              <a:spcAft>
                <a:spcPts val="600"/>
              </a:spcAft>
            </a:pPr>
            <a:endParaRPr lang="en-GB" sz="1400" b="1" dirty="0"/>
          </a:p>
          <a:p>
            <a:pPr marL="342900" indent="-285750" defTabSz="914400">
              <a:lnSpc>
                <a:spcPct val="90000"/>
              </a:lnSpc>
              <a:spcAft>
                <a:spcPts val="600"/>
              </a:spcAft>
              <a:buFont typeface="Arial" panose="020B0604020202020204" pitchFamily="34" charset="0"/>
              <a:buChar char="•"/>
            </a:pPr>
            <a:r>
              <a:rPr lang="en-GB" sz="1400" b="1" dirty="0"/>
              <a:t>Dependencies and Sequence</a:t>
            </a:r>
          </a:p>
          <a:p>
            <a:pPr marL="57150" defTabSz="914400">
              <a:lnSpc>
                <a:spcPct val="90000"/>
              </a:lnSpc>
              <a:spcAft>
                <a:spcPts val="600"/>
              </a:spcAft>
            </a:pPr>
            <a:r>
              <a:rPr lang="en-GB" sz="1400" dirty="0"/>
              <a:t>Clearly illustrates the </a:t>
            </a:r>
            <a:r>
              <a:rPr lang="en-GB" sz="1400" b="1" dirty="0"/>
              <a:t>logical sequence</a:t>
            </a:r>
            <a:r>
              <a:rPr lang="en-GB" sz="1400" dirty="0"/>
              <a:t> and </a:t>
            </a:r>
            <a:r>
              <a:rPr lang="en-GB" sz="1400" b="1" dirty="0"/>
              <a:t>dependencies</a:t>
            </a:r>
            <a:r>
              <a:rPr lang="en-GB" sz="1400" dirty="0"/>
              <a:t> between tasks, ensuring the team knows the correct order of work.</a:t>
            </a:r>
            <a:endParaRPr lang="en-US" sz="1400" dirty="0"/>
          </a:p>
        </p:txBody>
      </p:sp>
      <p:sp>
        <p:nvSpPr>
          <p:cNvPr id="21" name="Rectangle 20">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5A0CAB7C-EC1A-FB2F-31A2-DDD832ACD4DC}"/>
              </a:ext>
            </a:extLst>
          </p:cNvPr>
          <p:cNvPicPr>
            <a:picLocks noGrp="1" noChangeAspect="1"/>
          </p:cNvPicPr>
          <p:nvPr>
            <p:ph idx="1"/>
          </p:nvPr>
        </p:nvPicPr>
        <p:blipFill>
          <a:blip r:embed="rId5"/>
          <a:stretch>
            <a:fillRect/>
          </a:stretch>
        </p:blipFill>
        <p:spPr>
          <a:xfrm>
            <a:off x="5258496" y="671658"/>
            <a:ext cx="6253183" cy="5454821"/>
          </a:xfrm>
          <a:prstGeom prst="rect">
            <a:avLst/>
          </a:prstGeom>
          <a:ln>
            <a:noFill/>
          </a:ln>
          <a:effectLst/>
        </p:spPr>
      </p:pic>
    </p:spTree>
    <p:extLst>
      <p:ext uri="{BB962C8B-B14F-4D97-AF65-F5344CB8AC3E}">
        <p14:creationId xmlns:p14="http://schemas.microsoft.com/office/powerpoint/2010/main" val="1234474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18A6786E-7150-0BCD-4AA4-5A43C13DA4D7}"/>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27E2C850-94E0-408B-9CE6-BA3A3573165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3" name="Rectangle 12">
              <a:extLst>
                <a:ext uri="{FF2B5EF4-FFF2-40B4-BE49-F238E27FC236}">
                  <a16:creationId xmlns:a16="http://schemas.microsoft.com/office/drawing/2014/main" id="{DF696BBD-DCA8-4242-B932-B4E20FFBC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B080CC3F-B231-4289-A61F-057AEEB4B326}"/>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16" name="Rectangle 15">
            <a:extLst>
              <a:ext uri="{FF2B5EF4-FFF2-40B4-BE49-F238E27FC236}">
                <a16:creationId xmlns:a16="http://schemas.microsoft.com/office/drawing/2014/main" id="{077DC642-2A03-45A0-8FF0-362AFF61C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3364495-ED99-20F5-200D-CAEBBCCD0F31}"/>
              </a:ext>
            </a:extLst>
          </p:cNvPr>
          <p:cNvSpPr>
            <a:spLocks noGrp="1"/>
          </p:cNvSpPr>
          <p:nvPr>
            <p:ph type="title"/>
          </p:nvPr>
        </p:nvSpPr>
        <p:spPr>
          <a:xfrm>
            <a:off x="680322" y="753228"/>
            <a:ext cx="4196478" cy="1080938"/>
          </a:xfrm>
        </p:spPr>
        <p:txBody>
          <a:bodyPr vert="horz" lIns="91440" tIns="45720" rIns="91440" bIns="45720" rtlCol="0" anchor="ctr">
            <a:normAutofit/>
          </a:bodyPr>
          <a:lstStyle/>
          <a:p>
            <a:r>
              <a:rPr lang="en-US" sz="3200"/>
              <a:t>Project Plan – RACI Matrix</a:t>
            </a:r>
          </a:p>
        </p:txBody>
      </p:sp>
      <p:pic>
        <p:nvPicPr>
          <p:cNvPr id="18" name="Picture 17">
            <a:extLst>
              <a:ext uri="{FF2B5EF4-FFF2-40B4-BE49-F238E27FC236}">
                <a16:creationId xmlns:a16="http://schemas.microsoft.com/office/drawing/2014/main" id="{9EBB120D-0399-4F09-B9F1-D6551E8912B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7" name="TextBox 6">
            <a:extLst>
              <a:ext uri="{FF2B5EF4-FFF2-40B4-BE49-F238E27FC236}">
                <a16:creationId xmlns:a16="http://schemas.microsoft.com/office/drawing/2014/main" id="{EC53DFF4-8A78-BDF1-DCC6-B4B3224DE929}"/>
              </a:ext>
            </a:extLst>
          </p:cNvPr>
          <p:cNvSpPr txBox="1"/>
          <p:nvPr/>
        </p:nvSpPr>
        <p:spPr>
          <a:xfrm>
            <a:off x="680321" y="2336873"/>
            <a:ext cx="4124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Wingdings" panose="05000000000000000000" pitchFamily="2" charset="2"/>
              <a:buChar char="Ø"/>
            </a:pPr>
            <a:r>
              <a:rPr lang="en-US" sz="1200" b="0" i="0" dirty="0">
                <a:effectLst/>
              </a:rPr>
              <a:t>IT Project Roles</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b="0" i="0" dirty="0">
              <a:effectLst/>
            </a:endParaRPr>
          </a:p>
          <a:p>
            <a:pPr marL="285750" indent="-228600" defTabSz="914400">
              <a:lnSpc>
                <a:spcPct val="90000"/>
              </a:lnSpc>
              <a:spcAft>
                <a:spcPts val="600"/>
              </a:spcAft>
              <a:buFont typeface="Wingdings" panose="05000000000000000000" pitchFamily="2" charset="2"/>
              <a:buChar char="Ø"/>
            </a:pPr>
            <a:r>
              <a:rPr lang="en-US" sz="1200" dirty="0" err="1"/>
              <a:t>Organising</a:t>
            </a:r>
            <a:r>
              <a:rPr lang="en-US" sz="1200" dirty="0"/>
              <a:t> the Roles</a:t>
            </a:r>
          </a:p>
          <a:p>
            <a:pPr marL="285750" indent="-228600" defTabSz="914400">
              <a:lnSpc>
                <a:spcPct val="90000"/>
              </a:lnSpc>
              <a:spcAft>
                <a:spcPts val="600"/>
              </a:spcAft>
              <a:buFont typeface="Arial" panose="020B0604020202020204" pitchFamily="34" charset="0"/>
              <a:buChar char="•"/>
            </a:pPr>
            <a:r>
              <a:rPr lang="en-US" sz="1200" dirty="0"/>
              <a:t>Steering Group</a:t>
            </a:r>
          </a:p>
          <a:p>
            <a:pPr marL="285750" indent="-228600" defTabSz="914400">
              <a:lnSpc>
                <a:spcPct val="90000"/>
              </a:lnSpc>
              <a:spcAft>
                <a:spcPts val="600"/>
              </a:spcAft>
              <a:buFont typeface="Arial" panose="020B0604020202020204" pitchFamily="34" charset="0"/>
              <a:buChar char="•"/>
            </a:pPr>
            <a:r>
              <a:rPr lang="en-US" sz="1200" dirty="0"/>
              <a:t>User Group</a:t>
            </a:r>
          </a:p>
          <a:p>
            <a:pPr marL="285750" indent="-228600" defTabSz="914400">
              <a:lnSpc>
                <a:spcPct val="90000"/>
              </a:lnSpc>
              <a:spcAft>
                <a:spcPts val="600"/>
              </a:spcAft>
              <a:buFont typeface="Arial" panose="020B0604020202020204" pitchFamily="34" charset="0"/>
              <a:buChar char="•"/>
            </a:pPr>
            <a:r>
              <a:rPr lang="en-US" sz="1200" dirty="0"/>
              <a:t>Risk Management Group</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Wingdings" panose="05000000000000000000" pitchFamily="2" charset="2"/>
              <a:buChar char="Ø"/>
            </a:pPr>
            <a:r>
              <a:rPr lang="en-US" sz="1200" dirty="0"/>
              <a:t>Work Package Assignment</a:t>
            </a:r>
          </a:p>
          <a:p>
            <a:pPr marL="285750" indent="-228600" defTabSz="914400">
              <a:lnSpc>
                <a:spcPct val="90000"/>
              </a:lnSpc>
              <a:spcAft>
                <a:spcPts val="600"/>
              </a:spcAft>
              <a:buFont typeface="Arial" panose="020B0604020202020204" pitchFamily="34" charset="0"/>
              <a:buChar char="•"/>
            </a:pPr>
            <a:r>
              <a:rPr lang="en-US" sz="1200" dirty="0"/>
              <a:t>Responsible </a:t>
            </a:r>
          </a:p>
          <a:p>
            <a:pPr marL="285750" indent="-228600" defTabSz="914400">
              <a:lnSpc>
                <a:spcPct val="90000"/>
              </a:lnSpc>
              <a:spcAft>
                <a:spcPts val="600"/>
              </a:spcAft>
              <a:buFont typeface="Arial" panose="020B0604020202020204" pitchFamily="34" charset="0"/>
              <a:buChar char="•"/>
            </a:pPr>
            <a:r>
              <a:rPr lang="en-US" sz="1200" dirty="0"/>
              <a:t>Accountable </a:t>
            </a:r>
          </a:p>
          <a:p>
            <a:pPr marL="285750" indent="-228600" defTabSz="914400">
              <a:lnSpc>
                <a:spcPct val="90000"/>
              </a:lnSpc>
              <a:spcAft>
                <a:spcPts val="600"/>
              </a:spcAft>
              <a:buFont typeface="Arial" panose="020B0604020202020204" pitchFamily="34" charset="0"/>
              <a:buChar char="•"/>
            </a:pPr>
            <a:r>
              <a:rPr lang="en-US" sz="1200" dirty="0"/>
              <a:t>Consulted</a:t>
            </a:r>
          </a:p>
          <a:p>
            <a:pPr marL="285750" indent="-228600" defTabSz="914400">
              <a:lnSpc>
                <a:spcPct val="90000"/>
              </a:lnSpc>
              <a:spcAft>
                <a:spcPts val="600"/>
              </a:spcAft>
              <a:buFont typeface="Arial" panose="020B0604020202020204" pitchFamily="34" charset="0"/>
              <a:buChar char="•"/>
            </a:pPr>
            <a:r>
              <a:rPr lang="en-US" sz="1200" dirty="0"/>
              <a:t>Informed </a:t>
            </a:r>
            <a:br>
              <a:rPr lang="en-US" sz="1200" dirty="0"/>
            </a:br>
            <a:endParaRPr lang="en-US" sz="1200" dirty="0"/>
          </a:p>
        </p:txBody>
      </p:sp>
      <p:sp>
        <p:nvSpPr>
          <p:cNvPr id="20" name="Rectangle 19">
            <a:extLst>
              <a:ext uri="{FF2B5EF4-FFF2-40B4-BE49-F238E27FC236}">
                <a16:creationId xmlns:a16="http://schemas.microsoft.com/office/drawing/2014/main" id="{0F326001-0279-4BAB-9DFE-CC9E035CD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7" y="488844"/>
            <a:ext cx="3378077" cy="3526040"/>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14A9945-BC1D-4D9D-BAB3-BB4517FBC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79" y="488844"/>
            <a:ext cx="2739690" cy="2480872"/>
          </a:xfrm>
          <a:prstGeom prst="rect">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4858F1-2521-4A7E-AC27-46FFD647E7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8" y="4169238"/>
            <a:ext cx="3378077" cy="2209379"/>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0BCE823-95DB-40B2-9342-0641555BD4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80" y="3130583"/>
            <a:ext cx="2739690" cy="3248034"/>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4" descr="A screenshot of a computer&#10;&#10;AI-generated content may be incorrect.">
            <a:extLst>
              <a:ext uri="{FF2B5EF4-FFF2-40B4-BE49-F238E27FC236}">
                <a16:creationId xmlns:a16="http://schemas.microsoft.com/office/drawing/2014/main" id="{2CBA79CF-1A03-8332-693B-C086F1A83055}"/>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6509084" y="479383"/>
            <a:ext cx="5198286" cy="5776321"/>
          </a:xfrm>
          <a:prstGeom prst="rect">
            <a:avLst/>
          </a:prstGeom>
        </p:spPr>
      </p:pic>
      <p:pic>
        <p:nvPicPr>
          <p:cNvPr id="8" name="Picture 7">
            <a:extLst>
              <a:ext uri="{FF2B5EF4-FFF2-40B4-BE49-F238E27FC236}">
                <a16:creationId xmlns:a16="http://schemas.microsoft.com/office/drawing/2014/main" id="{C7AC0521-C877-1C02-20A6-C183A1846328}"/>
              </a:ext>
            </a:extLst>
          </p:cNvPr>
          <p:cNvPicPr>
            <a:picLocks noChangeAspect="1"/>
          </p:cNvPicPr>
          <p:nvPr/>
        </p:nvPicPr>
        <p:blipFill>
          <a:blip r:embed="rId6"/>
          <a:stretch>
            <a:fillRect/>
          </a:stretch>
        </p:blipFill>
        <p:spPr>
          <a:xfrm>
            <a:off x="3346571" y="5273927"/>
            <a:ext cx="3060457" cy="914479"/>
          </a:xfrm>
          <a:prstGeom prst="rect">
            <a:avLst/>
          </a:prstGeom>
        </p:spPr>
      </p:pic>
    </p:spTree>
    <p:extLst>
      <p:ext uri="{BB962C8B-B14F-4D97-AF65-F5344CB8AC3E}">
        <p14:creationId xmlns:p14="http://schemas.microsoft.com/office/powerpoint/2010/main" val="3588693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2B1A9BAD-8724-E698-C502-72ECF4A0105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5B56FFF-E45F-365E-2275-6691524F1BE6}"/>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COCOMO Estimate</a:t>
            </a:r>
          </a:p>
        </p:txBody>
      </p:sp>
      <p:pic>
        <p:nvPicPr>
          <p:cNvPr id="19" name="Picture 18">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67A82A25-BD73-4F98-C2C5-456528B2374A}"/>
              </a:ext>
            </a:extLst>
          </p:cNvPr>
          <p:cNvSpPr txBox="1"/>
          <p:nvPr/>
        </p:nvSpPr>
        <p:spPr>
          <a:xfrm>
            <a:off x="680321" y="2336873"/>
            <a:ext cx="3656289" cy="3599316"/>
          </a:xfrm>
          <a:prstGeom prst="rect">
            <a:avLst/>
          </a:prstGeom>
        </p:spPr>
        <p:txBody>
          <a:bodyPr vert="horz" lIns="91440" tIns="45720" rIns="91440" bIns="45720" rtlCol="0">
            <a:normAutofit fontScale="92500" lnSpcReduction="20000"/>
          </a:bodyPr>
          <a:lstStyle/>
          <a:p>
            <a:pPr indent="-228600" defTabSz="914400">
              <a:lnSpc>
                <a:spcPct val="90000"/>
              </a:lnSpc>
              <a:spcAft>
                <a:spcPts val="600"/>
              </a:spcAft>
              <a:buFont typeface="Arial" panose="020B0604020202020204" pitchFamily="34" charset="0"/>
              <a:buChar char="•"/>
            </a:pPr>
            <a:r>
              <a:rPr lang="en-US" sz="1200" dirty="0"/>
              <a:t>Quantitative Estimation Tool:</a:t>
            </a:r>
          </a:p>
          <a:p>
            <a:pPr defTabSz="914400">
              <a:lnSpc>
                <a:spcPct val="90000"/>
              </a:lnSpc>
              <a:spcAft>
                <a:spcPts val="600"/>
              </a:spcAft>
            </a:pPr>
            <a:r>
              <a:rPr lang="en-US" sz="1200" dirty="0"/>
              <a:t> COCOMO II (Constructive Cost Model) is an algorithmic model used to provide a data-driven estimate of project scale and effort.</a:t>
            </a:r>
          </a:p>
          <a:p>
            <a:pPr marL="171450" indent="-171450" defTabSz="914400">
              <a:lnSpc>
                <a:spcPct val="90000"/>
              </a:lnSpc>
              <a:spcAft>
                <a:spcPts val="600"/>
              </a:spcAft>
              <a:buFont typeface="Arial" panose="020B0604020202020204" pitchFamily="34" charset="0"/>
              <a:buChar char="•"/>
            </a:pPr>
            <a:r>
              <a:rPr lang="en-US" sz="1200" dirty="0"/>
              <a:t>Core Results: </a:t>
            </a:r>
          </a:p>
          <a:p>
            <a:pPr defTabSz="914400">
              <a:lnSpc>
                <a:spcPct val="90000"/>
              </a:lnSpc>
              <a:spcAft>
                <a:spcPts val="600"/>
              </a:spcAft>
            </a:pPr>
            <a:r>
              <a:rPr lang="en-US" sz="1200" dirty="0"/>
              <a:t>The model estimates the software development phase will require: Effort: 2.3 Person-Months of work. Schedule: A duration of 3.1 Months until completion.</a:t>
            </a:r>
          </a:p>
          <a:p>
            <a:pPr marL="171450" indent="-171450" defTabSz="914400">
              <a:lnSpc>
                <a:spcPct val="90000"/>
              </a:lnSpc>
              <a:spcAft>
                <a:spcPts val="600"/>
              </a:spcAft>
              <a:buFont typeface="Arial" panose="020B0604020202020204" pitchFamily="34" charset="0"/>
              <a:buChar char="•"/>
            </a:pPr>
            <a:r>
              <a:rPr lang="en-US" sz="1200" dirty="0"/>
              <a:t>Basis of Estimate:</a:t>
            </a:r>
          </a:p>
          <a:p>
            <a:pPr defTabSz="914400">
              <a:lnSpc>
                <a:spcPct val="90000"/>
              </a:lnSpc>
              <a:spcAft>
                <a:spcPts val="600"/>
              </a:spcAft>
            </a:pPr>
            <a:r>
              <a:rPr lang="en-US" sz="1200" dirty="0"/>
              <a:t> This calculation is based on an estimated project size of 8448 SLOC (Source Lines of Code) and an Effort Adjustment Factor (EAF) of 0.10.</a:t>
            </a:r>
          </a:p>
          <a:p>
            <a:pPr marL="171450" indent="-171450" defTabSz="914400">
              <a:lnSpc>
                <a:spcPct val="90000"/>
              </a:lnSpc>
              <a:spcAft>
                <a:spcPts val="600"/>
              </a:spcAft>
              <a:buFont typeface="Arial" panose="020B0604020202020204" pitchFamily="34" charset="0"/>
              <a:buChar char="•"/>
            </a:pPr>
            <a:r>
              <a:rPr lang="en-US" sz="1200" dirty="0"/>
              <a:t>Effort Distribution:</a:t>
            </a:r>
          </a:p>
          <a:p>
            <a:pPr defTabSz="914400">
              <a:lnSpc>
                <a:spcPct val="90000"/>
              </a:lnSpc>
              <a:spcAft>
                <a:spcPts val="600"/>
              </a:spcAft>
            </a:pPr>
            <a:r>
              <a:rPr lang="en-US" sz="1200" dirty="0"/>
              <a:t> The work is distributed across the phases, focusing heavily on Construction (1.7 Person-Months) and Elaboration (0.5 Person-Months), which informs our resource loading. </a:t>
            </a:r>
          </a:p>
          <a:p>
            <a:pPr marL="171450" indent="-171450" defTabSz="914400">
              <a:lnSpc>
                <a:spcPct val="90000"/>
              </a:lnSpc>
              <a:spcAft>
                <a:spcPts val="600"/>
              </a:spcAft>
              <a:buFont typeface="Arial" panose="020B0604020202020204" pitchFamily="34" charset="0"/>
              <a:buChar char="•"/>
            </a:pPr>
            <a:r>
              <a:rPr lang="en-US" sz="1200" dirty="0"/>
              <a:t>Integration with Planning:</a:t>
            </a:r>
          </a:p>
          <a:p>
            <a:pPr defTabSz="914400">
              <a:lnSpc>
                <a:spcPct val="90000"/>
              </a:lnSpc>
              <a:spcAft>
                <a:spcPts val="600"/>
              </a:spcAft>
            </a:pPr>
            <a:r>
              <a:rPr lang="en-US" sz="1200" dirty="0"/>
              <a:t> These results are crucial inputs for: Defining Task Durations in the GANTT Chart. Determining the required Staffing Profile (team size) for our Resource Plan.</a:t>
            </a:r>
          </a:p>
        </p:txBody>
      </p:sp>
      <p:pic>
        <p:nvPicPr>
          <p:cNvPr id="4" name="Content Placeholder 4" descr="A screenshot of a document&#10;&#10;AI-generated content may be incorrect.">
            <a:extLst>
              <a:ext uri="{FF2B5EF4-FFF2-40B4-BE49-F238E27FC236}">
                <a16:creationId xmlns:a16="http://schemas.microsoft.com/office/drawing/2014/main" id="{89FF4F19-43F3-D97E-9D66-71B9956E2C1B}"/>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5276090" y="1344398"/>
            <a:ext cx="6269479" cy="4169203"/>
          </a:xfrm>
          <a:prstGeom prst="rect">
            <a:avLst/>
          </a:prstGeom>
          <a:ln>
            <a:noFill/>
          </a:ln>
          <a:effectLst>
            <a:outerShdw blurRad="76200" dist="63500" dir="5040000" algn="tl" rotWithShape="0">
              <a:srgbClr val="000000">
                <a:alpha val="41000"/>
              </a:srgbClr>
            </a:outerShdw>
          </a:effectLst>
        </p:spPr>
      </p:pic>
      <p:pic>
        <p:nvPicPr>
          <p:cNvPr id="5" name="Picture 4" descr="A graph of a number of columns&#10;&#10;AI-generated content may be incorrect.">
            <a:extLst>
              <a:ext uri="{FF2B5EF4-FFF2-40B4-BE49-F238E27FC236}">
                <a16:creationId xmlns:a16="http://schemas.microsoft.com/office/drawing/2014/main" id="{968628BF-CBBC-C30F-D8A9-45662D89CE2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10829" y="2170028"/>
            <a:ext cx="3118806" cy="1868572"/>
          </a:xfrm>
          <a:prstGeom prst="rect">
            <a:avLst/>
          </a:prstGeom>
        </p:spPr>
      </p:pic>
    </p:spTree>
    <p:extLst>
      <p:ext uri="{BB962C8B-B14F-4D97-AF65-F5344CB8AC3E}">
        <p14:creationId xmlns:p14="http://schemas.microsoft.com/office/powerpoint/2010/main" val="3661503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5F43B66E-3161-07AD-D816-2313C29B93E9}"/>
              </a:ext>
            </a:extLst>
          </p:cNvPr>
          <p:cNvPicPr>
            <a:picLocks noChangeAspect="1"/>
          </p:cNvPicPr>
          <p:nvPr/>
        </p:nvPicPr>
        <p:blipFill>
          <a:blip r:embed="rId5"/>
          <a:stretch>
            <a:fillRect/>
          </a:stretch>
        </p:blipFill>
        <p:spPr>
          <a:xfrm>
            <a:off x="5589909" y="2616181"/>
            <a:ext cx="5574005" cy="1618844"/>
          </a:xfrm>
          <a:prstGeom prst="rect">
            <a:avLst/>
          </a:prstGeom>
        </p:spPr>
      </p:pic>
    </p:spTree>
    <p:extLst>
      <p:ext uri="{BB962C8B-B14F-4D97-AF65-F5344CB8AC3E}">
        <p14:creationId xmlns:p14="http://schemas.microsoft.com/office/powerpoint/2010/main" val="2946345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81F0559A-509D-460D-5837-89064407E0F1}"/>
              </a:ext>
            </a:extLst>
          </p:cNvPr>
          <p:cNvPicPr>
            <a:picLocks noChangeAspect="1"/>
          </p:cNvPicPr>
          <p:nvPr/>
        </p:nvPicPr>
        <p:blipFill>
          <a:blip r:embed="rId5"/>
          <a:stretch>
            <a:fillRect/>
          </a:stretch>
        </p:blipFill>
        <p:spPr>
          <a:xfrm>
            <a:off x="7119884" y="3266299"/>
            <a:ext cx="4314630" cy="1938082"/>
          </a:xfrm>
          <a:prstGeom prst="rect">
            <a:avLst/>
          </a:prstGeom>
        </p:spPr>
      </p:pic>
      <p:pic>
        <p:nvPicPr>
          <p:cNvPr id="8" name="Picture 7">
            <a:extLst>
              <a:ext uri="{FF2B5EF4-FFF2-40B4-BE49-F238E27FC236}">
                <a16:creationId xmlns:a16="http://schemas.microsoft.com/office/drawing/2014/main" id="{15E87E7C-CC27-4D6D-62F5-E1C85708B895}"/>
              </a:ext>
            </a:extLst>
          </p:cNvPr>
          <p:cNvPicPr>
            <a:picLocks noChangeAspect="1"/>
          </p:cNvPicPr>
          <p:nvPr/>
        </p:nvPicPr>
        <p:blipFill>
          <a:blip r:embed="rId6"/>
          <a:stretch>
            <a:fillRect/>
          </a:stretch>
        </p:blipFill>
        <p:spPr>
          <a:xfrm>
            <a:off x="6720782" y="848178"/>
            <a:ext cx="4713732" cy="2538984"/>
          </a:xfrm>
          <a:prstGeom prst="rect">
            <a:avLst/>
          </a:prstGeom>
        </p:spPr>
      </p:pic>
    </p:spTree>
    <p:extLst>
      <p:ext uri="{BB962C8B-B14F-4D97-AF65-F5344CB8AC3E}">
        <p14:creationId xmlns:p14="http://schemas.microsoft.com/office/powerpoint/2010/main" val="3093783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376301A-95B3-1DF8-CED7-0029B440CBC2}"/>
              </a:ext>
            </a:extLst>
          </p:cNvPr>
          <p:cNvPicPr>
            <a:picLocks noChangeAspect="1"/>
          </p:cNvPicPr>
          <p:nvPr/>
        </p:nvPicPr>
        <p:blipFill>
          <a:blip r:embed="rId5"/>
          <a:stretch>
            <a:fillRect/>
          </a:stretch>
        </p:blipFill>
        <p:spPr>
          <a:xfrm>
            <a:off x="5503815" y="1814287"/>
            <a:ext cx="5823425" cy="3222631"/>
          </a:xfrm>
          <a:prstGeom prst="rect">
            <a:avLst/>
          </a:prstGeom>
        </p:spPr>
      </p:pic>
    </p:spTree>
    <p:extLst>
      <p:ext uri="{BB962C8B-B14F-4D97-AF65-F5344CB8AC3E}">
        <p14:creationId xmlns:p14="http://schemas.microsoft.com/office/powerpoint/2010/main" val="103542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0F67B6CE-2210-923A-2F3E-07F722F03D3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D252EB36-EB2C-4AFE-B09B-0DF8AC871E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7CE68524-856D-453B-9349-8E8CBC8BFC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99688E6-8880-4976-A59B-AB148C7C9987}"/>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5" name="Picture 4" descr="Complete puzzle with one piece lit up">
            <a:extLst>
              <a:ext uri="{FF2B5EF4-FFF2-40B4-BE49-F238E27FC236}">
                <a16:creationId xmlns:a16="http://schemas.microsoft.com/office/drawing/2014/main" id="{86A988D8-8A4F-9B5B-2F02-69AC0233F20E}"/>
              </a:ext>
            </a:extLst>
          </p:cNvPr>
          <p:cNvPicPr>
            <a:picLocks noChangeAspect="1"/>
          </p:cNvPicPr>
          <p:nvPr/>
        </p:nvPicPr>
        <p:blipFill>
          <a:blip r:embed="rId3"/>
          <a:srcRect l="6549" r="10831" b="-2"/>
          <a:stretch>
            <a:fillRect/>
          </a:stretch>
        </p:blipFill>
        <p:spPr>
          <a:xfrm>
            <a:off x="4636008" y="10"/>
            <a:ext cx="7552815" cy="6856310"/>
          </a:xfrm>
          <a:prstGeom prst="rect">
            <a:avLst/>
          </a:prstGeom>
          <a:ln>
            <a:noFill/>
          </a:ln>
          <a:effectLst/>
        </p:spPr>
      </p:pic>
      <p:sp>
        <p:nvSpPr>
          <p:cNvPr id="13" name="Rectangle 12">
            <a:extLst>
              <a:ext uri="{FF2B5EF4-FFF2-40B4-BE49-F238E27FC236}">
                <a16:creationId xmlns:a16="http://schemas.microsoft.com/office/drawing/2014/main" id="{B8D0330D-F534-4131-9807-B71B9EF12B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2C48B772-CDA6-359B-3BF2-C1CC80B24A5F}"/>
              </a:ext>
            </a:extLst>
          </p:cNvPr>
          <p:cNvSpPr>
            <a:spLocks noGrp="1"/>
          </p:cNvSpPr>
          <p:nvPr>
            <p:ph type="title"/>
          </p:nvPr>
        </p:nvSpPr>
        <p:spPr>
          <a:xfrm>
            <a:off x="680322" y="753228"/>
            <a:ext cx="3679028" cy="1080938"/>
          </a:xfrm>
        </p:spPr>
        <p:txBody>
          <a:bodyPr>
            <a:normAutofit/>
          </a:bodyPr>
          <a:lstStyle/>
          <a:p>
            <a:r>
              <a:rPr lang="en-GB" sz="3200" dirty="0"/>
              <a:t>Envisioned Solution</a:t>
            </a:r>
          </a:p>
        </p:txBody>
      </p:sp>
      <p:pic>
        <p:nvPicPr>
          <p:cNvPr id="15" name="Picture 14">
            <a:extLst>
              <a:ext uri="{FF2B5EF4-FFF2-40B4-BE49-F238E27FC236}">
                <a16:creationId xmlns:a16="http://schemas.microsoft.com/office/drawing/2014/main" id="{18B7ED37-7ABB-42DD-AB26-3F9028261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3" name="Content Placeholder 2">
            <a:extLst>
              <a:ext uri="{FF2B5EF4-FFF2-40B4-BE49-F238E27FC236}">
                <a16:creationId xmlns:a16="http://schemas.microsoft.com/office/drawing/2014/main" id="{59527FC4-AA6B-8537-97B2-5ABADC5B553B}"/>
              </a:ext>
            </a:extLst>
          </p:cNvPr>
          <p:cNvSpPr>
            <a:spLocks noGrp="1"/>
          </p:cNvSpPr>
          <p:nvPr>
            <p:ph idx="1"/>
          </p:nvPr>
        </p:nvSpPr>
        <p:spPr>
          <a:xfrm>
            <a:off x="680322" y="2336873"/>
            <a:ext cx="3581635" cy="3599316"/>
          </a:xfrm>
        </p:spPr>
        <p:txBody>
          <a:bodyPr>
            <a:normAutofit/>
          </a:bodyPr>
          <a:lstStyle/>
          <a:p>
            <a:endParaRPr lang="en-GB" sz="1600"/>
          </a:p>
        </p:txBody>
      </p:sp>
    </p:spTree>
    <p:extLst>
      <p:ext uri="{BB962C8B-B14F-4D97-AF65-F5344CB8AC3E}">
        <p14:creationId xmlns:p14="http://schemas.microsoft.com/office/powerpoint/2010/main" val="219524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dirty="0" err="1"/>
              <a:t>MoSCoW</a:t>
            </a:r>
            <a:endParaRPr lang="en-US" sz="2400" dirty="0"/>
          </a:p>
        </p:txBody>
      </p:sp>
      <p:pic>
        <p:nvPicPr>
          <p:cNvPr id="20" name="Picture 19">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7" name="TextBox 6">
            <a:extLst>
              <a:ext uri="{FF2B5EF4-FFF2-40B4-BE49-F238E27FC236}">
                <a16:creationId xmlns:a16="http://schemas.microsoft.com/office/drawing/2014/main" id="{D0E30D16-8CF3-B0C6-61D5-60FF04832BA6}"/>
              </a:ext>
            </a:extLst>
          </p:cNvPr>
          <p:cNvSpPr txBox="1"/>
          <p:nvPr/>
        </p:nvSpPr>
        <p:spPr>
          <a:xfrm>
            <a:off x="680321" y="2336873"/>
            <a:ext cx="3656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Arial" panose="020B0604020202020204" pitchFamily="34" charset="0"/>
              <a:buChar char="•"/>
            </a:pPr>
            <a:r>
              <a:rPr lang="en-US" sz="1400" dirty="0"/>
              <a:t>The Categories and Commitment:</a:t>
            </a:r>
          </a:p>
          <a:p>
            <a:pPr marL="285750" indent="-228600" defTabSz="914400">
              <a:lnSpc>
                <a:spcPct val="90000"/>
              </a:lnSpc>
              <a:spcAft>
                <a:spcPts val="600"/>
              </a:spcAft>
              <a:buFont typeface="Arial" panose="020B0604020202020204" pitchFamily="34" charset="0"/>
              <a:buChar char="•"/>
            </a:pPr>
            <a:r>
              <a:rPr lang="en-US" sz="1400" b="1" dirty="0"/>
              <a:t>Application to 'SYB Journey Planner' Requirements:</a:t>
            </a:r>
            <a:endParaRPr lang="en-US" sz="1400" dirty="0"/>
          </a:p>
          <a:p>
            <a:pPr indent="-228600" defTabSz="914400">
              <a:lnSpc>
                <a:spcPct val="90000"/>
              </a:lnSpc>
              <a:spcAft>
                <a:spcPts val="600"/>
              </a:spcAft>
              <a:buFont typeface="Arial" panose="020B0604020202020204" pitchFamily="34" charset="0"/>
              <a:buChar char="•"/>
            </a:pPr>
            <a:r>
              <a:rPr lang="en-US" sz="1400" dirty="0"/>
              <a:t>Most of our core functionality is classified as </a:t>
            </a:r>
            <a:r>
              <a:rPr lang="en-US" sz="1400" b="1" dirty="0"/>
              <a:t>Must Have</a:t>
            </a:r>
            <a:r>
              <a:rPr lang="en-US" sz="1400" dirty="0"/>
              <a:t> to ensure the initial product is viable</a:t>
            </a:r>
          </a:p>
          <a:p>
            <a:pPr marL="285750" indent="-228600" defTabSz="914400">
              <a:lnSpc>
                <a:spcPct val="90000"/>
              </a:lnSpc>
              <a:spcAft>
                <a:spcPts val="600"/>
              </a:spcAft>
              <a:buFont typeface="Arial" panose="020B0604020202020204" pitchFamily="34" charset="0"/>
              <a:buChar char="•"/>
            </a:pPr>
            <a:r>
              <a:rPr lang="en-US" sz="1400" dirty="0"/>
              <a:t>Integration with WBS</a:t>
            </a:r>
          </a:p>
          <a:p>
            <a:pPr indent="-228600" defTabSz="914400">
              <a:lnSpc>
                <a:spcPct val="90000"/>
              </a:lnSpc>
              <a:spcAft>
                <a:spcPts val="600"/>
              </a:spcAft>
              <a:buFont typeface="Arial" panose="020B0604020202020204" pitchFamily="34" charset="0"/>
              <a:buChar char="•"/>
            </a:pPr>
            <a:r>
              <a:rPr lang="en-US" sz="1400" dirty="0"/>
              <a:t>ensuring developers focus their effort strictly on implementing the </a:t>
            </a:r>
            <a:r>
              <a:rPr lang="en-US" sz="1400" b="1" dirty="0"/>
              <a:t>Must Have</a:t>
            </a:r>
            <a:r>
              <a:rPr lang="en-US" sz="1400" dirty="0"/>
              <a:t> requirements before moving on to lower priority items</a:t>
            </a:r>
          </a:p>
        </p:txBody>
      </p:sp>
      <p:pic>
        <p:nvPicPr>
          <p:cNvPr id="5" name="Content Placeholder 4" descr="A screenshot of a computer program&#10;&#10;AI-generated content may be incorrect.">
            <a:extLst>
              <a:ext uri="{FF2B5EF4-FFF2-40B4-BE49-F238E27FC236}">
                <a16:creationId xmlns:a16="http://schemas.microsoft.com/office/drawing/2014/main" id="{09C8898F-2D3D-27E7-0FBE-D34C365923EB}"/>
              </a:ext>
            </a:extLst>
          </p:cNvPr>
          <p:cNvPicPr>
            <a:picLocks noGrp="1" noChangeAspect="1"/>
          </p:cNvPicPr>
          <p:nvPr>
            <p:ph idx="1"/>
          </p:nvPr>
        </p:nvPicPr>
        <p:blipFill>
          <a:blip r:embed="rId5"/>
          <a:stretch>
            <a:fillRect/>
          </a:stretch>
        </p:blipFill>
        <p:spPr>
          <a:xfrm>
            <a:off x="5614919" y="640080"/>
            <a:ext cx="5591820"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4208705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pic>
        <p:nvPicPr>
          <p:cNvPr id="19" name="Content Placeholder 18" descr="A screenshot of a phone&#10;&#10;AI-generated content may be incorrect.">
            <a:extLst>
              <a:ext uri="{FF2B5EF4-FFF2-40B4-BE49-F238E27FC236}">
                <a16:creationId xmlns:a16="http://schemas.microsoft.com/office/drawing/2014/main" id="{714576A0-DBD0-161D-99D9-A3122A6755B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09401" y="1833316"/>
            <a:ext cx="2312502" cy="4805914"/>
          </a:xfrm>
        </p:spPr>
      </p:pic>
      <p:pic>
        <p:nvPicPr>
          <p:cNvPr id="21" name="Picture 20" descr="A screenshot of a phone&#10;&#10;AI-generated content may be incorrect.">
            <a:extLst>
              <a:ext uri="{FF2B5EF4-FFF2-40B4-BE49-F238E27FC236}">
                <a16:creationId xmlns:a16="http://schemas.microsoft.com/office/drawing/2014/main" id="{DE3B3603-C816-1A29-1267-A2D03740E2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651" y="1833316"/>
            <a:ext cx="2235309" cy="4805914"/>
          </a:xfrm>
          <a:prstGeom prst="rect">
            <a:avLst/>
          </a:prstGeom>
        </p:spPr>
      </p:pic>
      <p:pic>
        <p:nvPicPr>
          <p:cNvPr id="27" name="Picture 26" descr="A screenshot of a phone&#10;&#10;AI-generated content may be incorrect.">
            <a:extLst>
              <a:ext uri="{FF2B5EF4-FFF2-40B4-BE49-F238E27FC236}">
                <a16:creationId xmlns:a16="http://schemas.microsoft.com/office/drawing/2014/main" id="{B8066677-3C23-4468-DECA-552226088E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0233" y="1776066"/>
            <a:ext cx="2312501" cy="4921265"/>
          </a:xfrm>
          <a:prstGeom prst="rect">
            <a:avLst/>
          </a:prstGeom>
        </p:spPr>
      </p:pic>
      <p:pic>
        <p:nvPicPr>
          <p:cNvPr id="33" name="Picture 32" descr="A logo of a bus&#10;&#10;AI-generated content may be incorrect.">
            <a:extLst>
              <a:ext uri="{FF2B5EF4-FFF2-40B4-BE49-F238E27FC236}">
                <a16:creationId xmlns:a16="http://schemas.microsoft.com/office/drawing/2014/main" id="{3C9F7C36-42C2-64D4-1B39-BFAFE0CA04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0069" y="2235601"/>
            <a:ext cx="4036280" cy="3826943"/>
          </a:xfrm>
          <a:prstGeom prst="rect">
            <a:avLst/>
          </a:prstGeom>
        </p:spPr>
      </p:pic>
    </p:spTree>
    <p:extLst>
      <p:ext uri="{BB962C8B-B14F-4D97-AF65-F5344CB8AC3E}">
        <p14:creationId xmlns:p14="http://schemas.microsoft.com/office/powerpoint/2010/main" val="458199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phone&#10;&#10;AI-generated content may be incorrect.">
            <a:extLst>
              <a:ext uri="{FF2B5EF4-FFF2-40B4-BE49-F238E27FC236}">
                <a16:creationId xmlns:a16="http://schemas.microsoft.com/office/drawing/2014/main" id="{0C606BCE-BD40-6E3A-264A-D2EBA65E1F5F}"/>
              </a:ext>
            </a:extLst>
          </p:cNvPr>
          <p:cNvPicPr>
            <a:picLocks noChangeAspect="1"/>
          </p:cNvPicPr>
          <p:nvPr/>
        </p:nvPicPr>
        <p:blipFill>
          <a:blip r:embed="rId2"/>
          <a:stretch>
            <a:fillRect/>
          </a:stretch>
        </p:blipFill>
        <p:spPr>
          <a:xfrm>
            <a:off x="740224" y="1123527"/>
            <a:ext cx="2049136" cy="4604800"/>
          </a:xfrm>
          <a:prstGeom prst="rect">
            <a:avLst/>
          </a:prstGeom>
        </p:spPr>
      </p:pic>
      <p:cxnSp>
        <p:nvCxnSpPr>
          <p:cNvPr id="10" name="Straight Connector 9">
            <a:extLst>
              <a:ext uri="{FF2B5EF4-FFF2-40B4-BE49-F238E27FC236}">
                <a16:creationId xmlns:a16="http://schemas.microsoft.com/office/drawing/2014/main" id="{50DA1EB8-87CF-4588-A1FD-4756F9A28F6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10079"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2" name="Picture 1" descr="A screenshot of a map&#10;&#10;AI-generated content may be incorrect.">
            <a:extLst>
              <a:ext uri="{FF2B5EF4-FFF2-40B4-BE49-F238E27FC236}">
                <a16:creationId xmlns:a16="http://schemas.microsoft.com/office/drawing/2014/main" id="{DC8F1EF1-5ECE-75E9-ED6E-E9FECAF159F1}"/>
              </a:ext>
            </a:extLst>
          </p:cNvPr>
          <p:cNvPicPr>
            <a:picLocks noChangeAspect="1"/>
          </p:cNvPicPr>
          <p:nvPr/>
        </p:nvPicPr>
        <p:blipFill>
          <a:blip r:embed="rId3"/>
          <a:stretch>
            <a:fillRect/>
          </a:stretch>
        </p:blipFill>
        <p:spPr>
          <a:xfrm>
            <a:off x="3598711" y="1123527"/>
            <a:ext cx="2072160" cy="4604800"/>
          </a:xfrm>
          <a:prstGeom prst="rect">
            <a:avLst/>
          </a:prstGeom>
        </p:spPr>
      </p:pic>
      <p:cxnSp>
        <p:nvCxnSpPr>
          <p:cNvPr id="12" name="Straight Connector 11">
            <a:extLst>
              <a:ext uri="{FF2B5EF4-FFF2-40B4-BE49-F238E27FC236}">
                <a16:creationId xmlns:a16="http://schemas.microsoft.com/office/drawing/2014/main" id="{D7A4E378-EA57-47B9-B1EB-58B998F6CF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2595"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5" name="Picture 4" descr="A screenshot of a cell phone&#10;&#10;AI-generated content may be incorrect.">
            <a:extLst>
              <a:ext uri="{FF2B5EF4-FFF2-40B4-BE49-F238E27FC236}">
                <a16:creationId xmlns:a16="http://schemas.microsoft.com/office/drawing/2014/main" id="{8A58D5AB-8356-EA36-8846-C6FC8F5E82CA}"/>
              </a:ext>
            </a:extLst>
          </p:cNvPr>
          <p:cNvPicPr>
            <a:picLocks noChangeAspect="1"/>
          </p:cNvPicPr>
          <p:nvPr/>
        </p:nvPicPr>
        <p:blipFill>
          <a:blip r:embed="rId4"/>
          <a:stretch>
            <a:fillRect/>
          </a:stretch>
        </p:blipFill>
        <p:spPr>
          <a:xfrm>
            <a:off x="6439514" y="1123527"/>
            <a:ext cx="2152744" cy="4604800"/>
          </a:xfrm>
          <a:prstGeom prst="rect">
            <a:avLst/>
          </a:prstGeom>
        </p:spPr>
      </p:pic>
      <p:cxnSp>
        <p:nvCxnSpPr>
          <p:cNvPr id="14" name="Straight Connector 13">
            <a:extLst>
              <a:ext uri="{FF2B5EF4-FFF2-40B4-BE49-F238E27FC236}">
                <a16:creationId xmlns:a16="http://schemas.microsoft.com/office/drawing/2014/main" id="{D2B31ED6-76F0-425A-9A41-C947AEF9C14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95662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4" name="Picture 3" descr="A screenshot of a cell phone&#10;&#10;AI-generated content may be incorrect.">
            <a:extLst>
              <a:ext uri="{FF2B5EF4-FFF2-40B4-BE49-F238E27FC236}">
                <a16:creationId xmlns:a16="http://schemas.microsoft.com/office/drawing/2014/main" id="{8F5ABCF6-0EF6-5333-7006-796474EF00ED}"/>
              </a:ext>
            </a:extLst>
          </p:cNvPr>
          <p:cNvPicPr>
            <a:picLocks noChangeAspect="1"/>
          </p:cNvPicPr>
          <p:nvPr/>
        </p:nvPicPr>
        <p:blipFill>
          <a:blip r:embed="rId5"/>
          <a:stretch>
            <a:fillRect/>
          </a:stretch>
        </p:blipFill>
        <p:spPr>
          <a:xfrm>
            <a:off x="9318694" y="1123527"/>
            <a:ext cx="2164255" cy="4604800"/>
          </a:xfrm>
          <a:prstGeom prst="rect">
            <a:avLst/>
          </a:prstGeom>
        </p:spPr>
      </p:pic>
    </p:spTree>
    <p:extLst>
      <p:ext uri="{BB962C8B-B14F-4D97-AF65-F5344CB8AC3E}">
        <p14:creationId xmlns:p14="http://schemas.microsoft.com/office/powerpoint/2010/main" val="2785344944"/>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1390</TotalTime>
  <Words>3530</Words>
  <Application>Microsoft Office PowerPoint</Application>
  <PresentationFormat>Widescreen</PresentationFormat>
  <Paragraphs>236</Paragraphs>
  <Slides>18</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Trebuchet MS</vt:lpstr>
      <vt:lpstr>Wingdings</vt:lpstr>
      <vt:lpstr>Berlin</vt:lpstr>
      <vt:lpstr>SY Bus Journey Planner</vt:lpstr>
      <vt:lpstr>Deliverables Overview</vt:lpstr>
      <vt:lpstr>Project Initiation Document</vt:lpstr>
      <vt:lpstr>Project Initiation Document</vt:lpstr>
      <vt:lpstr>Business Case – Force Field Analysis</vt:lpstr>
      <vt:lpstr>Business Case – Options Considered</vt:lpstr>
      <vt:lpstr>Business Case – Cost Benefits Analysis</vt:lpstr>
      <vt:lpstr>Project Plan – Work Breakdown Structure (WBS)</vt:lpstr>
      <vt:lpstr>Project Plan – Gantt Chart</vt:lpstr>
      <vt:lpstr>Project Plan – RACI Matrix</vt:lpstr>
      <vt:lpstr>Project Plan – COCOMO Estimate</vt:lpstr>
      <vt:lpstr>Risk Management Plan – Risk Register</vt:lpstr>
      <vt:lpstr>Risk Management Plan – Risk Map</vt:lpstr>
      <vt:lpstr>Risk Management Plan – RAID Log</vt:lpstr>
      <vt:lpstr>Envisioned Solution</vt:lpstr>
      <vt:lpstr>MoSCoW</vt:lpstr>
      <vt:lpstr>High Fidelity Prototype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Okunowo, Samuel (Student)</cp:lastModifiedBy>
  <cp:revision>50</cp:revision>
  <dcterms:created xsi:type="dcterms:W3CDTF">2025-12-06T17:43:22Z</dcterms:created>
  <dcterms:modified xsi:type="dcterms:W3CDTF">2025-12-10T19:17:42Z</dcterms:modified>
</cp:coreProperties>
</file>